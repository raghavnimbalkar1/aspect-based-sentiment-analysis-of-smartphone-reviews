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1.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slides/charts/chart2.xml" ContentType="application/vnd.openxmlformats-officedocument.drawingml.chart+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05a0d9963dfc4011" /><Relationship Type="http://schemas.openxmlformats.org/officeDocument/2006/relationships/extended-properties" Target="/docProps/app.xml" Id="R86132434478b4427" /><Relationship Type="http://schemas.openxmlformats.org/officeDocument/2006/relationships/officeDocument" Target="/ppt/presentation.xml" Id="R0b81950a90744f90" /></Relationships>
</file>

<file path=ppt/presentation.xml><?xml version="1.0" encoding="utf-8"?>
<p:presentation xmlns:p="http://schemas.openxmlformats.org/presentationml/2006/main">
  <p:sldMasterIdLst>
    <p:sldMasterId xmlns:r="http://schemas.openxmlformats.org/officeDocument/2006/relationships" id="2147483648" r:id="R38b12b9e75c747d0"/>
  </p:sldMasterIdLst>
  <p:notesMasterIdLst>
    <p:notesMasterId xmlns:r="http://schemas.openxmlformats.org/officeDocument/2006/relationships" r:id="Rce41407fb4c741f2"/>
  </p:notesMasterIdLst>
  <p:sldIdLst>
    <p:sldId xmlns:r="http://schemas.openxmlformats.org/officeDocument/2006/relationships" id="256" r:id="R6fd9421fed734bf6"/>
    <p:sldId xmlns:r="http://schemas.openxmlformats.org/officeDocument/2006/relationships" id="257" r:id="Rf0a0c3a6a8c94c5e"/>
    <p:sldId xmlns:r="http://schemas.openxmlformats.org/officeDocument/2006/relationships" id="258" r:id="R0f4ed7178e3d49d4"/>
    <p:sldId xmlns:r="http://schemas.openxmlformats.org/officeDocument/2006/relationships" id="259" r:id="Rde17bc2d8b5e43f7"/>
    <p:sldId xmlns:r="http://schemas.openxmlformats.org/officeDocument/2006/relationships" id="260" r:id="Rebc3b3f93d5d49c5"/>
    <p:sldId xmlns:r="http://schemas.openxmlformats.org/officeDocument/2006/relationships" id="261" r:id="R10a2401264aa42e1"/>
    <p:sldId xmlns:r="http://schemas.openxmlformats.org/officeDocument/2006/relationships" id="262" r:id="R563a579facaa43e9"/>
    <p:sldId xmlns:r="http://schemas.openxmlformats.org/officeDocument/2006/relationships" id="263" r:id="R3ae6f7bd3d9046ba"/>
    <p:sldId xmlns:r="http://schemas.openxmlformats.org/officeDocument/2006/relationships" id="264" r:id="Rec51e3792ad84f5a"/>
    <p:sldId xmlns:r="http://schemas.openxmlformats.org/officeDocument/2006/relationships" id="265" r:id="R8bb1dc94739849f8"/>
    <p:sldId xmlns:r="http://schemas.openxmlformats.org/officeDocument/2006/relationships" id="266" r:id="R742667826cab448c"/>
    <p:sldId xmlns:r="http://schemas.openxmlformats.org/officeDocument/2006/relationships" id="267" r:id="Rf1bc7c30427445e1"/>
    <p:sldId xmlns:r="http://schemas.openxmlformats.org/officeDocument/2006/relationships" id="268" r:id="Rada62febdc4c4ee4"/>
    <p:sldId xmlns:r="http://schemas.openxmlformats.org/officeDocument/2006/relationships" id="269" r:id="R3d9cf64318fe4ece"/>
    <p:sldId xmlns:r="http://schemas.openxmlformats.org/officeDocument/2006/relationships" id="270" r:id="R4c3313f74e5243b5"/>
    <p:sldId xmlns:r="http://schemas.openxmlformats.org/officeDocument/2006/relationships" id="271" r:id="Rb8a29ff59ea8486b"/>
    <p:sldId xmlns:r="http://schemas.openxmlformats.org/officeDocument/2006/relationships" id="272" r:id="R5ad37404dc894b50"/>
    <p:sldId xmlns:r="http://schemas.openxmlformats.org/officeDocument/2006/relationships" id="273" r:id="R8ce049da02274052"/>
    <p:sldId xmlns:r="http://schemas.openxmlformats.org/officeDocument/2006/relationships" id="274" r:id="Rf7fc0474898343e2"/>
    <p:sldId xmlns:r="http://schemas.openxmlformats.org/officeDocument/2006/relationships" id="275" r:id="R49eccd5375bb4287"/>
    <p:sldId xmlns:r="http://schemas.openxmlformats.org/officeDocument/2006/relationships" id="276" r:id="Rf554744fbe8242ce"/>
    <p:sldId xmlns:r="http://schemas.openxmlformats.org/officeDocument/2006/relationships" id="277" r:id="R7a32913777b44ef2"/>
    <p:sldId xmlns:r="http://schemas.openxmlformats.org/officeDocument/2006/relationships" id="278" r:id="Rf043ce3d587a47b1"/>
    <p:sldId xmlns:r="http://schemas.openxmlformats.org/officeDocument/2006/relationships" id="279" r:id="R622971b1f86841a3"/>
    <p:sldId xmlns:r="http://schemas.openxmlformats.org/officeDocument/2006/relationships" id="280" r:id="R1b8f95f70f8a4342"/>
    <p:sldId xmlns:r="http://schemas.openxmlformats.org/officeDocument/2006/relationships" id="281" r:id="Rc121c2979a284836"/>
    <p:sldId xmlns:r="http://schemas.openxmlformats.org/officeDocument/2006/relationships" id="282" r:id="R6c0eb53e31aa463f"/>
    <p:sldId xmlns:r="http://schemas.openxmlformats.org/officeDocument/2006/relationships" id="283" r:id="R3400b0f7dc8b4be7"/>
    <p:sldId xmlns:r="http://schemas.openxmlformats.org/officeDocument/2006/relationships" id="284" r:id="Rb6397f5d92c24417"/>
    <p:sldId xmlns:r="http://schemas.openxmlformats.org/officeDocument/2006/relationships" id="285" r:id="Re45170827ebf45c5"/>
    <p:sldId xmlns:r="http://schemas.openxmlformats.org/officeDocument/2006/relationships" id="286" r:id="Rb956a79aa7b04607"/>
    <p:sldId xmlns:r="http://schemas.openxmlformats.org/officeDocument/2006/relationships" id="287" r:id="R7c8d435a40e6459f"/>
    <p:sldId xmlns:r="http://schemas.openxmlformats.org/officeDocument/2006/relationships" id="288" r:id="Rf567d4bdfb444cf6"/>
    <p:sldId xmlns:r="http://schemas.openxmlformats.org/officeDocument/2006/relationships" id="289" r:id="R862c1169266e4b47"/>
    <p:sldId xmlns:r="http://schemas.openxmlformats.org/officeDocument/2006/relationships" id="290" r:id="R133766b3abca4322"/>
    <p:sldId xmlns:r="http://schemas.openxmlformats.org/officeDocument/2006/relationships" id="291" r:id="Rc8f2e1e042314ae3"/>
    <p:sldId xmlns:r="http://schemas.openxmlformats.org/officeDocument/2006/relationships" id="292" r:id="R8e02af6f7c0d4946"/>
    <p:sldId xmlns:r="http://schemas.openxmlformats.org/officeDocument/2006/relationships" id="293" r:id="Ref1ac560098f47f5"/>
    <p:sldId xmlns:r="http://schemas.openxmlformats.org/officeDocument/2006/relationships" id="294" r:id="R90bc09e43e8749b1"/>
    <p:sldId xmlns:r="http://schemas.openxmlformats.org/officeDocument/2006/relationships" id="295" r:id="R1cde9a5310604f17"/>
    <p:sldId xmlns:r="http://schemas.openxmlformats.org/officeDocument/2006/relationships" id="296" r:id="R54b626f3bcc041cb"/>
    <p:sldId xmlns:r="http://schemas.openxmlformats.org/officeDocument/2006/relationships" id="297" r:id="R6d3fd600d1854a61"/>
    <p:sldId xmlns:r="http://schemas.openxmlformats.org/officeDocument/2006/relationships" id="298" r:id="R40dc540bcc4e4ad6"/>
    <p:sldId xmlns:r="http://schemas.openxmlformats.org/officeDocument/2006/relationships" id="299" r:id="R7afd4adb8ab34d8e"/>
    <p:sldId xmlns:r="http://schemas.openxmlformats.org/officeDocument/2006/relationships" id="300" r:id="R21fe3627caac4165"/>
    <p:sldId xmlns:r="http://schemas.openxmlformats.org/officeDocument/2006/relationships" id="301" r:id="R6721ac9fae934c23"/>
    <p:sldId xmlns:r="http://schemas.openxmlformats.org/officeDocument/2006/relationships" id="302" r:id="R9ed748d223a44a5f"/>
    <p:sldId xmlns:r="http://schemas.openxmlformats.org/officeDocument/2006/relationships" id="303" r:id="R47eebee0dbdc4065"/>
    <p:sldId xmlns:r="http://schemas.openxmlformats.org/officeDocument/2006/relationships" id="304" r:id="R60b15544a17342e3"/>
    <p:sldId xmlns:r="http://schemas.openxmlformats.org/officeDocument/2006/relationships" id="305" r:id="R5ac778b38c524711"/>
    <p:sldId xmlns:r="http://schemas.openxmlformats.org/officeDocument/2006/relationships" id="306" r:id="Ree85995691544721"/>
    <p:sldId xmlns:r="http://schemas.openxmlformats.org/officeDocument/2006/relationships" id="307" r:id="Ra49fa81142f143b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25b96c229d04e22" /><Relationship Type="http://schemas.openxmlformats.org/officeDocument/2006/relationships/slideMaster" Target="/ppt/slideMasters/slideMaster1.xml" Id="R38b12b9e75c747d0" /><Relationship Type="http://schemas.openxmlformats.org/officeDocument/2006/relationships/notesMaster" Target="/ppt/notesMasters/notesMaster1.xml" Id="Rce41407fb4c741f2" /><Relationship Type="http://schemas.openxmlformats.org/officeDocument/2006/relationships/presProps" Target="/ppt/presProps.xml" Id="R62814f7e41544e0f" /><Relationship Type="http://schemas.openxmlformats.org/officeDocument/2006/relationships/tableStyles" Target="/ppt/tableStyles.xml" Id="Rbe4d27bf97e344bd" /><Relationship Type="http://schemas.openxmlformats.org/officeDocument/2006/relationships/slide" Target="/ppt/slides/slide1.xml" Id="R6fd9421fed734bf6" /><Relationship Type="http://schemas.openxmlformats.org/officeDocument/2006/relationships/slide" Target="/ppt/slides/slide2.xml" Id="Rf0a0c3a6a8c94c5e" /><Relationship Type="http://schemas.openxmlformats.org/officeDocument/2006/relationships/slide" Target="/ppt/slides/slide3.xml" Id="R0f4ed7178e3d49d4" /><Relationship Type="http://schemas.openxmlformats.org/officeDocument/2006/relationships/slide" Target="/ppt/slides/slide4.xml" Id="Rde17bc2d8b5e43f7" /><Relationship Type="http://schemas.openxmlformats.org/officeDocument/2006/relationships/slide" Target="/ppt/slides/slide5.xml" Id="Rebc3b3f93d5d49c5" /><Relationship Type="http://schemas.openxmlformats.org/officeDocument/2006/relationships/slide" Target="/ppt/slides/slide6.xml" Id="R10a2401264aa42e1" /><Relationship Type="http://schemas.openxmlformats.org/officeDocument/2006/relationships/slide" Target="/ppt/slides/slide7.xml" Id="R563a579facaa43e9" /><Relationship Type="http://schemas.openxmlformats.org/officeDocument/2006/relationships/slide" Target="/ppt/slides/slide8.xml" Id="R3ae6f7bd3d9046ba" /><Relationship Type="http://schemas.openxmlformats.org/officeDocument/2006/relationships/slide" Target="/ppt/slides/slide9.xml" Id="Rec51e3792ad84f5a" /><Relationship Type="http://schemas.openxmlformats.org/officeDocument/2006/relationships/slide" Target="/ppt/slides/slide10.xml" Id="R8bb1dc94739849f8" /><Relationship Type="http://schemas.openxmlformats.org/officeDocument/2006/relationships/slide" Target="/ppt/slides/slide11.xml" Id="R742667826cab448c" /><Relationship Type="http://schemas.openxmlformats.org/officeDocument/2006/relationships/slide" Target="/ppt/slides/slide12.xml" Id="Rf1bc7c30427445e1" /><Relationship Type="http://schemas.openxmlformats.org/officeDocument/2006/relationships/slide" Target="/ppt/slides/slide13.xml" Id="Rada62febdc4c4ee4" /><Relationship Type="http://schemas.openxmlformats.org/officeDocument/2006/relationships/slide" Target="/ppt/slides/slide14.xml" Id="R3d9cf64318fe4ece" /><Relationship Type="http://schemas.openxmlformats.org/officeDocument/2006/relationships/slide" Target="/ppt/slides/slide15.xml" Id="R4c3313f74e5243b5" /><Relationship Type="http://schemas.openxmlformats.org/officeDocument/2006/relationships/slide" Target="/ppt/slides/slide16.xml" Id="Rb8a29ff59ea8486b" /><Relationship Type="http://schemas.openxmlformats.org/officeDocument/2006/relationships/slide" Target="/ppt/slides/slide17.xml" Id="R5ad37404dc894b50" /><Relationship Type="http://schemas.openxmlformats.org/officeDocument/2006/relationships/slide" Target="/ppt/slides/slide18.xml" Id="R8ce049da02274052" /><Relationship Type="http://schemas.openxmlformats.org/officeDocument/2006/relationships/slide" Target="/ppt/slides/slide19.xml" Id="Rf7fc0474898343e2" /><Relationship Type="http://schemas.openxmlformats.org/officeDocument/2006/relationships/slide" Target="/ppt/slides/slide20.xml" Id="R49eccd5375bb4287" /><Relationship Type="http://schemas.openxmlformats.org/officeDocument/2006/relationships/slide" Target="/ppt/slides/slide21.xml" Id="Rf554744fbe8242ce" /><Relationship Type="http://schemas.openxmlformats.org/officeDocument/2006/relationships/slide" Target="/ppt/slides/slide22.xml" Id="R7a32913777b44ef2" /><Relationship Type="http://schemas.openxmlformats.org/officeDocument/2006/relationships/slide" Target="/ppt/slides/slide23.xml" Id="Rf043ce3d587a47b1" /><Relationship Type="http://schemas.openxmlformats.org/officeDocument/2006/relationships/slide" Target="/ppt/slides/slide24.xml" Id="R622971b1f86841a3" /><Relationship Type="http://schemas.openxmlformats.org/officeDocument/2006/relationships/slide" Target="/ppt/slides/slide25.xml" Id="R1b8f95f70f8a4342" /><Relationship Type="http://schemas.openxmlformats.org/officeDocument/2006/relationships/slide" Target="/ppt/slides/slide26.xml" Id="Rc121c2979a284836" /><Relationship Type="http://schemas.openxmlformats.org/officeDocument/2006/relationships/slide" Target="/ppt/slides/slide27.xml" Id="R6c0eb53e31aa463f" /><Relationship Type="http://schemas.openxmlformats.org/officeDocument/2006/relationships/slide" Target="/ppt/slides/slide28.xml" Id="R3400b0f7dc8b4be7" /><Relationship Type="http://schemas.openxmlformats.org/officeDocument/2006/relationships/slide" Target="/ppt/slides/slide29.xml" Id="Rb6397f5d92c24417" /><Relationship Type="http://schemas.openxmlformats.org/officeDocument/2006/relationships/slide" Target="/ppt/slides/slide30.xml" Id="Re45170827ebf45c5" /><Relationship Type="http://schemas.openxmlformats.org/officeDocument/2006/relationships/slide" Target="/ppt/slides/slide31.xml" Id="Rb956a79aa7b04607" /><Relationship Type="http://schemas.openxmlformats.org/officeDocument/2006/relationships/slide" Target="/ppt/slides/slide32.xml" Id="R7c8d435a40e6459f" /><Relationship Type="http://schemas.openxmlformats.org/officeDocument/2006/relationships/slide" Target="/ppt/slides/slide33.xml" Id="Rf567d4bdfb444cf6" /><Relationship Type="http://schemas.openxmlformats.org/officeDocument/2006/relationships/slide" Target="/ppt/slides/slide34.xml" Id="R862c1169266e4b47" /><Relationship Type="http://schemas.openxmlformats.org/officeDocument/2006/relationships/slide" Target="/ppt/slides/slide35.xml" Id="R133766b3abca4322" /><Relationship Type="http://schemas.openxmlformats.org/officeDocument/2006/relationships/slide" Target="/ppt/slides/slide36.xml" Id="Rc8f2e1e042314ae3" /><Relationship Type="http://schemas.openxmlformats.org/officeDocument/2006/relationships/slide" Target="/ppt/slides/slide37.xml" Id="R8e02af6f7c0d4946" /><Relationship Type="http://schemas.openxmlformats.org/officeDocument/2006/relationships/slide" Target="/ppt/slides/slide38.xml" Id="Ref1ac560098f47f5" /><Relationship Type="http://schemas.openxmlformats.org/officeDocument/2006/relationships/slide" Target="/ppt/slides/slide39.xml" Id="R90bc09e43e8749b1" /><Relationship Type="http://schemas.openxmlformats.org/officeDocument/2006/relationships/slide" Target="/ppt/slides/slide40.xml" Id="R1cde9a5310604f17" /><Relationship Type="http://schemas.openxmlformats.org/officeDocument/2006/relationships/slide" Target="/ppt/slides/slide41.xml" Id="R54b626f3bcc041cb" /><Relationship Type="http://schemas.openxmlformats.org/officeDocument/2006/relationships/slide" Target="/ppt/slides/slide42.xml" Id="R6d3fd600d1854a61" /><Relationship Type="http://schemas.openxmlformats.org/officeDocument/2006/relationships/slide" Target="/ppt/slides/slide43.xml" Id="R40dc540bcc4e4ad6" /><Relationship Type="http://schemas.openxmlformats.org/officeDocument/2006/relationships/slide" Target="/ppt/slides/slide44.xml" Id="R7afd4adb8ab34d8e" /><Relationship Type="http://schemas.openxmlformats.org/officeDocument/2006/relationships/slide" Target="/ppt/slides/slide45.xml" Id="R21fe3627caac4165" /><Relationship Type="http://schemas.openxmlformats.org/officeDocument/2006/relationships/slide" Target="/ppt/slides/slide46.xml" Id="R6721ac9fae934c23" /><Relationship Type="http://schemas.openxmlformats.org/officeDocument/2006/relationships/slide" Target="/ppt/slides/slide47.xml" Id="R9ed748d223a44a5f" /><Relationship Type="http://schemas.openxmlformats.org/officeDocument/2006/relationships/slide" Target="/ppt/slides/slide48.xml" Id="R47eebee0dbdc4065" /><Relationship Type="http://schemas.openxmlformats.org/officeDocument/2006/relationships/slide" Target="/ppt/slides/slide49.xml" Id="R60b15544a17342e3" /><Relationship Type="http://schemas.openxmlformats.org/officeDocument/2006/relationships/slide" Target="/ppt/slides/slide50.xml" Id="R5ac778b38c524711" /><Relationship Type="http://schemas.openxmlformats.org/officeDocument/2006/relationships/slide" Target="/ppt/slides/slide51.xml" Id="Ree85995691544721" /><Relationship Type="http://schemas.openxmlformats.org/officeDocument/2006/relationships/slide" Target="/ppt/slides/slide52.xml" Id="Ra49fa81142f143b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c0cf0987b9446a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5bf6c15222b45f4" /><Relationship Type="http://schemas.openxmlformats.org/officeDocument/2006/relationships/notesMaster" Target="/ppt/notesMasters/notesMaster1.xml" Id="Rd70a3eadceb144e5" /></Relationships>
</file>

<file path=ppt/notesSlides/_rels/notesSlide2.xml.rels>&#65279;<?xml version="1.0" encoding="utf-8"?><Relationships xmlns="http://schemas.openxmlformats.org/package/2006/relationships"><Relationship Type="http://schemas.openxmlformats.org/officeDocument/2006/relationships/slide" Target="/ppt/slides/slide2.xml" Id="R3dd57ef205284e43" /><Relationship Type="http://schemas.openxmlformats.org/officeDocument/2006/relationships/notesMaster" Target="/ppt/notesMasters/notesMaster1.xml" Id="Rde4e866743ab47c3" /></Relationships>
</file>

<file path=ppt/notesSlides/_rels/notesSlide3.xml.rels>&#65279;<?xml version="1.0" encoding="utf-8"?><Relationships xmlns="http://schemas.openxmlformats.org/package/2006/relationships"><Relationship Type="http://schemas.openxmlformats.org/officeDocument/2006/relationships/slide" Target="/ppt/slides/slide3.xml" Id="Rdc42944dbe2740b1" /><Relationship Type="http://schemas.openxmlformats.org/officeDocument/2006/relationships/notesMaster" Target="/ppt/notesMasters/notesMaster1.xml" Id="Rb46e9386a3ef4a5f" /></Relationships>
</file>

<file path=ppt/notesSlides/_rels/notesSlide4.xml.rels>&#65279;<?xml version="1.0" encoding="utf-8"?><Relationships xmlns="http://schemas.openxmlformats.org/package/2006/relationships"><Relationship Type="http://schemas.openxmlformats.org/officeDocument/2006/relationships/slide" Target="/ppt/slides/slide4.xml" Id="R32493b44e20949d8" /><Relationship Type="http://schemas.openxmlformats.org/officeDocument/2006/relationships/notesMaster" Target="/ppt/notesMasters/notesMaster1.xml" Id="R31b6ec3e48c64609" /></Relationships>
</file>

<file path=ppt/notesSlides/_rels/notesSlide5.xml.rels>&#65279;<?xml version="1.0" encoding="utf-8"?><Relationships xmlns="http://schemas.openxmlformats.org/package/2006/relationships"><Relationship Type="http://schemas.openxmlformats.org/officeDocument/2006/relationships/slide" Target="/ppt/slides/slide5.xml" Id="Rdfded830455c4070" /><Relationship Type="http://schemas.openxmlformats.org/officeDocument/2006/relationships/notesMaster" Target="/ppt/notesMasters/notesMaster1.xml" Id="Rb9751dc8cd904156" /></Relationships>
</file>

<file path=ppt/notesSlides/_rels/notesSlide6.xml.rels>&#65279;<?xml version="1.0" encoding="utf-8"?><Relationships xmlns="http://schemas.openxmlformats.org/package/2006/relationships"><Relationship Type="http://schemas.openxmlformats.org/officeDocument/2006/relationships/slide" Target="/ppt/slides/slide6.xml" Id="R0e7657ef6cfe43e2" /><Relationship Type="http://schemas.openxmlformats.org/officeDocument/2006/relationships/notesMaster" Target="/ppt/notesMasters/notesMaster1.xml" Id="R3bc23b0564a441bd" /></Relationships>
</file>

<file path=ppt/notesSlides/_rels/notesSlide7.xml.rels>&#65279;<?xml version="1.0" encoding="utf-8"?><Relationships xmlns="http://schemas.openxmlformats.org/package/2006/relationships"><Relationship Type="http://schemas.openxmlformats.org/officeDocument/2006/relationships/slide" Target="/ppt/slides/slide7.xml" Id="Redddcea1ae864507" /><Relationship Type="http://schemas.openxmlformats.org/officeDocument/2006/relationships/notesMaster" Target="/ppt/notesMasters/notesMaster1.xml" Id="Ra1d5baa3ed5242f2" /></Relationships>
</file>

<file path=ppt/notesSlides/_rels/notesSlide8.xml.rels>&#65279;<?xml version="1.0" encoding="utf-8"?><Relationships xmlns="http://schemas.openxmlformats.org/package/2006/relationships"><Relationship Type="http://schemas.openxmlformats.org/officeDocument/2006/relationships/slide" Target="/ppt/slides/slide8.xml" Id="R53239e5a201a40d9" /><Relationship Type="http://schemas.openxmlformats.org/officeDocument/2006/relationships/notesMaster" Target="/ppt/notesMasters/notesMaster1.xml" Id="R86a4f61a6b024f38" /></Relationships>
</file>

<file path=ppt/notesSlides/_rels/notesSlide9.xml.rels>&#65279;<?xml version="1.0" encoding="utf-8"?><Relationships xmlns="http://schemas.openxmlformats.org/package/2006/relationships"><Relationship Type="http://schemas.openxmlformats.org/officeDocument/2006/relationships/slide" Target="/ppt/slides/slide9.xml" Id="R93e8f2152bad4621" /><Relationship Type="http://schemas.openxmlformats.org/officeDocument/2006/relationships/notesMaster" Target="/ppt/notesMasters/notesMaster1.xml" Id="Rbf58368a79114d6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57885576561407a" /><Relationship Type="http://schemas.openxmlformats.org/officeDocument/2006/relationships/notesMaster" Target="/ppt/notesMasters/notesMaster1.xml" Id="R8deeeea4fc2442a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d9248bdf7f74a7d" /><Relationship Type="http://schemas.openxmlformats.org/officeDocument/2006/relationships/notesMaster" Target="/ppt/notesMasters/notesMaster1.xml" Id="Rf1f29783f32f42e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556a0f9fbdf4261" /><Relationship Type="http://schemas.openxmlformats.org/officeDocument/2006/relationships/notesMaster" Target="/ppt/notesMasters/notesMaster1.xml" Id="R4f90312e6a9e4c2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54d01b5179e430f" /><Relationship Type="http://schemas.openxmlformats.org/officeDocument/2006/relationships/notesMaster" Target="/ppt/notesMasters/notesMaster1.xml" Id="R4c1f2ad690f74da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8b69b0d97f34a2c" /><Relationship Type="http://schemas.openxmlformats.org/officeDocument/2006/relationships/notesMaster" Target="/ppt/notesMasters/notesMaster1.xml" Id="R9d6bb5dffb7446f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2c38101264b4503" /><Relationship Type="http://schemas.openxmlformats.org/officeDocument/2006/relationships/notesMaster" Target="/ppt/notesMasters/notesMaster1.xml" Id="R960a9c1615824ae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731b7bfc8cd438a" /><Relationship Type="http://schemas.openxmlformats.org/officeDocument/2006/relationships/notesMaster" Target="/ppt/notesMasters/notesMaster1.xml" Id="R66f1fe3b3dce43f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e792a7ac98b46fb" /><Relationship Type="http://schemas.openxmlformats.org/officeDocument/2006/relationships/notesMaster" Target="/ppt/notesMasters/notesMaster1.xml" Id="R2aada91e70f24c8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e42cd72e5b84699" /><Relationship Type="http://schemas.openxmlformats.org/officeDocument/2006/relationships/notesMaster" Target="/ppt/notesMasters/notesMaster1.xml" Id="Ra7c06b2d6ed74f4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6097da93d224c5b" /><Relationship Type="http://schemas.openxmlformats.org/officeDocument/2006/relationships/notesMaster" Target="/ppt/notesMasters/notesMaster1.xml" Id="R45113db0efe2462e"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da924d0e68540ba" /><Relationship Type="http://schemas.openxmlformats.org/officeDocument/2006/relationships/notesMaster" Target="/ppt/notesMasters/notesMaster1.xml" Id="R7bf2c344c67847b5"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0d757fa3c8a84f5b" /><Relationship Type="http://schemas.openxmlformats.org/officeDocument/2006/relationships/notesMaster" Target="/ppt/notesMasters/notesMaster1.xml" Id="R62285c61ab84432d"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5cd7cba3dbc54d49" /><Relationship Type="http://schemas.openxmlformats.org/officeDocument/2006/relationships/notesMaster" Target="/ppt/notesMasters/notesMaster1.xml" Id="R803a9957192e49b6"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16782a6cd7ea41af" /><Relationship Type="http://schemas.openxmlformats.org/officeDocument/2006/relationships/notesMaster" Target="/ppt/notesMasters/notesMaster1.xml" Id="R1cd27dec2bc64e5a"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3f157ad56c854d70" /><Relationship Type="http://schemas.openxmlformats.org/officeDocument/2006/relationships/notesMaster" Target="/ppt/notesMasters/notesMaster1.xml" Id="R9ef162a46403437b"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7dd24d363df7402e" /><Relationship Type="http://schemas.openxmlformats.org/officeDocument/2006/relationships/notesMaster" Target="/ppt/notesMasters/notesMaster1.xml" Id="R1927ecd40c6c4911"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1b14dff8613e4779" /><Relationship Type="http://schemas.openxmlformats.org/officeDocument/2006/relationships/notesMaster" Target="/ppt/notesMasters/notesMaster1.xml" Id="R28bfcc7000914e0b"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b3c2b4516beb4871" /><Relationship Type="http://schemas.openxmlformats.org/officeDocument/2006/relationships/notesMaster" Target="/ppt/notesMasters/notesMaster1.xml" Id="Re2b7c1a09a9c4ad4"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4d4fb9e3f7ed44b4" /><Relationship Type="http://schemas.openxmlformats.org/officeDocument/2006/relationships/notesMaster" Target="/ppt/notesMasters/notesMaster1.xml" Id="Rb8a131356d194599"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adbfe5d54ec648c5" /><Relationship Type="http://schemas.openxmlformats.org/officeDocument/2006/relationships/notesMaster" Target="/ppt/notesMasters/notesMaster1.xml" Id="R90c69c6a86e34b35"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ca5975c990a3417f" /><Relationship Type="http://schemas.openxmlformats.org/officeDocument/2006/relationships/notesMaster" Target="/ppt/notesMasters/notesMaster1.xml" Id="R224aa2b476ac4462"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8c835de71bf246b8" /><Relationship Type="http://schemas.openxmlformats.org/officeDocument/2006/relationships/notesMaster" Target="/ppt/notesMasters/notesMaster1.xml" Id="R216aa1a634a34ccd"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7186c564d5a84114" /><Relationship Type="http://schemas.openxmlformats.org/officeDocument/2006/relationships/notesMaster" Target="/ppt/notesMasters/notesMaster1.xml" Id="Rc11788c028c7453c"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69e07262fb224b66" /><Relationship Type="http://schemas.openxmlformats.org/officeDocument/2006/relationships/notesMaster" Target="/ppt/notesMasters/notesMaster1.xml" Id="R9202d991a2624359"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3d8f29ba69374cfa" /><Relationship Type="http://schemas.openxmlformats.org/officeDocument/2006/relationships/notesMaster" Target="/ppt/notesMasters/notesMaster1.xml" Id="Rf8a74ddae5b84d17"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099c57af8f9b4c1b" /><Relationship Type="http://schemas.openxmlformats.org/officeDocument/2006/relationships/notesMaster" Target="/ppt/notesMasters/notesMaster1.xml" Id="R2fe97339dabb49b6"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3672def0b9364533" /><Relationship Type="http://schemas.openxmlformats.org/officeDocument/2006/relationships/notesMaster" Target="/ppt/notesMasters/notesMaster1.xml" Id="Re512bd8984bd42ea"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79df7ec1f9264cbc" /><Relationship Type="http://schemas.openxmlformats.org/officeDocument/2006/relationships/notesMaster" Target="/ppt/notesMasters/notesMaster1.xml" Id="R6f4d027eba4f4a70"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aae09999702146db" /><Relationship Type="http://schemas.openxmlformats.org/officeDocument/2006/relationships/notesMaster" Target="/ppt/notesMasters/notesMaster1.xml" Id="R88badfcdbe8e44f6"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66dc8d8bd6bf45c0" /><Relationship Type="http://schemas.openxmlformats.org/officeDocument/2006/relationships/notesMaster" Target="/ppt/notesMasters/notesMaster1.xml" Id="R6622b27896ae41dc"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a6f65f8cb74b46a7" /><Relationship Type="http://schemas.openxmlformats.org/officeDocument/2006/relationships/notesMaster" Target="/ppt/notesMasters/notesMaster1.xml" Id="Re016cf7f53004d7a"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444a8025d3c74c01" /><Relationship Type="http://schemas.openxmlformats.org/officeDocument/2006/relationships/notesMaster" Target="/ppt/notesMasters/notesMaster1.xml" Id="R191071b8d32e49e1"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69dc624c2781471f" /><Relationship Type="http://schemas.openxmlformats.org/officeDocument/2006/relationships/notesMaster" Target="/ppt/notesMasters/notesMaster1.xml" Id="Rcc2df50a84bb48a7"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e44699191fbe473a" /><Relationship Type="http://schemas.openxmlformats.org/officeDocument/2006/relationships/notesMaster" Target="/ppt/notesMasters/notesMaster1.xml" Id="Rb5fad58106a54239"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64970eee6bd04c8e" /><Relationship Type="http://schemas.openxmlformats.org/officeDocument/2006/relationships/notesMaster" Target="/ppt/notesMasters/notesMaster1.xml" Id="R9fc6a9de935f4c1f"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b6cb5bbe9e534268" /><Relationship Type="http://schemas.openxmlformats.org/officeDocument/2006/relationships/notesMaster" Target="/ppt/notesMasters/notesMaster1.xml" Id="Ra25cc2d1d5724b7b"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2099e3d098694a9e" /><Relationship Type="http://schemas.openxmlformats.org/officeDocument/2006/relationships/notesMaster" Target="/ppt/notesMasters/notesMaster1.xml" Id="R9c9523ef48984f8c"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539b6937d4ff445a" /><Relationship Type="http://schemas.openxmlformats.org/officeDocument/2006/relationships/notesMaster" Target="/ppt/notesMasters/notesMaster1.xml" Id="R0bf71a75374f4baf"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ae3e015cfc4944b0" /><Relationship Type="http://schemas.openxmlformats.org/officeDocument/2006/relationships/notesMaster" Target="/ppt/notesMasters/notesMaster1.xml" Id="Rcf5c46d6ef714346"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c877c007812a4c78" /><Relationship Type="http://schemas.openxmlformats.org/officeDocument/2006/relationships/notesMaster" Target="/ppt/notesMasters/notesMaster1.xml" Id="R6c4271cdfa73444f"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8d7a383a9e9f41b0" /><Relationship Type="http://schemas.openxmlformats.org/officeDocument/2006/relationships/notesMaster" Target="/ppt/notesMasters/notesMaster1.xml" Id="R14b474307a934281"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cf6c7f55440844a9" /><Relationship Type="http://schemas.openxmlformats.org/officeDocument/2006/relationships/notesMaster" Target="/ppt/notesMasters/notesMaster1.xml" Id="Rbf970deb2ac54bea"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eaff297efd5f46dc" /><Relationship Type="http://schemas.openxmlformats.org/officeDocument/2006/relationships/notesMaster" Target="/ppt/notesMasters/notesMaster1.xml" Id="Rfc24e51199814b8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guide describes the actual version 1.0.0 implementation and its recorded results. It is written for individual study rather than a timed presentation. The software release is complete for the documented English workflows. Independent human test accuracy is still pending. Read the slide text for the main explanation and open PowerPoint Notes for definitions, implementation detail and source references. The project combines a local web application with a reproducible research workflow. It does not claim that the transferred checkpoint was trained by this project or that the development diagnostic establishes general smartphone accuracy.</a:t>
            </a:r>
          </a:p>
          <a:p xmlns:a="http://schemas.openxmlformats.org/drawingml/2006/main">
            <a:r>
              <a:t/>
            </a:r>
          </a:p>
          <a:p xmlns:a="http://schemas.openxmlformats.org/drawingml/2006/main">
            <a:r>
              <a:t>Sources</a:t>
            </a:r>
          </a:p>
          <a:p xmlns:a="http://schemas.openxmlformats.org/drawingml/2006/main">
            <a:r>
              <a:t>https://github.com/raghavnimbalkar1/Aspect-Based-Sentiment-Analysis-of-Smartphone-Reviews/blob/8e4d312f208d021e9b5e729435197ecf21bbfb9a/README.md</a:t>
            </a:r>
          </a:p>
          <a:p xmlns:a="http://schemas.openxmlformats.org/drawingml/2006/main">
            <a:r>
              <a:t>https://github.com/raghavnimbalkar1/Aspect-Based-Sentiment-Analysis-of-Smartphone-Reviews/blob/8e4d312f208d021e9b5e729435197ecf21bbfb9a/docs/QUALITY_ASSURANCE.md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slides follow the path a review takes through the system, then explain how the project measures its outputs. Technical terms receive a definition before they appear in the model comparison. Screenshots show the real application, while tables and charts retain editable text and data. The results chapter repeatedly identifies the reference origin because the 35 validation sentences are mostly AI-assisted and the revised adapter used their errors during development. The appendix is useful when reading the source code or repeating a command. All figures describe the recorded project snapshot, not current smartphone market conditions.</a:t>
            </a:r>
          </a:p>
          <a:p xmlns:a="http://schemas.openxmlformats.org/drawingml/2006/main">
            <a:r>
              <a:t/>
            </a:r>
          </a:p>
          <a:p xmlns:a="http://schemas.openxmlformats.org/drawingml/2006/main">
            <a:r>
              <a:t>Sources</a:t>
            </a:r>
          </a:p>
          <a:p xmlns:a="http://schemas.openxmlformats.org/drawingml/2006/main">
            <a:r>
              <a:t>https://github.com/raghavnimbalkar1/Aspect-Based-Sentiment-Analysis-of-Smartphone-Reviews/blob/8e4d312f208d021e9b5e729435197ecf21bbfb9a/docs/APP_GUIDE.md</a:t>
            </a:r>
          </a:p>
          <a:p xmlns:a="http://schemas.openxmlformats.org/drawingml/2006/main">
            <a:r>
              <a:t>https://github.com/raghavnimbalkar1/Aspect-Based-Sentiment-Analysis-of-Smartphone-Reviews/blob/8e4d312f208d021e9b5e729435197ecf21bbfb9a/docs/RESULTS.md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overall rating compresses several opinions into one number. A reviewer can like the camera and dislike the battery in the same review. The application preserves those separate opinions. It also stores each model’s results independently so comparisons remain traceable. The software supports importing data, processing a corpus, inspecting reviews, comparing phones, annotating sentences and evaluating models. Ratings never become aspect labels. General praise may produce no aspect result when the model cannot identify a category. This is a local research workspace running in a browser on the same computer as the backend and database.</a:t>
            </a:r>
          </a:p>
          <a:p xmlns:a="http://schemas.openxmlformats.org/drawingml/2006/main">
            <a:r>
              <a:t/>
            </a:r>
          </a:p>
          <a:p xmlns:a="http://schemas.openxmlformats.org/drawingml/2006/main">
            <a:r>
              <a:t>Sources</a:t>
            </a:r>
          </a:p>
          <a:p xmlns:a="http://schemas.openxmlformats.org/drawingml/2006/main">
            <a:r>
              <a:t>https://github.com/raghavnimbalkar1/Aspect-Based-Sentiment-Analysis-of-Smartphone-Reviews/blob/8e4d312f208d021e9b5e729435197ecf21bbfb9a/README.md</a:t>
            </a:r>
          </a:p>
          <a:p xmlns:a="http://schemas.openxmlformats.org/drawingml/2006/main">
            <a:r>
              <a:t>https://github.com/raghavnimbalkar1/Aspect-Based-Sentiment-Analysis-of-Smartphone-Reviews/blob/8e4d312f208d021e9b5e729435197ecf21bbfb9a/src/smartphone_absa/domain.py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an illustrative example written for explanation, outside the evaluation study. Aspect-based sentiment analysis requires identifying both the feature and the opinion attached to it. The conjunction creates two local opinion contexts. A sentence-level positive or negative label alone would lose this distinction. In the application, evidence points to the full original sentence even when the classifier uses a shorter clause internally. The saved start and end offsets make it possible to retrieve exactly the same evidence from the review text. An overall rating, if present, stays separate from these aspect predictions.</a:t>
            </a:r>
          </a:p>
          <a:p xmlns:a="http://schemas.openxmlformats.org/drawingml/2006/main">
            <a:r>
              <a:t/>
            </a:r>
          </a:p>
          <a:p xmlns:a="http://schemas.openxmlformats.org/drawingml/2006/main">
            <a:r>
              <a:t>Sources</a:t>
            </a:r>
          </a:p>
          <a:p xmlns:a="http://schemas.openxmlformats.org/drawingml/2006/main">
            <a:r>
              <a:t>https://github.com/raghavnimbalkar1/Aspect-Based-Sentiment-Analysis-of-Smartphone-Reviews/blob/8e4d312f208d021e9b5e729435197ecf21bbfb9a/src/smartphone_absa/models/inference.py</a:t>
            </a:r>
          </a:p>
          <a:p xmlns:a="http://schemas.openxmlformats.org/drawingml/2006/main">
            <a:r>
              <a:t>https://github.com/raghavnimbalkar1/Aspect-Based-Sentiment-Analysis-of-Smartphone-Reviews/blob/8e4d312f208d021e9b5e729435197ecf21bbfb9a/src/smartphone_absa/text.py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taxonomy defines ten fixed categories and uses the same identifiers in annotations, model outputs, SQLite records and metrics. Performance also covers thermal complaints. The table includes cues from both the original taxonomy and the revised domain adapter. A cue is a candidate detector, not a gold label or a guarantee that the sentence discusses the intended phone feature. For example, fast shipping should not become performance, and charging speed should not become phone processing speed. A taxonomy change would require a new version. The version used throughout the recorded experiments is smartphone-v1.</a:t>
            </a:r>
          </a:p>
          <a:p xmlns:a="http://schemas.openxmlformats.org/drawingml/2006/main">
            <a:r>
              <a:t/>
            </a:r>
          </a:p>
          <a:p xmlns:a="http://schemas.openxmlformats.org/drawingml/2006/main">
            <a:r>
              <a:t>Sources</a:t>
            </a:r>
          </a:p>
          <a:p xmlns:a="http://schemas.openxmlformats.org/drawingml/2006/main">
            <a:r>
              <a:t>https://github.com/raghavnimbalkar1/Aspect-Based-Sentiment-Analysis-of-Smartphone-Reviews/blob/8e4d312f208d021e9b5e729435197ecf21bbfb9a/src/smartphone_absa/taxonomy.py</a:t>
            </a:r>
          </a:p>
          <a:p xmlns:a="http://schemas.openxmlformats.org/drawingml/2006/main">
            <a:r>
              <a:t>https://github.com/raghavnimbalkar1/Aspect-Based-Sentiment-Analysis-of-Smartphone-Reviews/blob/8e4d312f208d021e9b5e729435197ecf21bbfb9a/src/smartphone_absa/models/aspects_v2.json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scope of a category matters more than matching a word. A volume button belongs to physical controls, while speaker volume belongs to audio. Delivery, packaging and seller service do not automatically belong to any phone-feature category. The current taxonomy also has gaps, including biometric reliability as a distinct topic. The project preserves such ambiguities in annotation notes rather than silently creating new categories to improve a score. Value should describe price or purchase value, although the existing human validation label for general praise illustrates that annotation consistency still needs review in a future independent study.</a:t>
            </a:r>
          </a:p>
          <a:p xmlns:a="http://schemas.openxmlformats.org/drawingml/2006/main">
            <a:r>
              <a:t/>
            </a:r>
          </a:p>
          <a:p xmlns:a="http://schemas.openxmlformats.org/drawingml/2006/main">
            <a:r>
              <a:t>Sources</a:t>
            </a:r>
          </a:p>
          <a:p xmlns:a="http://schemas.openxmlformats.org/drawingml/2006/main">
            <a:r>
              <a:t>https://github.com/raghavnimbalkar1/Aspect-Based-Sentiment-Analysis-of-Smartphone-Reviews/blob/8e4d312f208d021e9b5e729435197ecf21bbfb9a/src/smartphone_absa/taxonomy.py</a:t>
            </a:r>
          </a:p>
          <a:p xmlns:a="http://schemas.openxmlformats.org/drawingml/2006/main">
            <a:r>
              <a:t>https://github.com/raghavnimbalkar1/Aspect-Based-Sentiment-Analysis-of-Smartphone-Reviews/blob/8e4d312f208d021e9b5e729435197ecf21bbfb9a/docs/ANNOTATION.md</a:t>
            </a:r>
          </a:p>
          <a:p xmlns:a="http://schemas.openxmlformats.org/drawingml/2006/main">
            <a:r>
              <a:t>https://github.com/raghavnimbalkar1/Aspect-Based-Sentiment-Analysis-of-Smartphone-Reviews/blob/8e4d312f208d021e9b5e729435197ecf21bbfb9a/docs/RESULTS.md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Absence and neutrality are different learning targets. An absent state means the feature did not receive relevant evidence. A neutral state means the review mentioned it without a positive or negative judgement. Annotation and classical training use all five states. The transferred checkpoint itself predicts only negative, neutral and positive. Its candidate gate produces absence, and aggregation produces mixed when opposing local predictions occur. The interface displays mentioned aspects while the evaluation includes an absent decision for every other category. This prevents a model from receiving credit merely because most categories are absent.</a:t>
            </a:r>
          </a:p>
          <a:p xmlns:a="http://schemas.openxmlformats.org/drawingml/2006/main">
            <a:r>
              <a:t/>
            </a:r>
          </a:p>
          <a:p xmlns:a="http://schemas.openxmlformats.org/drawingml/2006/main">
            <a:r>
              <a:t>Sources</a:t>
            </a:r>
          </a:p>
          <a:p xmlns:a="http://schemas.openxmlformats.org/drawingml/2006/main">
            <a:r>
              <a:t>https://github.com/raghavnimbalkar1/Aspect-Based-Sentiment-Analysis-of-Smartphone-Reviews/blob/8e4d312f208d021e9b5e729435197ecf21bbfb9a/src/smartphone_absa/taxonomy.py</a:t>
            </a:r>
          </a:p>
          <a:p xmlns:a="http://schemas.openxmlformats.org/drawingml/2006/main">
            <a:r>
              <a:t>https://github.com/raghavnimbalkar1/Aspect-Based-Sentiment-Analysis-of-Smartphone-Reviews/blob/8e4d312f208d021e9b5e729435197ecf21bbfb9a/src/smartphone_absa/models/inference.py</a:t>
            </a:r>
          </a:p>
          <a:p xmlns:a="http://schemas.openxmlformats.org/drawingml/2006/main">
            <a:r>
              <a:t>https://github.com/raghavnimbalkar1/Aspect-Based-Sentiment-Analysis-of-Smartphone-Reviews/blob/8e4d312f208d021e9b5e729435197ecf21bbfb9a/src/smartphone_absa/metrics.py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project downloads a fixed version rather than silently accepting whichever dataset version is current. SHA-256 checksums verify the two source files. ASIN is the join key connecting reviews to product listings. The source audit found no review rows with a missing product, 12 empty bodies and 1,095 repeated listing/body combinations after case and whitespace normalisation. Those are global raw-source counts. They differ from the 83 duplicate rows removed after the explicit smartphone selection. Ratings and reviewer metadata exist in the source but do not supply aspect annotations. Source date coverage also differs from the selected corpus date coverage.</a:t>
            </a:r>
          </a:p>
          <a:p xmlns:a="http://schemas.openxmlformats.org/drawingml/2006/main">
            <a:r>
              <a:t/>
            </a:r>
          </a:p>
          <a:p xmlns:a="http://schemas.openxmlformats.org/drawingml/2006/main">
            <a:r>
              <a:t>Sources</a:t>
            </a:r>
          </a:p>
          <a:p xmlns:a="http://schemas.openxmlformats.org/drawingml/2006/main">
            <a:r>
              <a:t>https://www.kaggle.com/datasets/grikomsn/amazon-cell-phones-reviews/versions/2</a:t>
            </a:r>
          </a:p>
          <a:p xmlns:a="http://schemas.openxmlformats.org/drawingml/2006/main">
            <a:r>
              <a:t>https://github.com/raghavnimbalkar1/Aspect-Based-Sentiment-Analysis-of-Smartphone-Reviews/blob/8e4d312f208d021e9b5e729435197ecf21bbfb9a/docs/data/source-audit.json</a:t>
            </a:r>
          </a:p>
          <a:p xmlns:a="http://schemas.openxmlformats.org/drawingml/2006/main">
            <a:r>
              <a:t>https://github.com/raghavnimbalkar1/Aspect-Based-Sentiment-Analysis-of-Smartphone-Reviews/blob/8e4d312f208d021e9b5e729435197ecf21bbfb9a/scripts/download_data.py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selection policy makes the demonstration manageable on a laptop and keeps product identity explicit. It is not a representative sample of all smartphone buyers or brands. Two renewed iPhone listings remain visibly identified as renewed. The cap limits domination by a few large listings, but it also changes the source distribution. Most selected listings reach 400 reviews. The renewed iPhone 7 and iPhone X retain 339 and 330 reviews, while OnePlus 6T retains 77. The appendix lists all identifiers and counts. These historical reviews cannot support recommendations about phones available today.</a:t>
            </a:r>
          </a:p>
          <a:p xmlns:a="http://schemas.openxmlformats.org/drawingml/2006/main">
            <a:r>
              <a:t/>
            </a:r>
          </a:p>
          <a:p xmlns:a="http://schemas.openxmlformats.org/drawingml/2006/main">
            <a:r>
              <a:t>Sources</a:t>
            </a:r>
          </a:p>
          <a:p xmlns:a="http://schemas.openxmlformats.org/drawingml/2006/main">
            <a:r>
              <a:t>https://github.com/raghavnimbalkar1/Aspect-Based-Sentiment-Analysis-of-Smartphone-Reviews/blob/8e4d312f208d021e9b5e729435197ecf21bbfb9a/config/products.json</a:t>
            </a:r>
          </a:p>
          <a:p xmlns:a="http://schemas.openxmlformats.org/drawingml/2006/main">
            <a:r>
              <a:t>https://github.com/raghavnimbalkar1/Aspect-Based-Sentiment-Analysis-of-Smartphone-Reviews/blob/8e4d312f208d021e9b5e729435197ecf21bbfb9a/src/smartphone_absa/data.py</a:t>
            </a:r>
          </a:p>
          <a:p xmlns:a="http://schemas.openxmlformats.org/drawingml/2006/main">
            <a:r>
              <a:t>https://github.com/raghavnimbalkar1/Aspect-Based-Sentiment-Analysis-of-Smartphone-Reviews/blob/8e4d312f208d021e9b5e729435197ecf21bbfb9a/docs/data/README.md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exclusions sum to 63,640, and 67,986 minus 63,640 equals 4,346. These figures come from the actual prepared dataset manifest. The counts describe sequential filtering, so the raw source’s overall duplicate count must not be substituted for the selected-corpus duplicate count. Empty or invalid selected records would receive a validation reason, while listings outside the scope are intentional exclusions. The manifest records source hashes, selection hash, output hash, language policy and duplicate policy. The new dataset-details panel exposes the exclusion summary and allows downloading the full record.</a:t>
            </a:r>
          </a:p>
          <a:p xmlns:a="http://schemas.openxmlformats.org/drawingml/2006/main">
            <a:r>
              <a:t/>
            </a:r>
          </a:p>
          <a:p xmlns:a="http://schemas.openxmlformats.org/drawingml/2006/main">
            <a:r>
              <a:t>Sources</a:t>
            </a:r>
          </a:p>
          <a:p xmlns:a="http://schemas.openxmlformats.org/drawingml/2006/main">
            <a:r>
              <a:t>https://github.com/raghavnimbalkar1/Aspect-Based-Sentiment-Analysis-of-Smartphone-Reviews/blob/8e4d312f208d021e9b5e729435197ecf21bbfb9a/src/smartphone_absa/data.py</a:t>
            </a:r>
          </a:p>
          <a:p xmlns:a="http://schemas.openxmlformats.org/drawingml/2006/main">
            <a:r>
              <a:t>https://github.com/raghavnimbalkar1/Aspect-Based-Sentiment-Analysis-of-Smartphone-Reviews/blob/8e4d312f208d021e9b5e729435197ecf21bbfb9a/docs/screenshots/dataset-details.png</a:t>
            </a:r>
          </a:p>
          <a:p xmlns:a="http://schemas.openxmlformats.org/drawingml/2006/main">
            <a:r>
              <a:t>https://github.com/raghavnimbalkar1/Aspect-Based-Sentiment-Analysis-of-Smartphone-Reviews/blob/8e4d312f208d021e9b5e729435197ecf21bbfb9a/config/products.json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Language detection runs before corpus selection into the annotation study. The detector returns unknown for text with fewer than 20 word characters before attempting statistical detection. This helps avoid confident guesses on short English phrases, but it can also leave short non-English phrases uncertain. The app processes unknown text provisionally and discloses that uncertainty. The frozen annotation study samples detected English reviews, not every retained unknown-language record. Batch analytics should therefore be read with the source language policy in mind. The 527 unknown records are not confirmed English reviews.</a:t>
            </a:r>
          </a:p>
          <a:p xmlns:a="http://schemas.openxmlformats.org/drawingml/2006/main">
            <a:r>
              <a:t/>
            </a:r>
          </a:p>
          <a:p xmlns:a="http://schemas.openxmlformats.org/drawingml/2006/main">
            <a:r>
              <a:t>Sources</a:t>
            </a:r>
          </a:p>
          <a:p xmlns:a="http://schemas.openxmlformats.org/drawingml/2006/main">
            <a:r>
              <a:t>https://github.com/raghavnimbalkar1/Aspect-Based-Sentiment-Analysis-of-Smartphone-Reviews/blob/8e4d312f208d021e9b5e729435197ecf21bbfb9a/src/smartphone_absa/text.py</a:t>
            </a:r>
          </a:p>
          <a:p xmlns:a="http://schemas.openxmlformats.org/drawingml/2006/main">
            <a:r>
              <a:t>https://github.com/raghavnimbalkar1/Aspect-Based-Sentiment-Analysis-of-Smartphone-Reviews/blob/8e4d312f208d021e9b5e729435197ecf21bbfb9a/src/smartphone_absa/data.py</a:t>
            </a:r>
          </a:p>
          <a:p xmlns:a="http://schemas.openxmlformats.org/drawingml/2006/main">
            <a:r>
              <a:t>https://github.com/raghavnimbalkar1/Aspect-Based-Sentiment-Analysis-of-Smartphone-Reviews/blob/8e4d312f208d021e9b5e729435197ecf21bbfb9a/docs/QUALITY_ASSURANCE.md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five-star review may still criticise charging or software. Mapping its stars to all ten aspects would create false training labels. The project instead defines sentence/category annotation tasks. Each completed sentence has ten category-state rows. Present states also indicate whether the reference is explicit or implicit. The workbench records an annotator, notes, status, origin and revision history. Assisted training uses a separate generated export. AI-reviewed validation retains assisted provenance even when someone later edits it. A saved revision demonstrates edit history, but it does not establish agreement between independent annotators.</a:t>
            </a:r>
          </a:p>
          <a:p xmlns:a="http://schemas.openxmlformats.org/drawingml/2006/main">
            <a:r>
              <a:t/>
            </a:r>
          </a:p>
          <a:p xmlns:a="http://schemas.openxmlformats.org/drawingml/2006/main">
            <a:r>
              <a:t>Sources</a:t>
            </a:r>
          </a:p>
          <a:p xmlns:a="http://schemas.openxmlformats.org/drawingml/2006/main">
            <a:r>
              <a:t>https://github.com/raghavnimbalkar1/Aspect-Based-Sentiment-Analysis-of-Smartphone-Reviews/blob/8e4d312f208d021e9b5e729435197ecf21bbfb9a/docs/ANNOTATION.md</a:t>
            </a:r>
          </a:p>
          <a:p xmlns:a="http://schemas.openxmlformats.org/drawingml/2006/main">
            <a:r>
              <a:t>https://github.com/raghavnimbalkar1/Aspect-Based-Sentiment-Analysis-of-Smartphone-Reviews/blob/8e4d312f208d021e9b5e729435197ecf21bbfb9a/src/smartphone_absa/domain.py</a:t>
            </a:r>
          </a:p>
          <a:p xmlns:a="http://schemas.openxmlformats.org/drawingml/2006/main">
            <a:r>
              <a:t>https://github.com/raghavnimbalkar1/Aspect-Based-Sentiment-Analysis-of-Smartphone-Reviews/blob/8e4d312f208d021e9b5e729435197ecf21bbfb9a/src/smartphone_absa/workbench.py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sampler keeps complete reviews rather than arbitrarily cutting at the requested sentence count, which is why a 300-sentence target produced 303 sentences. Exact duplicate hashes and near-duplicate lexical grouping keep related reviews in the same partition. Near-duplicate grouping uses character 3–5-grams and a 0.94 similarity threshold. It reduces leakage but cannot guarantee that every semantic paraphrase is grouped. The manifest freezes review assignments, group identities, sentence text hashes and expected split counts. The pilot is a training subset and must not be added to 303 as independent extra study data.</a:t>
            </a:r>
          </a:p>
          <a:p xmlns:a="http://schemas.openxmlformats.org/drawingml/2006/main">
            <a:r>
              <a:t/>
            </a:r>
          </a:p>
          <a:p xmlns:a="http://schemas.openxmlformats.org/drawingml/2006/main">
            <a:r>
              <a:t>Sources</a:t>
            </a:r>
          </a:p>
          <a:p xmlns:a="http://schemas.openxmlformats.org/drawingml/2006/main">
            <a:r>
              <a:t>https://github.com/raghavnimbalkar1/Aspect-Based-Sentiment-Analysis-of-Smartphone-Reviews/blob/8e4d312f208d021e9b5e729435197ecf21bbfb9a/src/smartphone_absa/annotations.py</a:t>
            </a:r>
          </a:p>
          <a:p xmlns:a="http://schemas.openxmlformats.org/drawingml/2006/main">
            <a:r>
              <a:t>https://github.com/raghavnimbalkar1/Aspect-Based-Sentiment-Analysis-of-Smartphone-Reviews/blob/8e4d312f208d021e9b5e729435197ecf21bbfb9a/docs/ANNOTATION.md</a:t>
            </a:r>
          </a:p>
          <a:p xmlns:a="http://schemas.openxmlformats.org/drawingml/2006/main">
            <a:r>
              <a:t>https://github.com/raghavnimbalkar1/Aspect-Based-Sentiment-Analysis-of-Smartphone-Reviews/blob/8e4d312f208d021e9b5e729435197ecf21bbfb9a/docs/data/validation-review-summary.json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training export has 1,990 category states. Completed human training decisions override matching pseudo labels as whole sentences, leaving 10 human-origin and 1,980 assisted-origin training rows. The validation review has 350 category states. Its 34 AI-assisted decisions were frozen before checkpoint predictions were consulted for that annotation pass, but subsequent model refinement used their observed errors. The reference is therefore not independent human validation. The 69 test rows remain blank with unchanged before/after checksums. The software can evaluate them after complete human annotation, but no result has been manufactured to close that research gap.</a:t>
            </a:r>
          </a:p>
          <a:p xmlns:a="http://schemas.openxmlformats.org/drawingml/2006/main">
            <a:r>
              <a:t/>
            </a:r>
          </a:p>
          <a:p xmlns:a="http://schemas.openxmlformats.org/drawingml/2006/main">
            <a:r>
              <a:t>Sources</a:t>
            </a:r>
          </a:p>
          <a:p xmlns:a="http://schemas.openxmlformats.org/drawingml/2006/main">
            <a:r>
              <a:t>https://github.com/raghavnimbalkar1/Aspect-Based-Sentiment-Analysis-of-Smartphone-Reviews/blob/8e4d312f208d021e9b5e729435197ecf21bbfb9a/docs/RESULTS.md</a:t>
            </a:r>
          </a:p>
          <a:p xmlns:a="http://schemas.openxmlformats.org/drawingml/2006/main">
            <a:r>
              <a:t>https://github.com/raghavnimbalkar1/Aspect-Based-Sentiment-Analysis-of-Smartphone-Reviews/blob/8e4d312f208d021e9b5e729435197ecf21bbfb9a/docs/data/model-refinement-diagnostic.json</a:t>
            </a:r>
          </a:p>
          <a:p xmlns:a="http://schemas.openxmlformats.org/drawingml/2006/main">
            <a:r>
              <a:t>https://github.com/raghavnimbalkar1/Aspect-Based-Sentiment-Analysis-of-Smartphone-Reviews/blob/8e4d312f208d021e9b5e729435197ecf21bbfb9a/docs/data/release-verification.json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frontend does not implement sentiment classification. It asks the FastAPI service to perform operations and renders returned records. The backend validates input, selects an analyzer through the model registry and stores results. Batch jobs use the same analyzer interface as single-review analysis. The persistence key includes dataset, review, model and taxonomy identity so one model cannot overwrite another model’s result. Overview and explorer queries use a shared filter definition, and exports use the same selection. This lets a user trace a chart count back to the exact review and supporting sentence.</a:t>
            </a:r>
          </a:p>
          <a:p xmlns:a="http://schemas.openxmlformats.org/drawingml/2006/main">
            <a:r>
              <a:t/>
            </a:r>
          </a:p>
          <a:p xmlns:a="http://schemas.openxmlformats.org/drawingml/2006/main">
            <a:r>
              <a:t>Sources</a:t>
            </a:r>
          </a:p>
          <a:p xmlns:a="http://schemas.openxmlformats.org/drawingml/2006/main">
            <a:r>
              <a:t>https://github.com/raghavnimbalkar1/Aspect-Based-Sentiment-Analysis-of-Smartphone-Reviews/blob/8e4d312f208d021e9b5e729435197ecf21bbfb9a/src/smartphone_absa/api.py</a:t>
            </a:r>
          </a:p>
          <a:p xmlns:a="http://schemas.openxmlformats.org/drawingml/2006/main">
            <a:r>
              <a:t>https://github.com/raghavnimbalkar1/Aspect-Based-Sentiment-Analysis-of-Smartphone-Reviews/blob/8e4d312f208d021e9b5e729435197ecf21bbfb9a/src/smartphone_absa/jobs.py</a:t>
            </a:r>
          </a:p>
          <a:p xmlns:a="http://schemas.openxmlformats.org/drawingml/2006/main">
            <a:r>
              <a:t>https://github.com/raghavnimbalkar1/Aspect-Based-Sentiment-Analysis-of-Smartphone-Reviews/blob/8e4d312f208d021e9b5e729435197ecf21bbfb9a/src/smartphone_absa/store.py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design fits a single-machine academic project. FastAPI serves both the API and the built React frontend on localhost port 8000. The development frontend uses port 5173 with a proxy to the backend. SQLite provides durable local state without a hosted database. A shared local worker handles heavy background jobs. The neural dependencies are optional, so the rules baseline and classical workflow can run without downloading the checkpoint. The implementation has no paid inference API dependency. Initial setup and downloads need a network connection, while installed inference uses local files.</a:t>
            </a:r>
          </a:p>
          <a:p xmlns:a="http://schemas.openxmlformats.org/drawingml/2006/main">
            <a:r>
              <a:t/>
            </a:r>
          </a:p>
          <a:p xmlns:a="http://schemas.openxmlformats.org/drawingml/2006/main">
            <a:r>
              <a:t>Sources</a:t>
            </a:r>
          </a:p>
          <a:p xmlns:a="http://schemas.openxmlformats.org/drawingml/2006/main">
            <a:r>
              <a:t>https://github.com/raghavnimbalkar1/Aspect-Based-Sentiment-Analysis-of-Smartphone-Reviews/blob/8e4d312f208d021e9b5e729435197ecf21bbfb9a/pyproject.toml</a:t>
            </a:r>
          </a:p>
          <a:p xmlns:a="http://schemas.openxmlformats.org/drawingml/2006/main">
            <a:r>
              <a:t>https://github.com/raghavnimbalkar1/Aspect-Based-Sentiment-Analysis-of-Smartphone-Reviews/blob/8e4d312f208d021e9b5e729435197ecf21bbfb9a/frontend/package.json</a:t>
            </a:r>
          </a:p>
          <a:p xmlns:a="http://schemas.openxmlformats.org/drawingml/2006/main">
            <a:r>
              <a:t>https://github.com/raghavnimbalkar1/Aspect-Based-Sentiment-Analysis-of-Smartphone-Reviews/blob/8e4d312f208d021e9b5e729435197ecf21bbfb9a/docs/APP_GUIDE.md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service checks review length, upload size, row counts, metadata, model availability and annotation revision expectations. A mutation carrying an Origin header must originate from a local application port or the permitted development frontend. Malformed origin values receive a controlled rejection. The release corrected support for an isolated server on another local port. CSV uploads are limited to 16 MB and 10,000 rows. Reviews allow up to 30,000 characters. Transformer clauses over 512 tokens fail explicitly rather than silently dropping part of the evidence. The interactive API documentation is available at localhost:8000/docs.</a:t>
            </a:r>
          </a:p>
          <a:p xmlns:a="http://schemas.openxmlformats.org/drawingml/2006/main">
            <a:r>
              <a:t/>
            </a:r>
          </a:p>
          <a:p xmlns:a="http://schemas.openxmlformats.org/drawingml/2006/main">
            <a:r>
              <a:t>Sources</a:t>
            </a:r>
          </a:p>
          <a:p xmlns:a="http://schemas.openxmlformats.org/drawingml/2006/main">
            <a:r>
              <a:t>https://github.com/raghavnimbalkar1/Aspect-Based-Sentiment-Analysis-of-Smartphone-Reviews/blob/8e4d312f208d021e9b5e729435197ecf21bbfb9a/src/smartphone_absa/api.py</a:t>
            </a:r>
          </a:p>
          <a:p xmlns:a="http://schemas.openxmlformats.org/drawingml/2006/main">
            <a:r>
              <a:t>https://github.com/raghavnimbalkar1/Aspect-Based-Sentiment-Analysis-of-Smartphone-Reviews/blob/8e4d312f208d021e9b5e729435197ecf21bbfb9a/src/smartphone_absa/domain.py</a:t>
            </a:r>
          </a:p>
          <a:p xmlns:a="http://schemas.openxmlformats.org/drawingml/2006/main">
            <a:r>
              <a:t>https://github.com/raghavnimbalkar1/Aspect-Based-Sentiment-Analysis-of-Smartphone-Reviews/blob/8e4d312f208d021e9b5e729435197ecf21bbfb9a/src/smartphone_absa/uploads.py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SQLite enables foreign keys and write-ahead logging. Numbered migration files are checksum checked so an already-applied migration cannot silently change. Annotation updates use an expected revision inside a transaction to reject stale edits with HTTP 409. The analyses uniqueness key separates models and taxonomy versions. Each completed batch review is committed independently, allowing recovery without rerunning finished records. The application expects one API process per database. It does not claim distributed execution or a production multi-user database service. Backups should use SQLite’s backup API so writes in the WAL file are included.</a:t>
            </a:r>
          </a:p>
          <a:p xmlns:a="http://schemas.openxmlformats.org/drawingml/2006/main">
            <a:r>
              <a:t/>
            </a:r>
          </a:p>
          <a:p xmlns:a="http://schemas.openxmlformats.org/drawingml/2006/main">
            <a:r>
              <a:t>Sources</a:t>
            </a:r>
          </a:p>
          <a:p xmlns:a="http://schemas.openxmlformats.org/drawingml/2006/main">
            <a:r>
              <a:t>https://github.com/raghavnimbalkar1/Aspect-Based-Sentiment-Analysis-of-Smartphone-Reviews/blob/8e4d312f208d021e9b5e729435197ecf21bbfb9a/src/smartphone_absa/store.py</a:t>
            </a:r>
          </a:p>
          <a:p xmlns:a="http://schemas.openxmlformats.org/drawingml/2006/main">
            <a:r>
              <a:t>https://github.com/raghavnimbalkar1/Aspect-Based-Sentiment-Analysis-of-Smartphone-Reviews/blob/8e4d312f208d021e9b5e729435197ecf21bbfb9a/src/smartphone_absa/migrations/001_workspace.sql</a:t>
            </a:r>
          </a:p>
          <a:p xmlns:a="http://schemas.openxmlformats.org/drawingml/2006/main">
            <a:r>
              <a:t>https://github.com/raghavnimbalkar1/Aspect-Based-Sentiment-Analysis-of-Smartphone-Reviews/blob/8e4d312f208d021e9b5e729435197ecf21bbfb9a/docs/OPERATIONS.md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Batch review analysis, study preparation and research experiments share one heavy-work executor. Job records are durable, while the in-memory worker itself is local to the process. On startup, unfinished jobs and experiments become interrupted. A later analysis request processes only missing results for the selected model and taxonomy. Single-review HTTP inference follows the analyzer path directly. The neural backbone protects its classification forward passes with a shared lock. Both neural adapters reuse one loaded backbone, which avoids loading the same weights twice on the 8 GB M2 Air.</a:t>
            </a:r>
          </a:p>
          <a:p xmlns:a="http://schemas.openxmlformats.org/drawingml/2006/main">
            <a:r>
              <a:t/>
            </a:r>
          </a:p>
          <a:p xmlns:a="http://schemas.openxmlformats.org/drawingml/2006/main">
            <a:r>
              <a:t>Sources</a:t>
            </a:r>
          </a:p>
          <a:p xmlns:a="http://schemas.openxmlformats.org/drawingml/2006/main">
            <a:r>
              <a:t>https://github.com/raghavnimbalkar1/Aspect-Based-Sentiment-Analysis-of-Smartphone-Reviews/blob/8e4d312f208d021e9b5e729435197ecf21bbfb9a/src/smartphone_absa/jobs.py</a:t>
            </a:r>
          </a:p>
          <a:p xmlns:a="http://schemas.openxmlformats.org/drawingml/2006/main">
            <a:r>
              <a:t>https://github.com/raghavnimbalkar1/Aspect-Based-Sentiment-Analysis-of-Smartphone-Reviews/blob/8e4d312f208d021e9b5e729435197ecf21bbfb9a/src/smartphone_absa/research.py</a:t>
            </a:r>
          </a:p>
          <a:p xmlns:a="http://schemas.openxmlformats.org/drawingml/2006/main">
            <a:r>
              <a:t>https://github.com/raghavnimbalkar1/Aspect-Based-Sentiment-Analysis-of-Smartphone-Reviews/blob/8e4d312f208d021e9b5e729435197ecf21bbfb9a/src/smartphone_absa/models/registry.py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review text and the classifier’s local context serve different purposes. The classifier may see a contrast clause or a shared-predicate context to keep the right opinion near its aspect target. Evidence still points to the complete source sentence rather than a rewritten explanation. Tests verify offsets with whitespace, Unicode and contrasting opinions. Sentence identities incorporate the review identifier and the original offsets. Hashes freeze the sentence text in annotation manifests. This makes accidental edits detectable and lets the user inspect what the model actually had as evidence.</a:t>
            </a:r>
          </a:p>
          <a:p xmlns:a="http://schemas.openxmlformats.org/drawingml/2006/main">
            <a:r>
              <a:t/>
            </a:r>
          </a:p>
          <a:p xmlns:a="http://schemas.openxmlformats.org/drawingml/2006/main">
            <a:r>
              <a:t>Sources</a:t>
            </a:r>
          </a:p>
          <a:p xmlns:a="http://schemas.openxmlformats.org/drawingml/2006/main">
            <a:r>
              <a:t>https://github.com/raghavnimbalkar1/Aspect-Based-Sentiment-Analysis-of-Smartphone-Reviews/blob/8e4d312f208d021e9b5e729435197ecf21bbfb9a/src/smartphone_absa/text.py</a:t>
            </a:r>
          </a:p>
          <a:p xmlns:a="http://schemas.openxmlformats.org/drawingml/2006/main">
            <a:r>
              <a:t>https://github.com/raghavnimbalkar1/Aspect-Based-Sentiment-Analysis-of-Smartphone-Reviews/blob/8e4d312f208d021e9b5e729435197ecf21bbfb9a/src/smartphone_absa/models/inference.py</a:t>
            </a:r>
          </a:p>
          <a:p xmlns:a="http://schemas.openxmlformats.org/drawingml/2006/main">
            <a:r>
              <a:t>https://github.com/raghavnimbalkar1/Aspect-Based-Sentiment-Analysis-of-Smartphone-Reviews/blob/8e4d312f208d021e9b5e729435197ecf21bbfb9a/tests/test_domain_adapter.py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analyzers implement analyse(text, review_id, language) and return the same Analysis record structure. That contract allows the UI, background jobs, storage and exports to use different algorithms without replacing the rest of the application. The original variants remain available after refinement. The rules model has a stable rules-v1 identity. The transferred checkpoint uses a pinned revision, the revised adapter has its own content-derived policy identity, and each TF-IDF artifact receives an ID based on the serialized model file hash. An interface shared by models does not imply that their scores or uncertainty estimates are calibrated against each other.</a:t>
            </a:r>
          </a:p>
          <a:p xmlns:a="http://schemas.openxmlformats.org/drawingml/2006/main">
            <a:r>
              <a:t/>
            </a:r>
          </a:p>
          <a:p xmlns:a="http://schemas.openxmlformats.org/drawingml/2006/main">
            <a:r>
              <a:t>Sources</a:t>
            </a:r>
          </a:p>
          <a:p xmlns:a="http://schemas.openxmlformats.org/drawingml/2006/main">
            <a:r>
              <a:t>https://github.com/raghavnimbalkar1/Aspect-Based-Sentiment-Analysis-of-Smartphone-Reviews/blob/8e4d312f208d021e9b5e729435197ecf21bbfb9a/src/smartphone_absa/models/inference.py</a:t>
            </a:r>
          </a:p>
          <a:p xmlns:a="http://schemas.openxmlformats.org/drawingml/2006/main">
            <a:r>
              <a:t>https://github.com/raghavnimbalkar1/Aspect-Based-Sentiment-Analysis-of-Smartphone-Reviews/blob/8e4d312f208d021e9b5e729435197ecf21bbfb9a/src/smartphone_absa/models/registry.py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baseline is useful because its errors can be inspected directly. It includes category-specific positive and negative phrases, negation checks, charging-versus-performance handling and retail-context guards. Opposing signals can produce mixed sentiment. Its simple conjunction splitting can lose a shared predicate, such as the opinion in “screen and camera are good.” The project preserves this original implementation under its original ID instead of silently improving it after measuring results. The baseline processes all 4,346 corpus reviews. Its aggregate chart counts are predictions, not verified descriptions of what every reviewer meant.</a:t>
            </a:r>
          </a:p>
          <a:p xmlns:a="http://schemas.openxmlformats.org/drawingml/2006/main">
            <a:r>
              <a:t/>
            </a:r>
          </a:p>
          <a:p xmlns:a="http://schemas.openxmlformats.org/drawingml/2006/main">
            <a:r>
              <a:t>Sources</a:t>
            </a:r>
          </a:p>
          <a:p xmlns:a="http://schemas.openxmlformats.org/drawingml/2006/main">
            <a:r>
              <a:t>https://github.com/raghavnimbalkar1/Aspect-Based-Sentiment-Analysis-of-Smartphone-Reviews/blob/8e4d312f208d021e9b5e729435197ecf21bbfb9a/src/smartphone_absa/baseline.py</a:t>
            </a:r>
          </a:p>
          <a:p xmlns:a="http://schemas.openxmlformats.org/drawingml/2006/main">
            <a:r>
              <a:t>https://github.com/raghavnimbalkar1/Aspect-Based-Sentiment-Analysis-of-Smartphone-Reviews/blob/8e4d312f208d021e9b5e729435197ecf21bbfb9a/tests/test_baseline.py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full pinned revision is 10c9dff335a44073e1352360c3a7bc54dc58eb01. The local downloader allows only configuration, tokenizer and safetensors files, records hashes and avoids the checkpoint repository’s Python examples and pickle weights. Inference uses local_files_only, evaluation mode and torch.inference_mode. This is an aspect-conditioned classifier rather than a full extractor that discovers every phone feature by itself. The application’s candidate policy decides which aspect pairs the checkpoint receives. Consequently, an omitted candidate cannot be recovered by a correct sentiment prediction. The model card describes sentence/aspect pair inference, while the local code defines the project’s adapter.</a:t>
            </a:r>
          </a:p>
          <a:p xmlns:a="http://schemas.openxmlformats.org/drawingml/2006/main">
            <a:r>
              <a:t/>
            </a:r>
          </a:p>
          <a:p xmlns:a="http://schemas.openxmlformats.org/drawingml/2006/main">
            <a:r>
              <a:t>Sources</a:t>
            </a:r>
          </a:p>
          <a:p xmlns:a="http://schemas.openxmlformats.org/drawingml/2006/main">
            <a:r>
              <a:t>https://huggingface.co/yangheng/deberta-v3-base-absa-v1.1/blob/10c9dff335a44073e1352360c3a7bc54dc58eb01/README.md</a:t>
            </a:r>
          </a:p>
          <a:p xmlns:a="http://schemas.openxmlformats.org/drawingml/2006/main">
            <a:r>
              <a:t>https://github.com/raghavnimbalkar1/Aspect-Based-Sentiment-Analysis-of-Smartphone-Reviews/blob/8e4d312f208d021e9b5e729435197ecf21bbfb9a/src/smartphone_absa/models/checkpoints.py</a:t>
            </a:r>
          </a:p>
          <a:p xmlns:a="http://schemas.openxmlformats.org/drawingml/2006/main">
            <a:r>
              <a:t>https://github.com/raghavnimbalkar1/Aspect-Based-Sentiment-Analysis-of-Smartphone-Reviews/blob/8e4d312f208d021e9b5e729435197ecf21bbfb9a/src/smartphone_absa/models/inference.py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checkpoint has no absent or mixed output class. The candidate gate and aggregation policy therefore contribute directly to the final five-state behaviour. Predictions from opposing clauses or sentences can combine into mixed. Neutral evidence does not cancel a positive or negative opinion under the aggregation policy. A clause over 512 tokens raises a clear error, which a batch job records as an unfinished failed review. The software does not silently truncate away a target or opinion. Scores attached to evidence are model-specific and should not be read as probabilities that a final aggregated category state is correct.</a:t>
            </a:r>
          </a:p>
          <a:p xmlns:a="http://schemas.openxmlformats.org/drawingml/2006/main">
            <a:r>
              <a:t/>
            </a:r>
          </a:p>
          <a:p xmlns:a="http://schemas.openxmlformats.org/drawingml/2006/main">
            <a:r>
              <a:t>Sources</a:t>
            </a:r>
          </a:p>
          <a:p xmlns:a="http://schemas.openxmlformats.org/drawingml/2006/main">
            <a:r>
              <a:t>https://github.com/raghavnimbalkar1/Aspect-Based-Sentiment-Analysis-of-Smartphone-Reviews/blob/8e4d312f208d021e9b5e729435197ecf21bbfb9a/src/smartphone_absa/models/inference.py</a:t>
            </a:r>
          </a:p>
          <a:p xmlns:a="http://schemas.openxmlformats.org/drawingml/2006/main">
            <a:r>
              <a:t>https://github.com/raghavnimbalkar1/Aspect-Based-Sentiment-Analysis-of-Smartphone-Reviews/blob/8e4d312f208d021e9b5e729435197ecf21bbfb9a/src/smartphone_absa/taxonomy.py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diagnostic exposed missed candidates and a conjunction-splitting bug. The revised adapter pairs local clauses with canonical targets such as screen, phone performance, software and build quality. Its vocabulary and source code contribute to its separate model ID, deberta-domain-v2-10c9dff3-b377506c. The original adapter remains deberta-absa-10c9dff3. No rule in the new adapter directly assigns a sentiment label. Its broader coverage improved agreement on the inspected diagnostic, but that sample informed the design. The adapter remains a set of bounded heuristics, with known gaps in implicit features, difficult attachments and ambiguous carrier references.</a:t>
            </a:r>
          </a:p>
          <a:p xmlns:a="http://schemas.openxmlformats.org/drawingml/2006/main">
            <a:r>
              <a:t/>
            </a:r>
          </a:p>
          <a:p xmlns:a="http://schemas.openxmlformats.org/drawingml/2006/main">
            <a:r>
              <a:t>Sources</a:t>
            </a:r>
          </a:p>
          <a:p xmlns:a="http://schemas.openxmlformats.org/drawingml/2006/main">
            <a:r>
              <a:t>https://github.com/raghavnimbalkar1/Aspect-Based-Sentiment-Analysis-of-Smartphone-Reviews/blob/8e4d312f208d021e9b5e729435197ecf21bbfb9a/docs/MODEL_IMPROVEMENT_PLAN.md</a:t>
            </a:r>
          </a:p>
          <a:p xmlns:a="http://schemas.openxmlformats.org/drawingml/2006/main">
            <a:r>
              <a:t>https://github.com/raghavnimbalkar1/Aspect-Based-Sentiment-Analysis-of-Smartphone-Reviews/blob/8e4d312f208d021e9b5e729435197ecf21bbfb9a/src/smartphone_absa/models/domain_adapter.py</a:t>
            </a:r>
          </a:p>
          <a:p xmlns:a="http://schemas.openxmlformats.org/drawingml/2006/main">
            <a:r>
              <a:t>https://github.com/raghavnimbalkar1/Aspect-Based-Sentiment-Analysis-of-Smartphone-Reviews/blob/8e4d312f208d021e9b5e729435197ecf21bbfb9a/src/smartphone_absa/models/aspects_v2.json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sentence becomes a sparse numerical vector. Term frequency records a feature’s occurrence within the sentence, while inverse document frequency reflects how broadly it appears across training sentences. The implementation uses sublinear term frequency, Unicode accent stripping and L2-normalised vectorizers. The hierarchical profile combines word uni/bigrams with char_wb 3–5-grams at equal feature weights. Each vectorizer has a 25,000-feature budget. Validation and test text never fit the vocabulary or IDF statistics. More features can improve representation, but sparse or inaccurate labels still limit what a supervised classifier can learn.</a:t>
            </a:r>
          </a:p>
          <a:p xmlns:a="http://schemas.openxmlformats.org/drawingml/2006/main">
            <a:r>
              <a:t/>
            </a:r>
          </a:p>
          <a:p xmlns:a="http://schemas.openxmlformats.org/drawingml/2006/main">
            <a:r>
              <a:t>Sources</a:t>
            </a:r>
          </a:p>
          <a:p xmlns:a="http://schemas.openxmlformats.org/drawingml/2006/main">
            <a:r>
              <a:t>https://github.com/raghavnimbalkar1/Aspect-Based-Sentiment-Analysis-of-Smartphone-Reviews/blob/8e4d312f208d021e9b5e729435197ecf21bbfb9a/src/smartphone_absa/models/classical.py</a:t>
            </a:r>
          </a:p>
          <a:p xmlns:a="http://schemas.openxmlformats.org/drawingml/2006/main">
            <a:r>
              <a:t>https://scikit-learn.org/stable/modules/generated/sklearn.feature_extraction.text.TfidfVectorizer.html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category has a separate target vector over the same sentence features. Most of those targets are absent because the corpus contains few mentions of any one feature. Class weighting gives minority classes more influence during fitting, but it cannot create missing examples or correct the pseudo labels. The recorded flat model emitted only one mention on the diagnostic reference and missed twenty gold mentions. This result demonstrates an actual trained baseline rather than a placeholder. The serialized artifact includes the vectorizer, category classifiers and taxonomy version, and its file hash determines the registered model ID.</a:t>
            </a:r>
          </a:p>
          <a:p xmlns:a="http://schemas.openxmlformats.org/drawingml/2006/main">
            <a:r>
              <a:t/>
            </a:r>
          </a:p>
          <a:p xmlns:a="http://schemas.openxmlformats.org/drawingml/2006/main">
            <a:r>
              <a:t>Sources</a:t>
            </a:r>
          </a:p>
          <a:p xmlns:a="http://schemas.openxmlformats.org/drawingml/2006/main">
            <a:r>
              <a:t>https://github.com/raghavnimbalkar1/Aspect-Based-Sentiment-Analysis-of-Smartphone-Reviews/blob/8e4d312f208d021e9b5e729435197ecf21bbfb9a/src/smartphone_absa/models/classical.py</a:t>
            </a:r>
          </a:p>
          <a:p xmlns:a="http://schemas.openxmlformats.org/drawingml/2006/main">
            <a:r>
              <a:t>https://github.com/raghavnimbalkar1/Aspect-Based-Sentiment-Analysis-of-Smartphone-Reviews/blob/8e4d312f208d021e9b5e729435197ecf21bbfb9a/src/smartphone_absa/experiments.py</a:t>
            </a:r>
          </a:p>
          <a:p xmlns:a="http://schemas.openxmlformats.org/drawingml/2006/main">
            <a:r>
              <a:t>https://github.com/raghavnimbalkar1/Aspect-Based-Sentiment-Analysis-of-Smartphone-Reviews/blob/8e4d312f208d021e9b5e729435197ecf21bbfb9a/docs/RESULTS.md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two-stage profile addresses the flat model’s strong absent-class behaviour by separating the presence decision from the sentiment decision. It uses the same frozen 199 training sentences and the same human-over-assisted precedence as the original classifier. The configuration was fixed before the new development comparison. The recorded model is tfidf-4e97a73e6f8a. Tuple F1 improved from 0.091 to 0.240 on the AI-assisted diagnostic, but it still missed seventeen mentions. Teacher errors and explicit-cue gaps in the generated training labels remain a limitation. Neither architecture change nor feature expansion establishes independent accuracy.</a:t>
            </a:r>
          </a:p>
          <a:p xmlns:a="http://schemas.openxmlformats.org/drawingml/2006/main">
            <a:r>
              <a:t/>
            </a:r>
          </a:p>
          <a:p xmlns:a="http://schemas.openxmlformats.org/drawingml/2006/main">
            <a:r>
              <a:t>Sources</a:t>
            </a:r>
          </a:p>
          <a:p xmlns:a="http://schemas.openxmlformats.org/drawingml/2006/main">
            <a:r>
              <a:t>https://github.com/raghavnimbalkar1/Aspect-Based-Sentiment-Analysis-of-Smartphone-Reviews/blob/8e4d312f208d021e9b5e729435197ecf21bbfb9a/src/smartphone_absa/models/classical.py</a:t>
            </a:r>
          </a:p>
          <a:p xmlns:a="http://schemas.openxmlformats.org/drawingml/2006/main">
            <a:r>
              <a:t>https://github.com/raghavnimbalkar1/Aspect-Based-Sentiment-Analysis-of-Smartphone-Reviews/blob/8e4d312f208d021e9b5e729435197ecf21bbfb9a/docs/MODEL_IMPROVEMENT_PLAN.md</a:t>
            </a:r>
          </a:p>
          <a:p xmlns:a="http://schemas.openxmlformats.org/drawingml/2006/main">
            <a:r>
              <a:t>https://github.com/raghavnimbalkar1/Aspect-Based-Sentiment-Analysis-of-Smartphone-Reviews/blob/8e4d312f208d021e9b5e729435197ecf21bbfb9a/docs/RESULTS.md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registry verifies checkpoint file hashes before loading and verifies a classical artifact’s SHA-256 against its content-derived ID. A matching hash proves identity, not that an unknown joblib file is safe, so only trusted locally produced classifier files should be loaded. Repeated copies of one artifact ID appear once in the catalog, while all training-run references remain available. Different serialized files may receive different IDs even when a training setup is similar. Raw reviews, SQLite databases, label exports and model weights stay outside Git. Exact model reproduction therefore requires the retained local artifacts as well as the tracked source and aggregate reports.</a:t>
            </a:r>
          </a:p>
          <a:p xmlns:a="http://schemas.openxmlformats.org/drawingml/2006/main">
            <a:r>
              <a:t/>
            </a:r>
          </a:p>
          <a:p xmlns:a="http://schemas.openxmlformats.org/drawingml/2006/main">
            <a:r>
              <a:t>Sources</a:t>
            </a:r>
          </a:p>
          <a:p xmlns:a="http://schemas.openxmlformats.org/drawingml/2006/main">
            <a:r>
              <a:t>https://github.com/raghavnimbalkar1/Aspect-Based-Sentiment-Analysis-of-Smartphone-Reviews/blob/8e4d312f208d021e9b5e729435197ecf21bbfb9a/src/smartphone_absa/models/registry.py</a:t>
            </a:r>
          </a:p>
          <a:p xmlns:a="http://schemas.openxmlformats.org/drawingml/2006/main">
            <a:r>
              <a:t>https://github.com/raghavnimbalkar1/Aspect-Based-Sentiment-Analysis-of-Smartphone-Reviews/blob/8e4d312f208d021e9b5e729435197ecf21bbfb9a/src/smartphone_absa/research.py</a:t>
            </a:r>
          </a:p>
          <a:p xmlns:a="http://schemas.openxmlformats.org/drawingml/2006/main">
            <a:r>
              <a:t>https://github.com/raghavnimbalkar1/Aspect-Based-Sentiment-Analysis-of-Smartphone-Reviews/blob/8e4d312f208d021e9b5e729435197ecf21bbfb9a/src/smartphone_absa/predictions.py</a:t>
            </a:r>
          </a:p>
          <a:p xmlns:a="http://schemas.openxmlformats.org/drawingml/2006/main">
            <a:r>
              <a:t>https://github.com/raghavnimbalkar1/Aspect-Based-Sentiment-Analysis-of-Smartphone-Reviews/blob/8e4d312f208d021e9b5e729435197ecf21bbfb9a/.gitignore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actual corpus overview contains 4,346 reviews from 12 listings and 6,925 predicted aspect mentions under the rules baseline. Those mentions comprise 3,671 positive, 1,291 negative, 1,427 neutral and 536 mixed results. The displayed positive share rounds to 53 percent. These are predicted feature-level opinions, not an accuracy score or verified customer satisfaction rate. The date range identifies the historical scope. Changing the model selects a separate set of persisted analyses, which may have different completion counts. The interface offers a batch job when the selected model has unprocessed reviews.</a:t>
            </a:r>
          </a:p>
          <a:p xmlns:a="http://schemas.openxmlformats.org/drawingml/2006/main">
            <a:r>
              <a:t/>
            </a:r>
          </a:p>
          <a:p xmlns:a="http://schemas.openxmlformats.org/drawingml/2006/main">
            <a:r>
              <a:t>Sources</a:t>
            </a:r>
          </a:p>
          <a:p xmlns:a="http://schemas.openxmlformats.org/drawingml/2006/main">
            <a:r>
              <a:t>https://github.com/raghavnimbalkar1/Aspect-Based-Sentiment-Analysis-of-Smartphone-Reviews/blob/8e4d312f208d021e9b5e729435197ecf21bbfb9a/frontend/src/App.tsx</a:t>
            </a:r>
          </a:p>
          <a:p xmlns:a="http://schemas.openxmlformats.org/drawingml/2006/main">
            <a:r>
              <a:t>https://github.com/raghavnimbalkar1/Aspect-Based-Sentiment-Analysis-of-Smartphone-Reviews/blob/8e4d312f208d021e9b5e729435197ecf21bbfb9a/src/smartphone_absa/store.py</a:t>
            </a:r>
          </a:p>
          <a:p xmlns:a="http://schemas.openxmlformats.org/drawingml/2006/main">
            <a:r>
              <a:t>https://github.com/raghavnimbalkar1/Aspect-Based-Sentiment-Analysis-of-Smartphone-Reviews/blob/8e4d312f208d021e9b5e729435197ecf21bbfb9a/docs/screenshots/overview-release.png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review explorer displays original review text, overall rating as metadata, product identity, date and aspect badges. Expanding a record shows each aspect’s supporting sentences. The same selection drives the overview query and export route, reducing discrepancies between a visible count and a downloaded result. Filters for category and sentiment must apply to the same aspect row. Pagination retrieves bounded pages rather than loading every review into the browser. CSV exports neutralise leading spreadsheet-formula characters in uploaded text. JSON exports retain structured evidence and model identity.</a:t>
            </a:r>
          </a:p>
          <a:p xmlns:a="http://schemas.openxmlformats.org/drawingml/2006/main">
            <a:r>
              <a:t/>
            </a:r>
          </a:p>
          <a:p xmlns:a="http://schemas.openxmlformats.org/drawingml/2006/main">
            <a:r>
              <a:t>Sources</a:t>
            </a:r>
          </a:p>
          <a:p xmlns:a="http://schemas.openxmlformats.org/drawingml/2006/main">
            <a:r>
              <a:t>https://github.com/raghavnimbalkar1/Aspect-Based-Sentiment-Analysis-of-Smartphone-Reviews/blob/8e4d312f208d021e9b5e729435197ecf21bbfb9a/frontend/src/components/Reviews.tsx</a:t>
            </a:r>
          </a:p>
          <a:p xmlns:a="http://schemas.openxmlformats.org/drawingml/2006/main">
            <a:r>
              <a:t>https://github.com/raghavnimbalkar1/Aspect-Based-Sentiment-Analysis-of-Smartphone-Reviews/blob/8e4d312f208d021e9b5e729435197ecf21bbfb9a/src/smartphone_absa/store.py</a:t>
            </a:r>
          </a:p>
          <a:p xmlns:a="http://schemas.openxmlformats.org/drawingml/2006/main">
            <a:r>
              <a:t>https://github.com/raghavnimbalkar1/Aspect-Based-Sentiment-Analysis-of-Smartphone-Reviews/blob/8e4d312f208d021e9b5e729435197ecf21bbfb9a/src/smartphone_absa/api.py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single-review form supports up to 30,000 characters and blocks a blank submission. The comparison endpoint returns per-model inference timings, while a single-model request timing also includes request and first-load overhead. Initial neural startup is slower than warm inference. The example shows the revised adapter preserving a shared predicate for screen and camera and treating a volume button as build/design rather than audio. Such examples illustrate behaviour but are not benchmark results. Unsupported detected languages receive a clear explanation. Very short text can remain language-unknown and receives a provisional-analysis warning.</a:t>
            </a:r>
          </a:p>
          <a:p xmlns:a="http://schemas.openxmlformats.org/drawingml/2006/main">
            <a:r>
              <a:t/>
            </a:r>
          </a:p>
          <a:p xmlns:a="http://schemas.openxmlformats.org/drawingml/2006/main">
            <a:r>
              <a:t>Sources</a:t>
            </a:r>
          </a:p>
          <a:p xmlns:a="http://schemas.openxmlformats.org/drawingml/2006/main">
            <a:r>
              <a:t>https://github.com/raghavnimbalkar1/Aspect-Based-Sentiment-Analysis-of-Smartphone-Reviews/blob/8e4d312f208d021e9b5e729435197ecf21bbfb9a/frontend/src/views/Analyse.tsx</a:t>
            </a:r>
          </a:p>
          <a:p xmlns:a="http://schemas.openxmlformats.org/drawingml/2006/main">
            <a:r>
              <a:t>https://github.com/raghavnimbalkar1/Aspect-Based-Sentiment-Analysis-of-Smartphone-Reviews/blob/8e4d312f208d021e9b5e729435197ecf21bbfb9a/src/smartphone_absa/api.py</a:t>
            </a:r>
          </a:p>
          <a:p xmlns:a="http://schemas.openxmlformats.org/drawingml/2006/main">
            <a:r>
              <a:t>https://github.com/raghavnimbalkar1/Aspect-Based-Sentiment-Analysis-of-Smartphone-Reviews/blob/8e4d312f208d021e9b5e729435197ecf21bbfb9a/docs/screenshots/domain-comparison.png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Neutral and mixed mentions remain in the denominator of net sentiment. A category with no mentions has no net score rather than an invented zero-confidence judgement. The comparison describes the selected corpus and model outputs, not the quality of a phone in the current market. Different listings can have different conditions, review periods and support counts. The release fixes selection-slot behaviour so clearing one phone does not shift the other choices into different fields. The API rejects duplicate or foreign product selections and requires two or three distinct listings.</a:t>
            </a:r>
          </a:p>
          <a:p xmlns:a="http://schemas.openxmlformats.org/drawingml/2006/main">
            <a:r>
              <a:t/>
            </a:r>
          </a:p>
          <a:p xmlns:a="http://schemas.openxmlformats.org/drawingml/2006/main">
            <a:r>
              <a:t>Sources</a:t>
            </a:r>
          </a:p>
          <a:p xmlns:a="http://schemas.openxmlformats.org/drawingml/2006/main">
            <a:r>
              <a:t>https://github.com/raghavnimbalkar1/Aspect-Based-Sentiment-Analysis-of-Smartphone-Reviews/blob/8e4d312f208d021e9b5e729435197ecf21bbfb9a/frontend/src/views/Compare.tsx</a:t>
            </a:r>
          </a:p>
          <a:p xmlns:a="http://schemas.openxmlformats.org/drawingml/2006/main">
            <a:r>
              <a:t>https://github.com/raghavnimbalkar1/Aspect-Based-Sentiment-Analysis-of-Smartphone-Reviews/blob/8e4d312f208d021e9b5e729435197ecf21bbfb9a/src/smartphone_absa/store.py</a:t>
            </a:r>
          </a:p>
          <a:p xmlns:a="http://schemas.openxmlformats.org/drawingml/2006/main">
            <a:r>
              <a:t>https://github.com/raghavnimbalkar1/Aspect-Based-Sentiment-Analysis-of-Smartphone-Reviews/blob/8e4d312f208d021e9b5e729435197ecf21bbfb9a/src/smartphone_absa/api.py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new details panel closes a release usability gap: import messages previously referred to a manifest without exposing a direct way to inspect it in the UI. For CSV uploads, the panel shows mapped columns and examples of rejected row numbers and reasons. For the prepared historical corpus, it shows the scope and sampling exclusions recorded by the data pipeline. Excluded rows are not all invalid records. The dataset fingerprint identifies the accepted review collection. An identical repeat import opens the saved collection, reports the current upload’s validation counts and preserves the original stored manifest.</a:t>
            </a:r>
          </a:p>
          <a:p xmlns:a="http://schemas.openxmlformats.org/drawingml/2006/main">
            <a:r>
              <a:t/>
            </a:r>
          </a:p>
          <a:p xmlns:a="http://schemas.openxmlformats.org/drawingml/2006/main">
            <a:r>
              <a:t>Sources</a:t>
            </a:r>
          </a:p>
          <a:p xmlns:a="http://schemas.openxmlformats.org/drawingml/2006/main">
            <a:r>
              <a:t>https://github.com/raghavnimbalkar1/Aspect-Based-Sentiment-Analysis-of-Smartphone-Reviews/blob/8e4d312f208d021e9b5e729435197ecf21bbfb9a/frontend/src/components/DatasetDetails.tsx</a:t>
            </a:r>
          </a:p>
          <a:p xmlns:a="http://schemas.openxmlformats.org/drawingml/2006/main">
            <a:r>
              <a:t>https://github.com/raghavnimbalkar1/Aspect-Based-Sentiment-Analysis-of-Smartphone-Reviews/blob/8e4d312f208d021e9b5e729435197ecf21bbfb9a/frontend/src/components/ImportDialog.tsx</a:t>
            </a:r>
          </a:p>
          <a:p xmlns:a="http://schemas.openxmlformats.org/drawingml/2006/main">
            <a:r>
              <a:t>https://github.com/raghavnimbalkar1/Aspect-Based-Sentiment-Analysis-of-Smartphone-Reviews/blob/8e4d312f208d021e9b5e729435197ecf21bbfb9a/src/smartphone_absa/api.py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workbench hides ratings and model predictions while a person labels a sentence. It supports drafts, complete decisions, notes, revision history and CSV/manifest export. Dirty edits block navigation that could discard them. Completing a task removes it from a pending-only list. The backend rejects stale revisions and checks that every category is labelled consistently before completion. An AI-assisted sentence does not become independent human gold merely because a later edit changes an annotator name. Assisted test annotation is rejected. The displayed validation review is AI-assisted development material, and the real test sentences remain unlabelled.</a:t>
            </a:r>
          </a:p>
          <a:p xmlns:a="http://schemas.openxmlformats.org/drawingml/2006/main">
            <a:r>
              <a:t/>
            </a:r>
          </a:p>
          <a:p xmlns:a="http://schemas.openxmlformats.org/drawingml/2006/main">
            <a:r>
              <a:t>Sources</a:t>
            </a:r>
          </a:p>
          <a:p xmlns:a="http://schemas.openxmlformats.org/drawingml/2006/main">
            <a:r>
              <a:t>https://github.com/raghavnimbalkar1/Aspect-Based-Sentiment-Analysis-of-Smartphone-Reviews/blob/8e4d312f208d021e9b5e729435197ecf21bbfb9a/frontend/src/views/Annotation.tsx</a:t>
            </a:r>
          </a:p>
          <a:p xmlns:a="http://schemas.openxmlformats.org/drawingml/2006/main">
            <a:r>
              <a:t>https://github.com/raghavnimbalkar1/Aspect-Based-Sentiment-Analysis-of-Smartphone-Reviews/blob/8e4d312f208d021e9b5e729435197ecf21bbfb9a/src/smartphone_absa/workbench.py</a:t>
            </a:r>
          </a:p>
          <a:p xmlns:a="http://schemas.openxmlformats.org/drawingml/2006/main">
            <a:r>
              <a:t>https://github.com/raghavnimbalkar1/Aspect-Based-Sentiment-Analysis-of-Smartphone-Reviews/blob/8e4d312f208d021e9b5e729435197ecf21bbfb9a/docs/ANNOTATION.md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dashboard experiment snapshots the completed labels and manifest before background execution. Training assistance and AI-assisted validation are separate opt-ins. Reports contain source hashes, configuration, reference origins, metrics and prediction artifacts. Validation is the default inspection partition. A separate view displays saved final-test results, and selecting that view never runs inference. Report validation prevents damaged files from breaking valid results. A final test report requires an explicit CLI operation after complete human annotation. The current real workspace contains no such result.</a:t>
            </a:r>
          </a:p>
          <a:p xmlns:a="http://schemas.openxmlformats.org/drawingml/2006/main">
            <a:r>
              <a:t/>
            </a:r>
          </a:p>
          <a:p xmlns:a="http://schemas.openxmlformats.org/drawingml/2006/main">
            <a:r>
              <a:t>Sources</a:t>
            </a:r>
          </a:p>
          <a:p xmlns:a="http://schemas.openxmlformats.org/drawingml/2006/main">
            <a:r>
              <a:t>https://github.com/raghavnimbalkar1/Aspect-Based-Sentiment-Analysis-of-Smartphone-Reviews/blob/8e4d312f208d021e9b5e729435197ecf21bbfb9a/frontend/src/views/Evaluation.tsx</a:t>
            </a:r>
          </a:p>
          <a:p xmlns:a="http://schemas.openxmlformats.org/drawingml/2006/main">
            <a:r>
              <a:t>https://github.com/raghavnimbalkar1/Aspect-Based-Sentiment-Analysis-of-Smartphone-Reviews/blob/8e4d312f208d021e9b5e729435197ecf21bbfb9a/src/smartphone_absa/research.py</a:t>
            </a:r>
          </a:p>
          <a:p xmlns:a="http://schemas.openxmlformats.org/drawingml/2006/main">
            <a:r>
              <a:t>https://github.com/raghavnimbalkar1/Aspect-Based-Sentiment-Analysis-of-Smartphone-Reviews/blob/8e4d312f208d021e9b5e729435197ecf21bbfb9a/src/smartphone_absa/reports.py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tuple is the combination of sentence identity, category and non-absent sentiment. Exact tuple scoring compares the predicted set with the reference set. A wrong sentiment creates an incorrect predicted tuple and fails to recover the correct reference tuple, so it contributes both FP and FN. Presence scoring instead compares sentence/category pairs regardless of polarity. The report also includes per-category support and a five-state confusion matrix. Macro F1 excludes categories absent from both gold and predictions under the declared policy. Overall category-state accuracy includes absent states and is not the headline metric.</a:t>
            </a:r>
          </a:p>
          <a:p xmlns:a="http://schemas.openxmlformats.org/drawingml/2006/main">
            <a:r>
              <a:t/>
            </a:r>
          </a:p>
          <a:p xmlns:a="http://schemas.openxmlformats.org/drawingml/2006/main">
            <a:r>
              <a:t>Sources</a:t>
            </a:r>
          </a:p>
          <a:p xmlns:a="http://schemas.openxmlformats.org/drawingml/2006/main">
            <a:r>
              <a:t>https://github.com/raghavnimbalkar1/Aspect-Based-Sentiment-Analysis-of-Smartphone-Reviews/blob/8e4d312f208d021e9b5e729435197ecf21bbfb9a/src/smartphone_absa/metrics.py</a:t>
            </a:r>
          </a:p>
          <a:p xmlns:a="http://schemas.openxmlformats.org/drawingml/2006/main">
            <a:r>
              <a:t>https://github.com/raghavnimbalkar1/Aspect-Based-Sentiment-Analysis-of-Smartphone-Reviews/blob/8e4d312f208d021e9b5e729435197ecf21bbfb9a/tests/test_data_and_metrics.py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new development comparison exactly reproduced the original models’ metrics with unchanged label and manifest hashes. Tuple F1 is 0 for always absent, 0.267 for rules, 0.323 for transferred DeBERTa, 0.091 for flat TF-IDF, 0.750 for domain adapter v2 and 0.240 for two-stage TF-IDF. Presence F1 is 0, 0.533, 0.516, 0.091, 0.950 and 0.320 respectively. This is agreement with an inspected, mostly AI-assisted reference. It does not establish independent human-evaluated smartphone accuracy, and the new adapter’s ranking is not strong independent model-selection evidence.</a:t>
            </a:r>
          </a:p>
          <a:p xmlns:a="http://schemas.openxmlformats.org/drawingml/2006/main">
            <a:r>
              <a:t/>
            </a:r>
          </a:p>
          <a:p xmlns:a="http://schemas.openxmlformats.org/drawingml/2006/main">
            <a:r>
              <a:t>Sources</a:t>
            </a:r>
          </a:p>
          <a:p xmlns:a="http://schemas.openxmlformats.org/drawingml/2006/main">
            <a:r>
              <a:t>https://github.com/raghavnimbalkar1/Aspect-Based-Sentiment-Analysis-of-Smartphone-Reviews/blob/8e4d312f208d021e9b5e729435197ecf21bbfb9a/docs/data/model-refinement-diagnostic.json</a:t>
            </a:r>
          </a:p>
          <a:p xmlns:a="http://schemas.openxmlformats.org/drawingml/2006/main">
            <a:r>
              <a:t>https://github.com/raghavnimbalkar1/Aspect-Based-Sentiment-Analysis-of-Smartphone-Reviews/blob/8e4d312f208d021e9b5e729435197ecf21bbfb9a/docs/RESULTS.md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revised neural adapter detects 19 of the 21 reference mentions, but four have the wrong polarity. Its tuple counts are 15 true positives, 4 false positives and 6 false negatives, yielding F1 of 0.750. The two missed mentions include an ambiguous carrier reference and a preserved human general-praise label. The validation reference includes no charging or audio gold mentions and no mixed-state example, so these results cannot establish performance on every category or state. The error browser retains the original sentence, reference origin, prediction and error class. No reference label was changed to make the model score better.</a:t>
            </a:r>
          </a:p>
          <a:p xmlns:a="http://schemas.openxmlformats.org/drawingml/2006/main">
            <a:r>
              <a:t/>
            </a:r>
          </a:p>
          <a:p xmlns:a="http://schemas.openxmlformats.org/drawingml/2006/main">
            <a:r>
              <a:t>Sources</a:t>
            </a:r>
          </a:p>
          <a:p xmlns:a="http://schemas.openxmlformats.org/drawingml/2006/main">
            <a:r>
              <a:t>https://github.com/raghavnimbalkar1/Aspect-Based-Sentiment-Analysis-of-Smartphone-Reviews/blob/8e4d312f208d021e9b5e729435197ecf21bbfb9a/docs/data/model-refinement-diagnostic.json</a:t>
            </a:r>
          </a:p>
          <a:p xmlns:a="http://schemas.openxmlformats.org/drawingml/2006/main">
            <a:r>
              <a:t>https://github.com/raghavnimbalkar1/Aspect-Based-Sentiment-Analysis-of-Smartphone-Reviews/blob/8e4d312f208d021e9b5e729435197ecf21bbfb9a/src/smartphone_absa/predictions.py</a:t>
            </a:r>
          </a:p>
          <a:p xmlns:a="http://schemas.openxmlformats.org/drawingml/2006/main">
            <a:r>
              <a:t>https://github.com/raghavnimbalkar1/Aspect-Based-Sentiment-Analysis-of-Smartphone-Reviews/blob/8e4d312f208d021e9b5e729435197ecf21bbfb9a/docs/RESULTS.md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Accuracy divides the number of correct category-state decisions by all decisions. Because ten categories are checked for every sentence, many decisions are absent by construction. A model can therefore appear accurate while never identifying a useful opinion. The always-absent reference makes this failure visible. The revised adapter’s 0.750 tuple F1 should also not be restated as 75 percent independent accuracy. F1 has a different definition, and this diagnostic reference has important origin and selection limitations. Human test annotation and a fixed final evaluation are needed before making an independent test-performance claim.</a:t>
            </a:r>
          </a:p>
          <a:p xmlns:a="http://schemas.openxmlformats.org/drawingml/2006/main">
            <a:r>
              <a:t/>
            </a:r>
          </a:p>
          <a:p xmlns:a="http://schemas.openxmlformats.org/drawingml/2006/main">
            <a:r>
              <a:t>Sources</a:t>
            </a:r>
          </a:p>
          <a:p xmlns:a="http://schemas.openxmlformats.org/drawingml/2006/main">
            <a:r>
              <a:t>https://github.com/raghavnimbalkar1/Aspect-Based-Sentiment-Analysis-of-Smartphone-Reviews/blob/8e4d312f208d021e9b5e729435197ecf21bbfb9a/src/smartphone_absa/metrics.py</a:t>
            </a:r>
          </a:p>
          <a:p xmlns:a="http://schemas.openxmlformats.org/drawingml/2006/main">
            <a:r>
              <a:t>https://github.com/raghavnimbalkar1/Aspect-Based-Sentiment-Analysis-of-Smartphone-Reviews/blob/8e4d312f208d021e9b5e729435197ecf21bbfb9a/docs/RESULTS.md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application is feature complete for the documented workflows, but a software release cannot replace missing human reference labels. The final evaluator rejects partial test exports and any assisted test label. After human annotation, export the CSV and frozen manifest, evaluate the selected fixed model IDs once with --final-test and retain the outputs and hashes. The dashboard can then inspect those saved test reports and error records. Do not tune the model using final-test errors and reuse the same test as independent evidence. A fresh, larger independent validation study would also improve confidence in model selection.</a:t>
            </a:r>
          </a:p>
          <a:p xmlns:a="http://schemas.openxmlformats.org/drawingml/2006/main">
            <a:r>
              <a:t/>
            </a:r>
          </a:p>
          <a:p xmlns:a="http://schemas.openxmlformats.org/drawingml/2006/main">
            <a:r>
              <a:t>Sources</a:t>
            </a:r>
          </a:p>
          <a:p xmlns:a="http://schemas.openxmlformats.org/drawingml/2006/main">
            <a:r>
              <a:t>https://github.com/raghavnimbalkar1/Aspect-Based-Sentiment-Analysis-of-Smartphone-Reviews/blob/8e4d312f208d021e9b5e729435197ecf21bbfb9a/docs/SUBMISSION.md</a:t>
            </a:r>
          </a:p>
          <a:p xmlns:a="http://schemas.openxmlformats.org/drawingml/2006/main">
            <a:r>
              <a:t>https://github.com/raghavnimbalkar1/Aspect-Based-Sentiment-Analysis-of-Smartphone-Reviews/blob/8e4d312f208d021e9b5e729435197ecf21bbfb9a/src/smartphone_absa/experiments.py</a:t>
            </a:r>
          </a:p>
          <a:p xmlns:a="http://schemas.openxmlformats.org/drawingml/2006/main">
            <a:r>
              <a:t>https://github.com/raghavnimbalkar1/Aspect-Based-Sentiment-Analysis-of-Smartphone-Reviews/blob/8e4d312f208d021e9b5e729435197ecf21bbfb9a/src/smartphone_absa/reports.py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benchmark uses 16 English reviews of 40–1,200 characters selected by a deterministic SHA-256 order with seed 42. Each model receives 48 warm requests. A separate first request exercises a review with explicit aspect cues. Four sampled reviews have no original explicit cues, so some calls skip the neural forward pass. There is no review overlap with the locked test partition. Loading the original neural backbone took about 4.50 seconds, followed by a separate 2.31-second first inference. Domain adapter v2 reuses that already-loaded backbone, so its initialization is not a second cold-start measurement. This is responsiveness evidence, not accuracy or concurrent capacity.</a:t>
            </a:r>
          </a:p>
          <a:p xmlns:a="http://schemas.openxmlformats.org/drawingml/2006/main">
            <a:r>
              <a:t/>
            </a:r>
          </a:p>
          <a:p xmlns:a="http://schemas.openxmlformats.org/drawingml/2006/main">
            <a:r>
              <a:t>Sources</a:t>
            </a:r>
          </a:p>
          <a:p xmlns:a="http://schemas.openxmlformats.org/drawingml/2006/main">
            <a:r>
              <a:t>https://github.com/raghavnimbalkar1/Aspect-Based-Sentiment-Analysis-of-Smartphone-Reviews/blob/8e4d312f208d021e9b5e729435197ecf21bbfb9a/docs/PERFORMANCE.md</a:t>
            </a:r>
          </a:p>
          <a:p xmlns:a="http://schemas.openxmlformats.org/drawingml/2006/main">
            <a:r>
              <a:t>https://github.com/raghavnimbalkar1/Aspect-Based-Sentiment-Analysis-of-Smartphone-Reviews/blob/8e4d312f208d021e9b5e729435197ecf21bbfb9a/docs/data/m2-refinement-cpu-latency.json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release review corrected real workflow issues including duplicate-import receipts, report corruption handling, model-catalog duplication, comparison-slot movement, cancelled requests, navigation scroll and a narrow header overflow. Browser checks used the Codex in-app browser at its default size, 768 px and 390 px. All six screens fit the recorded mobile viewport, and the console had no warnings or errors during the checked pass. GitHub Actions runs backend checks, the frontend build and an isolated application-workflow job without downloading neural weights. The separate local run supplies neural coverage. Independent scientific accuracy is outside the meaning of these software checks.</a:t>
            </a:r>
          </a:p>
          <a:p xmlns:a="http://schemas.openxmlformats.org/drawingml/2006/main">
            <a:r>
              <a:t/>
            </a:r>
          </a:p>
          <a:p xmlns:a="http://schemas.openxmlformats.org/drawingml/2006/main">
            <a:r>
              <a:t>Sources</a:t>
            </a:r>
          </a:p>
          <a:p xmlns:a="http://schemas.openxmlformats.org/drawingml/2006/main">
            <a:r>
              <a:t>https://github.com/raghavnimbalkar1/Aspect-Based-Sentiment-Analysis-of-Smartphone-Reviews/blob/8e4d312f208d021e9b5e729435197ecf21bbfb9a/docs/QUALITY_ASSURANCE.md</a:t>
            </a:r>
          </a:p>
          <a:p xmlns:a="http://schemas.openxmlformats.org/drawingml/2006/main">
            <a:r>
              <a:t>https://github.com/raghavnimbalkar1/Aspect-Based-Sentiment-Analysis-of-Smartphone-Reviews/blob/8e4d312f208d021e9b5e729435197ecf21bbfb9a/docs/data/release-verification.json</a:t>
            </a:r>
          </a:p>
          <a:p xmlns:a="http://schemas.openxmlformats.org/drawingml/2006/main">
            <a:r>
              <a:t>https://github.com/raghavnimbalkar1/Aspect-Based-Sentiment-Analysis-of-Smartphone-Reviews/blob/8e4d312f208d021e9b5e729435197ecf21bbfb9a/.github/workflows/checks.yml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repository uses Python 3.12, uv, Node 24 or later and a POSIX shell with make. The backend serves both the API and built frontend. make run starts the saved local workspace without downloading dependencies. make model-setup installs optional neural libraries and downloads the pinned checkpoint, roughly 706 MiB of model/tokenizer files plus dependency space. It can reuse already downloaded files. No GPU or paid inference service is required for the verified CPU path. Colab remains an option for future transformer training while the dashboard stays local. Running setup without optional extras can remove neural dependencies, so rerun model-setup when needed.</a:t>
            </a:r>
          </a:p>
          <a:p xmlns:a="http://schemas.openxmlformats.org/drawingml/2006/main">
            <a:r>
              <a:t/>
            </a:r>
          </a:p>
          <a:p xmlns:a="http://schemas.openxmlformats.org/drawingml/2006/main">
            <a:r>
              <a:t>Sources</a:t>
            </a:r>
          </a:p>
          <a:p xmlns:a="http://schemas.openxmlformats.org/drawingml/2006/main">
            <a:r>
              <a:t>https://github.com/raghavnimbalkar1/Aspect-Based-Sentiment-Analysis-of-Smartphone-Reviews/blob/8e4d312f208d021e9b5e729435197ecf21bbfb9a/Makefile</a:t>
            </a:r>
          </a:p>
          <a:p xmlns:a="http://schemas.openxmlformats.org/drawingml/2006/main">
            <a:r>
              <a:t>https://github.com/raghavnimbalkar1/Aspect-Based-Sentiment-Analysis-of-Smartphone-Reviews/blob/8e4d312f208d021e9b5e729435197ecf21bbfb9a/README.md</a:t>
            </a:r>
          </a:p>
          <a:p xmlns:a="http://schemas.openxmlformats.org/drawingml/2006/main">
            <a:r>
              <a:t>https://github.com/raghavnimbalkar1/Aspect-Based-Sentiment-Analysis-of-Smartphone-Reviews/blob/8e4d312f208d021e9b5e729435197ecf21bbfb9a/docs/MODELING.md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analyzer interface is the main extension point for another sentiment method. A new model should return the existing Analysis schema, use a distinct identity and register through ModelRegistry. Taxonomy changes need a separate taxonomy version and compatible labels rather than a silent pattern edit. Frontend screens consume typed API records, keeping inference logic on the backend. New schema changes should use numbered migrations rather than modifying applied files. The architecture supports a bounded local project. Adding multiple API workers, authentication or hosted multi-user processing would require further design rather than simply changing a deployment command.</a:t>
            </a:r>
          </a:p>
          <a:p xmlns:a="http://schemas.openxmlformats.org/drawingml/2006/main">
            <a:r>
              <a:t/>
            </a:r>
          </a:p>
          <a:p xmlns:a="http://schemas.openxmlformats.org/drawingml/2006/main">
            <a:r>
              <a:t>Sources</a:t>
            </a:r>
          </a:p>
          <a:p xmlns:a="http://schemas.openxmlformats.org/drawingml/2006/main">
            <a:r>
              <a:t>https://github.com/raghavnimbalkar1/Aspect-Based-Sentiment-Analysis-of-Smartphone-Reviews/blob/8e4d312f208d021e9b5e729435197ecf21bbfb9a/docs/APP_GUIDE.md</a:t>
            </a:r>
          </a:p>
          <a:p xmlns:a="http://schemas.openxmlformats.org/drawingml/2006/main">
            <a:r>
              <a:t>https://github.com/raghavnimbalkar1/Aspect-Based-Sentiment-Analysis-of-Smartphone-Reviews/blob/8e4d312f208d021e9b5e729435197ecf21bbfb9a/src/smartphone_absa/models/inference.py</a:t>
            </a:r>
          </a:p>
          <a:p xmlns:a="http://schemas.openxmlformats.org/drawingml/2006/main">
            <a:r>
              <a:t>https://github.com/raghavnimbalkar1/Aspect-Based-Sentiment-Analysis-of-Smartphone-Reviews/blob/8e4d312f208d021e9b5e729435197ecf21bbfb9a/src/smartphone_absa/models/registry.py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revised adapter improves a specific development diagnostic, but it still relies on a vocabulary and local scope heuristics. The training pseudo labels inherit the original teacher’s missed candidates and sentiment errors. The dataset cap, listing selection and renewed condition affect comparisons. The validation reference lacks mixed examples and gold mentions for some categories. A larger independent annotation effort would be more valuable for trustworthy model assessment than adding dashboard features merely to appear larger. Future work could compare a trained extractor or pair classifier, improve implicit aspect handling and add a separately evaluated multilingual taxonomy and workflow. None of those extensions is claimed as complete.</a:t>
            </a:r>
          </a:p>
          <a:p xmlns:a="http://schemas.openxmlformats.org/drawingml/2006/main">
            <a:r>
              <a:t/>
            </a:r>
          </a:p>
          <a:p xmlns:a="http://schemas.openxmlformats.org/drawingml/2006/main">
            <a:r>
              <a:t>Sources</a:t>
            </a:r>
          </a:p>
          <a:p xmlns:a="http://schemas.openxmlformats.org/drawingml/2006/main">
            <a:r>
              <a:t>https://github.com/raghavnimbalkar1/Aspect-Based-Sentiment-Analysis-of-Smartphone-Reviews/blob/8e4d312f208d021e9b5e729435197ecf21bbfb9a/docs/RESULTS.md</a:t>
            </a:r>
          </a:p>
          <a:p xmlns:a="http://schemas.openxmlformats.org/drawingml/2006/main">
            <a:r>
              <a:t>https://github.com/raghavnimbalkar1/Aspect-Based-Sentiment-Analysis-of-Smartphone-Reviews/blob/8e4d312f208d021e9b5e729435197ecf21bbfb9a/RESEARCH_PLAN.md</a:t>
            </a:r>
          </a:p>
          <a:p xmlns:a="http://schemas.openxmlformats.org/drawingml/2006/main">
            <a:r>
              <a:t>https://github.com/raghavnimbalkar1/Aspect-Based-Sentiment-Analysis-of-Smartphone-Reviews/blob/8e4d312f208d021e9b5e729435197ecf21bbfb9a/docs/BENCHMARK_DATA_REVIEW.md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word gold does not make an annotation independent or correct. The label origin, instructions, ambiguity and evaluation protocol determine how a reference should be interpreted. In this project, the AI-assisted validation reference is explicitly called a development diagnostic. A checkpoint is different from the application policy around it: changing candidate extraction can alter outputs without changing neural weights. A model artifact hash identifies a particular serialized file, while an input manifest freezes study assignments and text identity. These distinctions help explain why software operation, reproducibility, responsiveness and independent predictive accuracy require different evidence.</a:t>
            </a:r>
          </a:p>
          <a:p xmlns:a="http://schemas.openxmlformats.org/drawingml/2006/main">
            <a:r>
              <a:t/>
            </a:r>
          </a:p>
          <a:p xmlns:a="http://schemas.openxmlformats.org/drawingml/2006/main">
            <a:r>
              <a:t>Sources</a:t>
            </a:r>
          </a:p>
          <a:p xmlns:a="http://schemas.openxmlformats.org/drawingml/2006/main">
            <a:r>
              <a:t>https://github.com/raghavnimbalkar1/Aspect-Based-Sentiment-Analysis-of-Smartphone-Reviews/blob/8e4d312f208d021e9b5e729435197ecf21bbfb9a/docs/ANNOTATION.md</a:t>
            </a:r>
          </a:p>
          <a:p xmlns:a="http://schemas.openxmlformats.org/drawingml/2006/main">
            <a:r>
              <a:t>https://github.com/raghavnimbalkar1/Aspect-Based-Sentiment-Analysis-of-Smartphone-Reviews/blob/8e4d312f208d021e9b5e729435197ecf21bbfb9a/docs/MODELING.md</a:t>
            </a:r>
          </a:p>
          <a:p xmlns:a="http://schemas.openxmlformats.org/drawingml/2006/main">
            <a:r>
              <a:t>https://github.com/raghavnimbalkar1/Aspect-Based-Sentiment-Analysis-of-Smartphone-Reviews/blob/8e4d312f208d021e9b5e729435197ecf21bbfb9a/src/smartphone_absa/metrics.py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sources are pinned to release commit 8e4d312f208d021e9b5e729435197ecf21bbfb9a. The source dataset is Griko Nibras’s Amazon Cell Phones Reviews version 2. The neural checkpoint is yangheng/deberta-v3-base-absa-v1.1 at revision 10c9dff335a44073e1352360c3a7bc54dc58eb01. Licensing statements reproduce the publishers’ declared metadata, not a new license assigned to this repository. Exact local classifier artifacts and frozen labels remain in ignored local storage. The guide’s editable charts use literal values from the committed aggregate records and do not depend on live network queries.</a:t>
            </a:r>
          </a:p>
          <a:p xmlns:a="http://schemas.openxmlformats.org/drawingml/2006/main">
            <a:r>
              <a:t/>
            </a:r>
          </a:p>
          <a:p xmlns:a="http://schemas.openxmlformats.org/drawingml/2006/main">
            <a:r>
              <a:t>Sources</a:t>
            </a:r>
          </a:p>
          <a:p xmlns:a="http://schemas.openxmlformats.org/drawingml/2006/main">
            <a:r>
              <a:t>https://github.com/raghavnimbalkar1/Aspect-Based-Sentiment-Analysis-of-Smartphone-Reviews</a:t>
            </a:r>
          </a:p>
          <a:p xmlns:a="http://schemas.openxmlformats.org/drawingml/2006/main">
            <a:r>
              <a:t>https://www.kaggle.com/datasets/grikomsn/amazon-cell-phones-reviews/versions/2</a:t>
            </a:r>
          </a:p>
          <a:p xmlns:a="http://schemas.openxmlformats.org/drawingml/2006/main">
            <a:r>
              <a:t>https://huggingface.co/yangheng/deberta-v3-base-absa-v1.1/tree/10c9dff335a44073e1352360c3a7bc54dc58eb01</a:t>
            </a:r>
          </a:p>
          <a:p xmlns:a="http://schemas.openxmlformats.org/drawingml/2006/main">
            <a:r>
              <a:t>https://scikit-learn.org/stable/modules/linear_model.html#logistic-regression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counts sum to 4,346 selected reviews. The product identifier is the source ASIN, which joins listing metadata to reviews and separates product-level analysis. Renewed listings remain separate and visible rather than being merged with unidentified new variants. Most listings reach the 400-review cap. The two renewed iPhones have fewer eligible rows, and OnePlus 6T has 77. These differences make support counts important when reading phone comparisons. The configuration records a checked listing selection, not a comprehensive list of all smartphones or a claim about present-day availability.</a:t>
            </a:r>
          </a:p>
          <a:p xmlns:a="http://schemas.openxmlformats.org/drawingml/2006/main">
            <a:r>
              <a:t/>
            </a:r>
          </a:p>
          <a:p xmlns:a="http://schemas.openxmlformats.org/drawingml/2006/main">
            <a:r>
              <a:t>Sources</a:t>
            </a:r>
          </a:p>
          <a:p xmlns:a="http://schemas.openxmlformats.org/drawingml/2006/main">
            <a:r>
              <a:t>https://github.com/raghavnimbalkar1/Aspect-Based-Sentiment-Analysis-of-Smartphone-Reviews/blob/8e4d312f208d021e9b5e729435197ecf21bbfb9a/config/products.json</a:t>
            </a:r>
          </a:p>
          <a:p xmlns:a="http://schemas.openxmlformats.org/drawingml/2006/main">
            <a:r>
              <a:t>https://github.com/raghavnimbalkar1/Aspect-Based-Sentiment-Analysis-of-Smartphone-Reviews/blob/8e4d312f208d021e9b5e729435197ecf21bbfb9a/src/smartphone_absa/data.py</a:t>
            </a:r>
          </a:p>
          <a:p xmlns:a="http://schemas.openxmlformats.org/drawingml/2006/main">
            <a:r>
              <a:t>https://github.com/raghavnimbalkar1/Aspect-Based-Sentiment-Analysis-of-Smartphone-Reviews/blob/8e4d312f208d021e9b5e729435197ecf21bbfb9a/docs/screenshots/dataset-details.png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Review IDs and duplicate hashes provide stable identity, while sentence offsets connect each task to the original text. An annotation origin can be human, assisted or synthetic in the data contract, with stricter holdout rules in the reader and workbench. Workbench statuses are draft and adjudicated, while the separate training-assistance export can use generated status under an explicit train-only option. Present labels need an explicit or implicit reference, and absent labels use no reference. Completing a task requires all ten category states. The reader checks frozen identities, grouping, text hashes and allowed origins before any training or evaluation.</a:t>
            </a:r>
          </a:p>
          <a:p xmlns:a="http://schemas.openxmlformats.org/drawingml/2006/main">
            <a:r>
              <a:t/>
            </a:r>
          </a:p>
          <a:p xmlns:a="http://schemas.openxmlformats.org/drawingml/2006/main">
            <a:r>
              <a:t>Sources</a:t>
            </a:r>
          </a:p>
          <a:p xmlns:a="http://schemas.openxmlformats.org/drawingml/2006/main">
            <a:r>
              <a:t>https://github.com/raghavnimbalkar1/Aspect-Based-Sentiment-Analysis-of-Smartphone-Reviews/blob/8e4d312f208d021e9b5e729435197ecf21bbfb9a/src/smartphone_absa/domain.py</a:t>
            </a:r>
          </a:p>
          <a:p xmlns:a="http://schemas.openxmlformats.org/drawingml/2006/main">
            <a:r>
              <a:t>https://github.com/raghavnimbalkar1/Aspect-Based-Sentiment-Analysis-of-Smartphone-Reviews/blob/8e4d312f208d021e9b5e729435197ecf21bbfb9a/src/smartphone_absa/annotations.py</a:t>
            </a:r>
          </a:p>
          <a:p xmlns:a="http://schemas.openxmlformats.org/drawingml/2006/main">
            <a:r>
              <a:t>https://github.com/raghavnimbalkar1/Aspect-Based-Sentiment-Analysis-of-Smartphone-Reviews/blob/8e4d312f208d021e9b5e729435197ecf21bbfb9a/src/smartphone_absa/workbench.py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full interactive API schema is available at localhost:8000/docs. Study creation uses POST /api/annotations/studies. Review batch processing uses POST /api/datasets/{id}/jobs and its GET history route. A report can be downloaded from /api/experiments/reports/{name}. Its predictions endpoint accepts model, split, category, error kind, offset and limit filters. The split parameter selects saved validation or test predictions. Requests never silently substitute the baseline for an unavailable model. Known report names resolve to local artifact paths rather than interpolating arbitrary file paths from a URL.</a:t>
            </a:r>
          </a:p>
          <a:p xmlns:a="http://schemas.openxmlformats.org/drawingml/2006/main">
            <a:r>
              <a:t/>
            </a:r>
          </a:p>
          <a:p xmlns:a="http://schemas.openxmlformats.org/drawingml/2006/main">
            <a:r>
              <a:t>Sources</a:t>
            </a:r>
          </a:p>
          <a:p xmlns:a="http://schemas.openxmlformats.org/drawingml/2006/main">
            <a:r>
              <a:t>https://github.com/raghavnimbalkar1/Aspect-Based-Sentiment-Analysis-of-Smartphone-Reviews/blob/8e4d312f208d021e9b5e729435197ecf21bbfb9a/src/smartphone_absa/api.py</a:t>
            </a:r>
          </a:p>
          <a:p xmlns:a="http://schemas.openxmlformats.org/drawingml/2006/main">
            <a:r>
              <a:t>https://github.com/raghavnimbalkar1/Aspect-Based-Sentiment-Analysis-of-Smartphone-Reviews/blob/8e4d312f208d021e9b5e729435197ecf21bbfb9a/src/smartphone_absa/annotation_api.py</a:t>
            </a:r>
          </a:p>
          <a:p xmlns:a="http://schemas.openxmlformats.org/drawingml/2006/main">
            <a:r>
              <a:t>https://github.com/raghavnimbalkar1/Aspect-Based-Sentiment-Analysis-of-Smartphone-Reviews/blob/8e4d312f208d021e9b5e729435197ecf21bbfb9a/src/smartphone_absa/research_api.py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command templates. Replace the placeholders and select one profile value. The executable in the project environment is .venv/bin/absa. For the recorded assisted training set, supply --assisted-training with artifacts/training-assistance/702b9e3f899067ea52b7088c/labels.csv and add --assisted-validation for the existing diagnostic reference. The frozen reviewed labels are under data/annotations/ai-validation-export-20261019. Repeated --model arguments compare multiple fixed IDs. The final-test option requires every frozen test sentence to have human labels and does not allow assisted test rows. Choose a new output directory for each run. See docs/SUBMISSION.md for the exact final-study command and docs/MODELING.md for training examples.</a:t>
            </a:r>
          </a:p>
          <a:p xmlns:a="http://schemas.openxmlformats.org/drawingml/2006/main">
            <a:r>
              <a:t/>
            </a:r>
          </a:p>
          <a:p xmlns:a="http://schemas.openxmlformats.org/drawingml/2006/main">
            <a:r>
              <a:t>Sources</a:t>
            </a:r>
          </a:p>
          <a:p xmlns:a="http://schemas.openxmlformats.org/drawingml/2006/main">
            <a:r>
              <a:t>https://github.com/raghavnimbalkar1/Aspect-Based-Sentiment-Analysis-of-Smartphone-Reviews/blob/8e4d312f208d021e9b5e729435197ecf21bbfb9a/docs/MODELING.md</a:t>
            </a:r>
          </a:p>
          <a:p xmlns:a="http://schemas.openxmlformats.org/drawingml/2006/main">
            <a:r>
              <a:t>https://github.com/raghavnimbalkar1/Aspect-Based-Sentiment-Analysis-of-Smartphone-Reviews/blob/8e4d312f208d021e9b5e729435197ecf21bbfb9a/docs/SUBMISSION.md</a:t>
            </a:r>
          </a:p>
          <a:p xmlns:a="http://schemas.openxmlformats.org/drawingml/2006/main">
            <a:r>
              <a:t>https://github.com/raghavnimbalkar1/Aspect-Based-Sentiment-Analysis-of-Smartphone-Reviews/blob/8e4d312f208d021e9b5e729435197ecf21bbfb9a/src/smartphone_absa/cli.py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5f731e0639e41e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fcba0a1ab03450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94342b3b0c8442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df68b517f87440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de28cc9ac0d489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60f1f5462d2495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BD6F308-540D-42C5-9596-9A28C497D6D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90F6AA0-3636-4EB6-9DB5-1E5BAB7E7C0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2D15B48-B312-4ED5-8BAC-709042760C9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5D5E1FC-6F19-430C-BC4C-19F771C9606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3831D27-67F0-44E0-B80B-9BFD9210E26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CF17ADE-EFEA-4A5D-9347-32AF5767104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3E9399B-B5C4-47BC-9634-CD8F814096D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9345113-F64D-413B-AD28-F5E9456B332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1158456-51AD-427E-9B58-3D861B334AC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EE036C8-62B9-4343-8AC4-A116E1AA5D0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3ce320b765b4e19" /><Relationship Type="http://schemas.openxmlformats.org/officeDocument/2006/relationships/slideLayout" Target="/ppt/slideLayouts/slideLayout1.xml" Id="Ra7d2370b1b3844d7" /><Relationship Type="http://schemas.openxmlformats.org/officeDocument/2006/relationships/slideLayout" Target="/ppt/slideLayouts/slideLayout2.xml" Id="Rb003fd196bf5447d" /><Relationship Type="http://schemas.openxmlformats.org/officeDocument/2006/relationships/slideLayout" Target="/ppt/slideLayouts/slideLayout3.xml" Id="R04e094337efa4213" /><Relationship Type="http://schemas.openxmlformats.org/officeDocument/2006/relationships/slideLayout" Target="/ppt/slideLayouts/slideLayout4.xml" Id="R9f4dc7b4c7934961" /><Relationship Type="http://schemas.openxmlformats.org/officeDocument/2006/relationships/slideLayout" Target="/ppt/slideLayouts/slideLayout5.xml" Id="R327f14f05aa54bde" /><Relationship Type="http://schemas.openxmlformats.org/officeDocument/2006/relationships/slideLayout" Target="/ppt/slideLayouts/slideLayout6.xml" Id="R6cbb3a0526af42b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7d2370b1b3844d7"/>
    <p:sldLayoutId xmlns:r="http://schemas.openxmlformats.org/officeDocument/2006/relationships" id="2147483650" r:id="Rb003fd196bf5447d"/>
    <p:sldLayoutId xmlns:r="http://schemas.openxmlformats.org/officeDocument/2006/relationships" id="2147483651" r:id="R04e094337efa4213"/>
    <p:sldLayoutId xmlns:r="http://schemas.openxmlformats.org/officeDocument/2006/relationships" id="2147483652" r:id="R9f4dc7b4c7934961"/>
    <p:sldLayoutId xmlns:r="http://schemas.openxmlformats.org/officeDocument/2006/relationships" id="2147483653" r:id="R327f14f05aa54bde"/>
    <p:sldLayoutId xmlns:r="http://schemas.openxmlformats.org/officeDocument/2006/relationships" id="2147483654" r:id="R6cbb3a0526af42b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d88c3f3bd1e48d1" /><Relationship Type="http://schemas.openxmlformats.org/officeDocument/2006/relationships/notesSlide" Target="/ppt/notesSlides/notesSlide1.xml" Id="Ra6e1f1b2ec5e45e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b35db59206b4c34" /><Relationship Type="http://schemas.openxmlformats.org/officeDocument/2006/relationships/notesSlide" Target="/ppt/notesSlides/notesSlide2.xml" Id="Rcf365c7673dc4bd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9a5daebd60b4372" /><Relationship Type="http://schemas.openxmlformats.org/officeDocument/2006/relationships/notesSlide" Target="/ppt/notesSlides/notesSlide3.xml" Id="R31f5b40ac9f149f0"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61cc6f051684604" /><Relationship Type="http://schemas.openxmlformats.org/officeDocument/2006/relationships/notesSlide" Target="/ppt/notesSlides/notesSlide4.xml" Id="R140541cf19d149b1"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1aafb9bf62d4dad" /><Relationship Type="http://schemas.openxmlformats.org/officeDocument/2006/relationships/notesSlide" Target="/ppt/notesSlides/notesSlide5.xml" Id="R23a0d1787a4940a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ea91e3243fd4739" /><Relationship Type="http://schemas.openxmlformats.org/officeDocument/2006/relationships/notesSlide" Target="/ppt/notesSlides/notesSlide6.xml" Id="Rfaa8e2cb97414bf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bb862175fcf4f55" /><Relationship Type="http://schemas.openxmlformats.org/officeDocument/2006/relationships/notesSlide" Target="/ppt/notesSlides/notesSlide7.xml" Id="R02421fd6dec74ee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cacf5a67f57404c" /><Relationship Type="http://schemas.openxmlformats.org/officeDocument/2006/relationships/notesSlide" Target="/ppt/notesSlides/notesSlide8.xml" Id="Ref8cd75455f34107"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91925ed318f14023" /><Relationship Type="http://schemas.openxmlformats.org/officeDocument/2006/relationships/notesSlide" Target="/ppt/notesSlides/notesSlide9.xml" Id="R40bb63224d9c4d4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6ddc3bd872a54064" /><Relationship Type="http://schemas.openxmlformats.org/officeDocument/2006/relationships/notesSlide" Target="/ppt/notesSlides/notesSlide10.xml" Id="Rd63dbe90d8564b7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a1665c3add994495" /><Relationship Type="http://schemas.openxmlformats.org/officeDocument/2006/relationships/notesSlide" Target="/ppt/notesSlides/notesSlide11.xml" Id="Rb2eb75b94ed045a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d98e1e0fc5864683" /><Relationship Type="http://schemas.openxmlformats.org/officeDocument/2006/relationships/notesSlide" Target="/ppt/notesSlides/notesSlide12.xml" Id="R5d43e11fa2724f9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d07c90e8b82d4843" /><Relationship Type="http://schemas.openxmlformats.org/officeDocument/2006/relationships/chart" Target="/ppt/slides/charts/chart1.xml" Id="R340fcfafc887404e" /><Relationship Type="http://schemas.openxmlformats.org/officeDocument/2006/relationships/notesSlide" Target="/ppt/notesSlides/notesSlide13.xml" Id="R5acf88e9eb3044d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d23b04d6f78c403b" /><Relationship Type="http://schemas.openxmlformats.org/officeDocument/2006/relationships/notesSlide" Target="/ppt/notesSlides/notesSlide14.xml" Id="R306c272ee6cd4b8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381b207def054806" /><Relationship Type="http://schemas.openxmlformats.org/officeDocument/2006/relationships/notesSlide" Target="/ppt/notesSlides/notesSlide15.xml" Id="R163c298ff7154e6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26a48daeed564035" /><Relationship Type="http://schemas.openxmlformats.org/officeDocument/2006/relationships/notesSlide" Target="/ppt/notesSlides/notesSlide16.xml" Id="Rc511b72f93eb439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28d2c4814a8a4353" /><Relationship Type="http://schemas.openxmlformats.org/officeDocument/2006/relationships/notesSlide" Target="/ppt/notesSlides/notesSlide17.xml" Id="R324d1b3a4cdd4ee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5db6fade32834528" /><Relationship Type="http://schemas.openxmlformats.org/officeDocument/2006/relationships/notesSlide" Target="/ppt/notesSlides/notesSlide18.xml" Id="Re0bca86ddb63408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dcde624470ef4722" /><Relationship Type="http://schemas.openxmlformats.org/officeDocument/2006/relationships/notesSlide" Target="/ppt/notesSlides/notesSlide19.xml" Id="Ra71ce657b3384f8c"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8bb9313e6f61463a" /><Relationship Type="http://schemas.openxmlformats.org/officeDocument/2006/relationships/notesSlide" Target="/ppt/notesSlides/notesSlide20.xml" Id="R62bd0db86b3142d1"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ae2d96248273423e" /><Relationship Type="http://schemas.openxmlformats.org/officeDocument/2006/relationships/notesSlide" Target="/ppt/notesSlides/notesSlide21.xml" Id="R11928453d1ad44a9"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3d7b2c4d39634001" /><Relationship Type="http://schemas.openxmlformats.org/officeDocument/2006/relationships/notesSlide" Target="/ppt/notesSlides/notesSlide22.xml" Id="Rb8fcca351c494b8d"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e42de04aa9194577" /><Relationship Type="http://schemas.openxmlformats.org/officeDocument/2006/relationships/notesSlide" Target="/ppt/notesSlides/notesSlide23.xml" Id="R728a7cf9c6bd4162"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1f22c542a33f42bb" /><Relationship Type="http://schemas.openxmlformats.org/officeDocument/2006/relationships/notesSlide" Target="/ppt/notesSlides/notesSlide24.xml" Id="Raa44538ab94b4730"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1d557aa7ebc44d2b" /><Relationship Type="http://schemas.openxmlformats.org/officeDocument/2006/relationships/notesSlide" Target="/ppt/notesSlides/notesSlide25.xml" Id="R25bb4d9e8d3742b3"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e3b2b5ae771d48f4" /><Relationship Type="http://schemas.openxmlformats.org/officeDocument/2006/relationships/notesSlide" Target="/ppt/notesSlides/notesSlide26.xml" Id="Rb2548579566442bd"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bdc022ca428d44d6" /><Relationship Type="http://schemas.openxmlformats.org/officeDocument/2006/relationships/notesSlide" Target="/ppt/notesSlides/notesSlide27.xml" Id="R33df0cfbd15f438a"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9291214e508a4abe" /><Relationship Type="http://schemas.openxmlformats.org/officeDocument/2006/relationships/notesSlide" Target="/ppt/notesSlides/notesSlide28.xml" Id="Rcb7020307a5546de"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0ee5c20dc41d433b" /><Relationship Type="http://schemas.openxmlformats.org/officeDocument/2006/relationships/notesSlide" Target="/ppt/notesSlides/notesSlide29.xml" Id="R4631569f9d844901"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2c2c76721dda4ddc" /><Relationship Type="http://schemas.openxmlformats.org/officeDocument/2006/relationships/image" Target="/ppt/media/image.jpeg" Id="R531e5ecb6dfb47e5" /><Relationship Type="http://schemas.openxmlformats.org/officeDocument/2006/relationships/notesSlide" Target="/ppt/notesSlides/notesSlide30.xml" Id="R61295cabdc9842f2"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a95b3c581ba245e3" /><Relationship Type="http://schemas.openxmlformats.org/officeDocument/2006/relationships/image" Target="/ppt/media/image2.jpeg" Id="R60fffede70fd4a36" /><Relationship Type="http://schemas.openxmlformats.org/officeDocument/2006/relationships/notesSlide" Target="/ppt/notesSlides/notesSlide31.xml" Id="Rc666f9f8512c4380"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74495b5bb4bf4700" /><Relationship Type="http://schemas.openxmlformats.org/officeDocument/2006/relationships/image" Target="/ppt/media/image3.jpeg" Id="R1ef1f5fd7af34a03" /><Relationship Type="http://schemas.openxmlformats.org/officeDocument/2006/relationships/notesSlide" Target="/ppt/notesSlides/notesSlide32.xml" Id="R0a792f492d184d1c"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d1b8357025cf453d" /><Relationship Type="http://schemas.openxmlformats.org/officeDocument/2006/relationships/image" Target="/ppt/media/image4.jpeg" Id="Re974029f663348bc" /><Relationship Type="http://schemas.openxmlformats.org/officeDocument/2006/relationships/notesSlide" Target="/ppt/notesSlides/notesSlide33.xml" Id="Rf07279c419924539"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fb371b6974ce4740" /><Relationship Type="http://schemas.openxmlformats.org/officeDocument/2006/relationships/image" Target="/ppt/media/image5.jpeg" Id="R35882b367caf49ee" /><Relationship Type="http://schemas.openxmlformats.org/officeDocument/2006/relationships/notesSlide" Target="/ppt/notesSlides/notesSlide34.xml" Id="R82bc3e3f2b73474a"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0a6da9170fd84621" /><Relationship Type="http://schemas.openxmlformats.org/officeDocument/2006/relationships/image" Target="/ppt/media/image6.jpeg" Id="Rbe80abd37f024f6f" /><Relationship Type="http://schemas.openxmlformats.org/officeDocument/2006/relationships/notesSlide" Target="/ppt/notesSlides/notesSlide35.xml" Id="Rf6d4406762014ae8"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6fc8875492974a4f" /><Relationship Type="http://schemas.openxmlformats.org/officeDocument/2006/relationships/image" Target="/ppt/media/image7.jpeg" Id="R137f0020c2df49fc" /><Relationship Type="http://schemas.openxmlformats.org/officeDocument/2006/relationships/notesSlide" Target="/ppt/notesSlides/notesSlide36.xml" Id="R11c5619b2e394c1e"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e690526504ee4355" /><Relationship Type="http://schemas.openxmlformats.org/officeDocument/2006/relationships/notesSlide" Target="/ppt/notesSlides/notesSlide37.xml" Id="Rd6a6fe1f2e364da9"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ef0bfac2969b4ca2" /><Relationship Type="http://schemas.openxmlformats.org/officeDocument/2006/relationships/chart" Target="/ppt/slides/charts/chart2.xml" Id="Rb7ce69581580428e" /><Relationship Type="http://schemas.openxmlformats.org/officeDocument/2006/relationships/notesSlide" Target="/ppt/notesSlides/notesSlide38.xml" Id="R7e6b04a609104630"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21cf8d6be5fc4ef9" /><Relationship Type="http://schemas.openxmlformats.org/officeDocument/2006/relationships/notesSlide" Target="/ppt/notesSlides/notesSlide39.xml" Id="Rd089046c21464780"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8b5c58c6a645470b" /><Relationship Type="http://schemas.openxmlformats.org/officeDocument/2006/relationships/notesSlide" Target="/ppt/notesSlides/notesSlide40.xml" Id="Rc9d95d1b9a1b415d"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03bea75571714061" /><Relationship Type="http://schemas.openxmlformats.org/officeDocument/2006/relationships/image" Target="/ppt/media/image8.jpeg" Id="Rbd6e64856baa442c" /><Relationship Type="http://schemas.openxmlformats.org/officeDocument/2006/relationships/notesSlide" Target="/ppt/notesSlides/notesSlide41.xml" Id="R36125f7c3f534b69"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e273cbf4437e4810" /><Relationship Type="http://schemas.openxmlformats.org/officeDocument/2006/relationships/notesSlide" Target="/ppt/notesSlides/notesSlide42.xml" Id="R404b0a3d2a394a43"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d8ecc2dc0b7648f5" /><Relationship Type="http://schemas.openxmlformats.org/officeDocument/2006/relationships/notesSlide" Target="/ppt/notesSlides/notesSlide43.xml" Id="R0db092b9a49640d7"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12ee34c5c21c423f" /><Relationship Type="http://schemas.openxmlformats.org/officeDocument/2006/relationships/notesSlide" Target="/ppt/notesSlides/notesSlide44.xml" Id="Rcbd98ef3f9bd4b54"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ddec37cfbacc4b3f" /><Relationship Type="http://schemas.openxmlformats.org/officeDocument/2006/relationships/notesSlide" Target="/ppt/notesSlides/notesSlide45.xml" Id="R432d486747fb4055"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bcc02ac453d841c0" /><Relationship Type="http://schemas.openxmlformats.org/officeDocument/2006/relationships/notesSlide" Target="/ppt/notesSlides/notesSlide46.xml" Id="R5834491a7f6f440f"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b193f779561a44b5" /><Relationship Type="http://schemas.openxmlformats.org/officeDocument/2006/relationships/notesSlide" Target="/ppt/notesSlides/notesSlide47.xml" Id="R1f671c4fa2634c35"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331fa5cdcdcc4b36" /><Relationship Type="http://schemas.openxmlformats.org/officeDocument/2006/relationships/notesSlide" Target="/ppt/notesSlides/notesSlide48.xml" Id="R8e9168e265144456" /></Relationships>
</file>

<file path=ppt/slides/_rels/slide49.xml.rels>&#65279;<?xml version="1.0" encoding="utf-8"?><Relationships xmlns="http://schemas.openxmlformats.org/package/2006/relationships"><Relationship Type="http://schemas.openxmlformats.org/officeDocument/2006/relationships/slideLayout" Target="/ppt/slideLayouts/slideLayout6.xml" Id="R09a41daf0f57476d" /><Relationship Type="http://schemas.openxmlformats.org/officeDocument/2006/relationships/notesSlide" Target="/ppt/notesSlides/notesSlide49.xml" Id="R93a7647efbf54c09" /></Relationships>
</file>

<file path=ppt/slides/_rels/slide50.xml.rels>&#65279;<?xml version="1.0" encoding="utf-8"?><Relationships xmlns="http://schemas.openxmlformats.org/package/2006/relationships"><Relationship Type="http://schemas.openxmlformats.org/officeDocument/2006/relationships/slideLayout" Target="/ppt/slideLayouts/slideLayout6.xml" Id="R77a25e2dd0304951" /><Relationship Type="http://schemas.openxmlformats.org/officeDocument/2006/relationships/notesSlide" Target="/ppt/notesSlides/notesSlide50.xml" Id="Raea1950f958c49b2" /></Relationships>
</file>

<file path=ppt/slides/_rels/slide51.xml.rels>&#65279;<?xml version="1.0" encoding="utf-8"?><Relationships xmlns="http://schemas.openxmlformats.org/package/2006/relationships"><Relationship Type="http://schemas.openxmlformats.org/officeDocument/2006/relationships/slideLayout" Target="/ppt/slideLayouts/slideLayout6.xml" Id="Rb90cd88b479449ab" /><Relationship Type="http://schemas.openxmlformats.org/officeDocument/2006/relationships/notesSlide" Target="/ppt/notesSlides/notesSlide51.xml" Id="R86f04a1978354d9c" /></Relationships>
</file>

<file path=ppt/slides/_rels/slide52.xml.rels>&#65279;<?xml version="1.0" encoding="utf-8"?><Relationships xmlns="http://schemas.openxmlformats.org/package/2006/relationships"><Relationship Type="http://schemas.openxmlformats.org/officeDocument/2006/relationships/slideLayout" Target="/ppt/slideLayouts/slideLayout6.xml" Id="Rb40aa0ee1174428d" /><Relationship Type="http://schemas.openxmlformats.org/officeDocument/2006/relationships/notesSlide" Target="/ppt/notesSlides/notesSlide52.xml" Id="R22cee7ad25cd439b"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Sentences</c:v>
          </c:tx>
          <c:spPr>
            <a:solidFill xmlns:a="http://schemas.openxmlformats.org/drawingml/2006/main">
              <a:srgbClr val="39725C"/>
            </a:solidFill>
          </c:spPr>
          <c:invertIfNegative val="0"/>
          <c:dPt>
            <c:idx val="0"/>
            <c:invertIfNegative val="0"/>
            <c:spPr>
              <a:solidFill xmlns:a="http://schemas.openxmlformats.org/drawingml/2006/main">
                <a:srgbClr val="39725C"/>
              </a:solidFill>
            </c:spPr>
          </c:dPt>
          <c:dPt>
            <c:idx val="1"/>
            <c:invertIfNegative val="0"/>
            <c:spPr>
              <a:solidFill xmlns:a="http://schemas.openxmlformats.org/drawingml/2006/main">
                <a:srgbClr val="A78A4D"/>
              </a:solidFill>
            </c:spPr>
          </c:dPt>
          <c:dPt>
            <c:idx val="2"/>
            <c:invertIfNegative val="0"/>
            <c:spPr>
              <a:solidFill xmlns:a="http://schemas.openxmlformats.org/drawingml/2006/main">
                <a:srgbClr val="82978C"/>
              </a:solidFill>
            </c:spPr>
          </c:dPt>
          <c:cat>
            <c:strRef>
              <c:f>'Chart Data'!$A$2:$A$4</c:f>
              <c:strCache>
                <c:ptCount val="3"/>
                <c:pt idx="0">
                  <c:v>Training</c:v>
                </c:pt>
                <c:pt idx="1">
                  <c:v>Validation</c:v>
                </c:pt>
                <c:pt idx="2">
                  <c:v>Test</c:v>
                </c:pt>
              </c:strCache>
            </c:strRef>
          </c:cat>
          <c:val>
            <c:numRef>
              <c:f>'Chart Data'!$B$2:$B$4</c:f>
              <c:numCache>
                <c:formatCode>0</c:formatCode>
                <c:ptCount val="3"/>
                <c:pt idx="0">
                  <c:v>199</c:v>
                </c:pt>
                <c:pt idx="1">
                  <c:v>35</c:v>
                </c:pt>
                <c:pt idx="2">
                  <c:v>69</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650" b="1">
                  <a:solidFill>
                    <a:srgbClr val="26332E"/>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CE3DA"/>
            </a:solidFill>
          </a:ln>
        </c:spPr>
        <c:txPr>
          <a:bodyPr xmlns:a="http://schemas.openxmlformats.org/drawingml/2006/main" anchorCtr="1"/>
          <a:lstStyle xmlns:a="http://schemas.openxmlformats.org/drawingml/2006/main"/>
          <a:p xmlns:a="http://schemas.openxmlformats.org/drawingml/2006/main">
            <a:pPr>
              <a:defRPr sz="1650">
                <a:solidFill>
                  <a:srgbClr val="26332E"/>
                </a:solidFill>
                <a:latin typeface="Arial"/>
                <a:ea typeface="Arial"/>
                <a:cs typeface="Arial"/>
              </a:defRPr>
            </a:pPr>
          </a:p>
        </c:txPr>
        <c:crossAx val="48672768"/>
      </c:catAx>
      <c:valAx>
        <c:axId val="48672768"/>
        <c:scaling>
          <c:orientation val="minMax"/>
          <c:max val="220"/>
          <c:min val="0"/>
        </c:scaling>
        <c:delete val="0"/>
        <c:axPos val="l"/>
        <c:majorGridlines>
          <c:spPr>
            <a:ln xmlns:a="http://schemas.openxmlformats.org/drawingml/2006/main" w="6668">
              <a:solidFill>
                <a:srgbClr val="DCE3DA"/>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66736C"/>
                </a:solidFill>
                <a:latin typeface="Arial"/>
                <a:ea typeface="Arial"/>
                <a:cs typeface="Arial"/>
              </a:defRPr>
            </a:pPr>
          </a:p>
        </c:txPr>
        <c:crossAx val="48650112"/>
        <c:crossBetween val="between"/>
        <c:majorUnit val="50"/>
      </c:valAx>
      <c:spPr>
        <a:solidFill xmlns:a="http://schemas.openxmlformats.org/drawingml/2006/main">
          <a:srgbClr val="F6F7F4"/>
        </a:solidFill>
        <a:ln xmlns:a="http://schemas.openxmlformats.org/drawingml/2006/main" w="0">
          <a:noFill/>
        </a:ln>
      </c:spPr>
    </c:plotArea>
    <c:plotVisOnly val="1"/>
  </c:chart>
  <c:spPr>
    <a:solidFill xmlns:a="http://schemas.openxmlformats.org/drawingml/2006/main">
      <a:srgbClr val="F6F7F4"/>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Tuple micro-F1</c:v>
          </c:tx>
          <c:spPr>
            <a:solidFill xmlns:a="http://schemas.openxmlformats.org/drawingml/2006/main">
              <a:srgbClr val="39725C"/>
            </a:solidFill>
          </c:spPr>
          <c:invertIfNegative val="0"/>
          <c:dPt>
            <c:idx val="0"/>
            <c:invertIfNegative val="0"/>
            <c:spPr>
              <a:solidFill xmlns:a="http://schemas.openxmlformats.org/drawingml/2006/main">
                <a:srgbClr val="8FA99A"/>
              </a:solidFill>
            </c:spPr>
          </c:dPt>
          <c:dPt>
            <c:idx val="1"/>
            <c:invertIfNegative val="0"/>
            <c:spPr>
              <a:solidFill xmlns:a="http://schemas.openxmlformats.org/drawingml/2006/main">
                <a:srgbClr val="8FA99A"/>
              </a:solidFill>
            </c:spPr>
          </c:dPt>
          <c:dPt>
            <c:idx val="2"/>
            <c:invertIfNegative val="0"/>
            <c:spPr>
              <a:solidFill xmlns:a="http://schemas.openxmlformats.org/drawingml/2006/main">
                <a:srgbClr val="8FA99A"/>
              </a:solidFill>
            </c:spPr>
          </c:dPt>
          <c:dPt>
            <c:idx val="3"/>
            <c:invertIfNegative val="0"/>
            <c:spPr>
              <a:solidFill xmlns:a="http://schemas.openxmlformats.org/drawingml/2006/main">
                <a:srgbClr val="8FA99A"/>
              </a:solidFill>
            </c:spPr>
          </c:dPt>
          <c:dPt>
            <c:idx val="4"/>
            <c:invertIfNegative val="0"/>
            <c:spPr>
              <a:solidFill xmlns:a="http://schemas.openxmlformats.org/drawingml/2006/main">
                <a:srgbClr val="39725C"/>
              </a:solidFill>
            </c:spPr>
          </c:dPt>
          <c:dPt>
            <c:idx val="5"/>
            <c:invertIfNegative val="0"/>
            <c:spPr>
              <a:solidFill xmlns:a="http://schemas.openxmlformats.org/drawingml/2006/main">
                <a:srgbClr val="8FA99A"/>
              </a:solidFill>
            </c:spPr>
          </c:dPt>
          <c:cat>
            <c:strRef>
              <c:f>'Chart Data'!$A$2:$A$7</c:f>
              <c:strCache>
                <c:ptCount val="6"/>
                <c:pt idx="0">
                  <c:v>Absent</c:v>
                </c:pt>
                <c:pt idx="1">
                  <c:v>Rules</c:v>
                </c:pt>
                <c:pt idx="2">
                  <c:v>Transfer</c:v>
                </c:pt>
                <c:pt idx="3">
                  <c:v>Flat TF-IDF</c:v>
                </c:pt>
                <c:pt idx="4">
                  <c:v>Domain v2</c:v>
                </c:pt>
                <c:pt idx="5">
                  <c:v>Two-stage</c:v>
                </c:pt>
              </c:strCache>
            </c:strRef>
          </c:cat>
          <c:val>
            <c:numRef>
              <c:f>'Chart Data'!$B$2:$B$7</c:f>
              <c:numCache>
                <c:formatCode>0.0</c:formatCode>
                <c:ptCount val="6"/>
                <c:pt idx="0">
                  <c:v>0</c:v>
                </c:pt>
                <c:pt idx="1">
                  <c:v>0.266667</c:v>
                </c:pt>
                <c:pt idx="2">
                  <c:v>0.322581</c:v>
                </c:pt>
                <c:pt idx="3">
                  <c:v>0.090909</c:v>
                </c:pt>
                <c:pt idx="4">
                  <c:v>0.75</c:v>
                </c:pt>
                <c:pt idx="5">
                  <c:v>0.24</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sz="1650" b="1">
                  <a:solidFill>
                    <a:srgbClr val="26332E"/>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CE3DA"/>
            </a:solidFill>
          </a:ln>
        </c:spPr>
        <c:txPr>
          <a:bodyPr xmlns:a="http://schemas.openxmlformats.org/drawingml/2006/main" anchorCtr="1"/>
          <a:lstStyle xmlns:a="http://schemas.openxmlformats.org/drawingml/2006/main"/>
          <a:p xmlns:a="http://schemas.openxmlformats.org/drawingml/2006/main">
            <a:pPr>
              <a:defRPr sz="1650">
                <a:solidFill>
                  <a:srgbClr val="26332E"/>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6668">
              <a:solidFill>
                <a:srgbClr val="DCE3DA"/>
              </a:solidFill>
            </a:ln>
          </c:spPr>
        </c:majorGridlines>
        <c:numFmt formatCode="0.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66736C"/>
                </a:solidFill>
                <a:latin typeface="Arial"/>
                <a:ea typeface="Arial"/>
                <a:cs typeface="Arial"/>
              </a:defRPr>
            </a:pPr>
          </a:p>
        </c:txPr>
        <c:crossAx val="48650112"/>
        <c:crossBetween val="between"/>
        <c:majorUnit val="0.2"/>
      </c:valAx>
      <c:spPr>
        <a:solidFill xmlns:a="http://schemas.openxmlformats.org/drawingml/2006/main">
          <a:srgbClr val="F6F7F4"/>
        </a:solidFill>
        <a:ln xmlns:a="http://schemas.openxmlformats.org/drawingml/2006/main" w="0">
          <a:noFill/>
        </a:ln>
      </c:spPr>
    </c:plotArea>
    <c:plotVisOnly val="1"/>
  </c:chart>
  <c:spPr>
    <a:solidFill xmlns:a="http://schemas.openxmlformats.org/drawingml/2006/main">
      <a:srgbClr val="F6F7F4"/>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5" name="cover-eyebrow">
            <a:extLst xmlns:a="http://schemas.openxmlformats.org/drawingml/2006/main">
              <a:ext uri="{FF2B5EF4-FFF2-40B4-BE49-F238E27FC236}">
                <a16:creationId xmlns:a16="http://schemas.microsoft.com/office/drawing/2014/main" id="{80FD84CC-5B78-4AD7-8C14-B1E2AD70179F}"/>
              </a:ext>
            </a:extLst>
          </p:cNvPr>
          <p:cNvSpPr>
            <a:spLocks xmlns:a="http://schemas.openxmlformats.org/drawingml/2006/main" noGrp="1"/>
          </p:cNvSpPr>
          <p:nvPr/>
        </p:nvSpPr>
        <p:spPr>
          <a:xfrm xmlns:a="http://schemas.openxmlformats.org/drawingml/2006/main">
            <a:off x="685800" y="666750"/>
            <a:ext cx="1082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39725C"/>
                </a:solidFill>
                <a:latin typeface="Arial"/>
                <a:ea typeface="Arial"/>
                <a:cs typeface="Arial"/>
              </a:defRPr>
            </a:defPPr>
          </a:lstStyle>
          <a:p xmlns:a="http://schemas.openxmlformats.org/drawingml/2006/main">
            <a:pPr algn="l">
              <a:defRPr sz="1500" b="1">
                <a:solidFill>
                  <a:srgbClr val="39725C"/>
                </a:solidFill>
                <a:latin typeface="Arial"/>
                <a:ea typeface="Arial"/>
                <a:cs typeface="Arial"/>
              </a:defRPr>
            </a:pPr>
            <a:r>
              <a:rPr sz="1500" b="1">
                <a:solidFill>
                  <a:srgbClr val="39725C"/>
                </a:solidFill>
                <a:latin typeface="Arial"/>
                <a:ea typeface="Arial"/>
                <a:cs typeface="Arial"/>
              </a:rPr>
              <a:t>ASPECT  /  PROJECT REFERENCE GUIDE</a:t>
            </a:r>
          </a:p>
        </p:txBody>
      </p:sp>
      <p:sp>
        <p:nvSpPr>
          <p:cNvPr id="2" name="primary-heading">
            <a:extLst xmlns:a="http://schemas.openxmlformats.org/drawingml/2006/main">
              <a:ext uri="{FF2B5EF4-FFF2-40B4-BE49-F238E27FC236}">
                <a16:creationId xmlns:a16="http://schemas.microsoft.com/office/drawing/2014/main" id="{C8EC70F4-CF5D-46D5-AE31-A44C66CCBF71}"/>
              </a:ext>
            </a:extLst>
          </p:cNvPr>
          <p:cNvSpPr>
            <a:spLocks xmlns:a="http://schemas.openxmlformats.org/drawingml/2006/main" noGrp="1"/>
          </p:cNvSpPr>
          <p:nvPr/>
        </p:nvSpPr>
        <p:spPr>
          <a:xfrm xmlns:a="http://schemas.openxmlformats.org/drawingml/2006/main">
            <a:off x="685800" y="1857375"/>
            <a:ext cx="108204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800" b="1">
                <a:solidFill>
                  <a:srgbClr val="26332E"/>
                </a:solidFill>
                <a:latin typeface="Arial"/>
                <a:ea typeface="Arial"/>
                <a:cs typeface="Arial"/>
              </a:defRPr>
            </a:defPPr>
          </a:lstStyle>
          <a:p xmlns:a="http://schemas.openxmlformats.org/drawingml/2006/main">
            <a:pPr algn="l">
              <a:defRPr sz="4800" b="1">
                <a:solidFill>
                  <a:srgbClr val="26332E"/>
                </a:solidFill>
                <a:latin typeface="Arial"/>
                <a:ea typeface="Arial"/>
                <a:cs typeface="Arial"/>
              </a:defRPr>
            </a:pPr>
            <a:r>
              <a:rPr sz="4800" b="1">
                <a:solidFill>
                  <a:srgbClr val="26332E"/>
                </a:solidFill>
                <a:latin typeface="Arial"/>
                <a:ea typeface="Arial"/>
                <a:cs typeface="Arial"/>
              </a:rPr>
              <a:t>Aspect-based sentiment</a:t>
            </a:r>
          </a:p>
          <a:p xmlns:a="http://schemas.openxmlformats.org/drawingml/2006/main">
            <a:pPr algn="l">
              <a:defRPr sz="4800" b="1">
                <a:solidFill>
                  <a:srgbClr val="26332E"/>
                </a:solidFill>
                <a:latin typeface="Arial"/>
                <a:ea typeface="Arial"/>
                <a:cs typeface="Arial"/>
              </a:defRPr>
            </a:pPr>
            <a:r>
              <a:rPr sz="4800" b="1">
                <a:solidFill>
                  <a:srgbClr val="26332E"/>
                </a:solidFill>
                <a:latin typeface="Arial"/>
                <a:ea typeface="Arial"/>
                <a:cs typeface="Arial"/>
              </a:rPr>
              <a:t>analysis of smartphone</a:t>
            </a:r>
          </a:p>
          <a:p xmlns:a="http://schemas.openxmlformats.org/drawingml/2006/main">
            <a:pPr algn="l">
              <a:defRPr sz="4800" b="1">
                <a:solidFill>
                  <a:srgbClr val="26332E"/>
                </a:solidFill>
                <a:latin typeface="Arial"/>
                <a:ea typeface="Arial"/>
                <a:cs typeface="Arial"/>
              </a:defRPr>
            </a:pPr>
            <a:r>
              <a:rPr sz="4800" b="1">
                <a:solidFill>
                  <a:srgbClr val="26332E"/>
                </a:solidFill>
                <a:latin typeface="Arial"/>
                <a:ea typeface="Arial"/>
                <a:cs typeface="Arial"/>
              </a:rPr>
              <a:t>reviews</a:t>
            </a:r>
          </a:p>
        </p:txBody>
      </p:sp>
      <p:sp>
        <p:nvSpPr>
          <p:cNvPr id="3" name="cover-subtitle">
            <a:extLst xmlns:a="http://schemas.openxmlformats.org/drawingml/2006/main">
              <a:ext uri="{FF2B5EF4-FFF2-40B4-BE49-F238E27FC236}">
                <a16:creationId xmlns:a16="http://schemas.microsoft.com/office/drawing/2014/main" id="{245FBFE7-A557-4169-B207-DD5826271028}"/>
              </a:ext>
            </a:extLst>
          </p:cNvPr>
          <p:cNvSpPr>
            <a:spLocks xmlns:a="http://schemas.openxmlformats.org/drawingml/2006/main" noGrp="1"/>
          </p:cNvSpPr>
          <p:nvPr/>
        </p:nvSpPr>
        <p:spPr>
          <a:xfrm xmlns:a="http://schemas.openxmlformats.org/drawingml/2006/main">
            <a:off x="685800" y="4695825"/>
            <a:ext cx="10096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66736C"/>
                </a:solidFill>
                <a:latin typeface="Arial"/>
                <a:ea typeface="Arial"/>
                <a:cs typeface="Arial"/>
              </a:defRPr>
            </a:defPPr>
          </a:lstStyle>
          <a:p xmlns:a="http://schemas.openxmlformats.org/drawingml/2006/main">
            <a:pPr algn="l">
              <a:defRPr sz="2250" b="0">
                <a:solidFill>
                  <a:srgbClr val="66736C"/>
                </a:solidFill>
                <a:latin typeface="Arial"/>
                <a:ea typeface="Arial"/>
                <a:cs typeface="Arial"/>
              </a:defRPr>
            </a:pPr>
            <a:r>
              <a:rPr sz="2250" b="0">
                <a:solidFill>
                  <a:srgbClr val="66736C"/>
                </a:solidFill>
                <a:latin typeface="Arial"/>
                <a:ea typeface="Arial"/>
                <a:cs typeface="Arial"/>
              </a:rPr>
              <a:t>A detailed guide to the dataset, application and experiments</a:t>
            </a:r>
          </a:p>
        </p:txBody>
      </p:sp>
      <p:sp>
        <p:nvSpPr>
          <p:cNvPr id="4" name="cover-version">
            <a:extLst xmlns:a="http://schemas.openxmlformats.org/drawingml/2006/main">
              <a:ext uri="{FF2B5EF4-FFF2-40B4-BE49-F238E27FC236}">
                <a16:creationId xmlns:a16="http://schemas.microsoft.com/office/drawing/2014/main" id="{C1FA0121-411B-40C5-8068-6E3AF03F1D88}"/>
              </a:ext>
            </a:extLst>
          </p:cNvPr>
          <p:cNvSpPr>
            <a:spLocks xmlns:a="http://schemas.openxmlformats.org/drawingml/2006/main" noGrp="1"/>
          </p:cNvSpPr>
          <p:nvPr/>
        </p:nvSpPr>
        <p:spPr>
          <a:xfrm xmlns:a="http://schemas.openxmlformats.org/drawingml/2006/main">
            <a:off x="685800" y="5886450"/>
            <a:ext cx="7620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39725C"/>
                </a:solidFill>
                <a:latin typeface="Arial"/>
                <a:ea typeface="Arial"/>
                <a:cs typeface="Arial"/>
              </a:defRPr>
            </a:defPPr>
          </a:lstStyle>
          <a:p xmlns:a="http://schemas.openxmlformats.org/drawingml/2006/main">
            <a:pPr algn="l">
              <a:defRPr sz="1500" b="0">
                <a:solidFill>
                  <a:srgbClr val="39725C"/>
                </a:solidFill>
                <a:latin typeface="Arial"/>
                <a:ea typeface="Arial"/>
                <a:cs typeface="Arial"/>
              </a:defRPr>
            </a:pPr>
            <a:r>
              <a:rPr sz="1500" b="0">
                <a:solidFill>
                  <a:srgbClr val="39725C"/>
                </a:solidFill>
                <a:latin typeface="Arial"/>
                <a:ea typeface="Arial"/>
                <a:cs typeface="Arial"/>
              </a:rPr>
              <a:t>Version 1.0.0</a:t>
            </a:r>
          </a:p>
          <a:p xmlns:a="http://schemas.openxmlformats.org/drawingml/2006/main">
            <a:pPr algn="l">
              <a:defRPr sz="1500" b="0">
                <a:solidFill>
                  <a:srgbClr val="39725C"/>
                </a:solidFill>
                <a:latin typeface="Arial"/>
                <a:ea typeface="Arial"/>
                <a:cs typeface="Arial"/>
              </a:defRPr>
            </a:pPr>
            <a:r>
              <a:rPr sz="1500" b="0">
                <a:solidFill>
                  <a:srgbClr val="39725C"/>
                </a:solidFill>
                <a:latin typeface="Arial"/>
                <a:ea typeface="Arial"/>
                <a:cs typeface="Arial"/>
              </a:rPr>
              <a:t>20 October 2026</a:t>
            </a:r>
          </a:p>
        </p:txBody>
      </p:sp>
    </p:spTree>
    <p:extLst>
      <p:ext uri="{BB962C8B-B14F-4D97-AF65-F5344CB8AC3E}">
        <p14:creationId xmlns:p14="http://schemas.microsoft.com/office/powerpoint/2010/main" val="462752904"/>
      </p:ext>
    </p:extLst>
  </p:cSld>
</p:sld>
</file>

<file path=ppt/slides/slide2.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7" name="chapter">
            <a:extLst xmlns:a="http://schemas.openxmlformats.org/drawingml/2006/main">
              <a:ext uri="{FF2B5EF4-FFF2-40B4-BE49-F238E27FC236}">
                <a16:creationId xmlns:a16="http://schemas.microsoft.com/office/drawing/2014/main" id="{A0CCDFDA-166A-4E78-873B-588ABDA07B35}"/>
              </a:ext>
            </a:extLst>
          </p:cNvPr>
          <p:cNvSpPr>
            <a:spLocks xmlns:a="http://schemas.openxmlformats.org/drawingml/2006/main" noGrp="1"/>
          </p:cNvSpPr>
          <p:nvPr/>
        </p:nvSpPr>
        <p:spPr>
          <a:xfrm xmlns:a="http://schemas.openxmlformats.org/drawingml/2006/main">
            <a:off x="685800" y="381000"/>
            <a:ext cx="933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39725C"/>
                </a:solidFill>
                <a:latin typeface="Arial"/>
                <a:ea typeface="Arial"/>
                <a:cs typeface="Arial"/>
              </a:defRPr>
            </a:defPPr>
          </a:lstStyle>
          <a:p xmlns:a="http://schemas.openxmlformats.org/drawingml/2006/main">
            <a:pPr algn="l">
              <a:defRPr sz="1200" b="1">
                <a:solidFill>
                  <a:srgbClr val="39725C"/>
                </a:solidFill>
                <a:latin typeface="Arial"/>
                <a:ea typeface="Arial"/>
                <a:cs typeface="Arial"/>
              </a:defRPr>
            </a:pPr>
            <a:r>
              <a:rPr sz="1200" b="1">
                <a:solidFill>
                  <a:srgbClr val="39725C"/>
                </a:solidFill>
                <a:latin typeface="Arial"/>
                <a:ea typeface="Arial"/>
                <a:cs typeface="Arial"/>
              </a:rPr>
              <a:t>READING MAP</a:t>
            </a:r>
          </a:p>
        </p:txBody>
      </p:sp>
      <p:sp>
        <p:nvSpPr>
          <p:cNvPr id="2" name="primary-heading">
            <a:extLst xmlns:a="http://schemas.openxmlformats.org/drawingml/2006/main">
              <a:ext uri="{FF2B5EF4-FFF2-40B4-BE49-F238E27FC236}">
                <a16:creationId xmlns:a16="http://schemas.microsoft.com/office/drawing/2014/main" id="{B57E8D4D-E4C8-4738-87DF-3CF9366C0E85}"/>
              </a:ext>
            </a:extLst>
          </p:cNvPr>
          <p:cNvSpPr>
            <a:spLocks xmlns:a="http://schemas.openxmlformats.org/drawingml/2006/main" noGrp="1"/>
          </p:cNvSpPr>
          <p:nvPr/>
        </p:nvSpPr>
        <p:spPr>
          <a:xfrm xmlns:a="http://schemas.openxmlformats.org/drawingml/2006/main">
            <a:off x="685800" y="83820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6332E"/>
                </a:solidFill>
                <a:latin typeface="Arial"/>
                <a:ea typeface="Arial"/>
                <a:cs typeface="Arial"/>
              </a:defRPr>
            </a:defPPr>
          </a:lstStyle>
          <a:p xmlns:a="http://schemas.openxmlformats.org/drawingml/2006/main">
            <a:pPr algn="l">
              <a:defRPr sz="3300" b="1">
                <a:solidFill>
                  <a:srgbClr val="26332E"/>
                </a:solidFill>
                <a:latin typeface="Arial"/>
                <a:ea typeface="Arial"/>
                <a:cs typeface="Arial"/>
              </a:defRPr>
            </a:pPr>
            <a:r>
              <a:rPr sz="3300" b="1">
                <a:solidFill>
                  <a:srgbClr val="26332E"/>
                </a:solidFill>
                <a:latin typeface="Arial"/>
                <a:ea typeface="Arial"/>
                <a:cs typeface="Arial"/>
              </a:rPr>
              <a:t>How to use this guide</a:t>
            </a:r>
          </a:p>
        </p:txBody>
      </p:sp>
      <p:sp>
        <p:nvSpPr>
          <p:cNvPr id="3" name="footer-label">
            <a:extLst xmlns:a="http://schemas.openxmlformats.org/drawingml/2006/main">
              <a:ext uri="{FF2B5EF4-FFF2-40B4-BE49-F238E27FC236}">
                <a16:creationId xmlns:a16="http://schemas.microsoft.com/office/drawing/2014/main" id="{CABE0DDA-6643-4381-8EF6-9F50F2FD8F67}"/>
              </a:ext>
            </a:extLst>
          </p:cNvPr>
          <p:cNvSpPr>
            <a:spLocks xmlns:a="http://schemas.openxmlformats.org/drawingml/2006/main" noGrp="1"/>
          </p:cNvSpPr>
          <p:nvPr/>
        </p:nvSpPr>
        <p:spPr>
          <a:xfrm xmlns:a="http://schemas.openxmlformats.org/drawingml/2006/main">
            <a:off x="685800" y="6505575"/>
            <a:ext cx="952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0">
                <a:solidFill>
                  <a:srgbClr val="66736C"/>
                </a:solidFill>
                <a:latin typeface="Arial"/>
                <a:ea typeface="Arial"/>
                <a:cs typeface="Arial"/>
              </a:defRPr>
            </a:defPPr>
          </a:lstStyle>
          <a:p xmlns:a="http://schemas.openxmlformats.org/drawingml/2006/main">
            <a:pPr algn="l">
              <a:defRPr sz="900" b="0">
                <a:solidFill>
                  <a:srgbClr val="66736C"/>
                </a:solidFill>
                <a:latin typeface="Arial"/>
                <a:ea typeface="Arial"/>
                <a:cs typeface="Arial"/>
              </a:defRPr>
            </a:pPr>
            <a:r>
              <a:rPr sz="900" b="0">
                <a:solidFill>
                  <a:srgbClr val="66736C"/>
                </a:solidFill>
                <a:latin typeface="Arial"/>
                <a:ea typeface="Arial"/>
                <a:cs typeface="Arial"/>
              </a:rPr>
              <a:t>ASPECT  /  PROJECT REFERENCE  /  1.0.0</a:t>
            </a:r>
          </a:p>
        </p:txBody>
      </p:sp>
      <p:sp>
        <p:nvSpPr>
          <p:cNvPr id="4" name="page-number">
            <a:extLst xmlns:a="http://schemas.openxmlformats.org/drawingml/2006/main">
              <a:ext uri="{FF2B5EF4-FFF2-40B4-BE49-F238E27FC236}">
                <a16:creationId xmlns:a16="http://schemas.microsoft.com/office/drawing/2014/main" id="{617DC87C-4BF5-4D91-96B9-7315D882B5A4}"/>
              </a:ext>
            </a:extLst>
          </p:cNvPr>
          <p:cNvSpPr>
            <a:spLocks xmlns:a="http://schemas.openxmlformats.org/drawingml/2006/main" noGrp="1"/>
          </p:cNvSpPr>
          <p:nvPr/>
        </p:nvSpPr>
        <p:spPr>
          <a:xfrm xmlns:a="http://schemas.openxmlformats.org/drawingml/2006/main">
            <a:off x="10620375" y="6505575"/>
            <a:ext cx="8858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a:solidFill>
                  <a:srgbClr val="66736C"/>
                </a:solidFill>
                <a:latin typeface="Arial"/>
                <a:ea typeface="Arial"/>
                <a:cs typeface="Arial"/>
              </a:defRPr>
            </a:defPPr>
          </a:lstStyle>
          <a:p xmlns:a="http://schemas.openxmlformats.org/drawingml/2006/main">
            <a:pPr algn="r">
              <a:defRPr sz="900" b="0">
                <a:solidFill>
                  <a:srgbClr val="66736C"/>
                </a:solidFill>
                <a:latin typeface="Arial"/>
                <a:ea typeface="Arial"/>
                <a:cs typeface="Arial"/>
              </a:defRPr>
            </a:pPr>
            <a:r>
              <a:rPr sz="900" b="0">
                <a:solidFill>
                  <a:srgbClr val="66736C"/>
                </a:solidFill>
                <a:latin typeface="Arial"/>
                <a:ea typeface="Arial"/>
                <a:cs typeface="Arial"/>
              </a:rPr>
              <a:t>02 / 52</a:t>
            </a:r>
          </a:p>
        </p:txBody>
      </p:sp>
      <p:sp>
        <p:nvSpPr>
          <p:cNvPr id="5" name="lead">
            <a:extLst xmlns:a="http://schemas.openxmlformats.org/drawingml/2006/main">
              <a:ext uri="{FF2B5EF4-FFF2-40B4-BE49-F238E27FC236}">
                <a16:creationId xmlns:a16="http://schemas.microsoft.com/office/drawing/2014/main" id="{27F24EE8-2873-4394-88A3-423DF9F8BEFF}"/>
              </a:ext>
            </a:extLst>
          </p:cNvPr>
          <p:cNvSpPr>
            <a:spLocks xmlns:a="http://schemas.openxmlformats.org/drawingml/2006/main" noGrp="1"/>
          </p:cNvSpPr>
          <p:nvPr/>
        </p:nvSpPr>
        <p:spPr>
          <a:xfrm xmlns:a="http://schemas.openxmlformats.org/drawingml/2006/main">
            <a:off x="685800" y="1524000"/>
            <a:ext cx="10820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66736C"/>
                </a:solidFill>
                <a:latin typeface="Arial"/>
                <a:ea typeface="Arial"/>
                <a:cs typeface="Arial"/>
              </a:defRPr>
            </a:defPPr>
          </a:lstStyle>
          <a:p xmlns:a="http://schemas.openxmlformats.org/drawingml/2006/main">
            <a:pPr algn="l">
              <a:defRPr sz="1800" b="0">
                <a:solidFill>
                  <a:srgbClr val="66736C"/>
                </a:solidFill>
                <a:latin typeface="Arial"/>
                <a:ea typeface="Arial"/>
                <a:cs typeface="Arial"/>
              </a:defRPr>
            </a:pPr>
            <a:r>
              <a:rPr sz="1800" b="0">
                <a:solidFill>
                  <a:srgbClr val="66736C"/>
                </a:solidFill>
                <a:latin typeface="Arial"/>
                <a:ea typeface="Arial"/>
                <a:cs typeface="Arial"/>
              </a:rPr>
              <a:t>The main sequence explains the project. The appendix provides implementation references.</a:t>
            </a:r>
          </a:p>
        </p:txBody>
      </p:sp>
      <p:graphicFrame>
        <p:nvGraphicFramePr>
          <p:cNvPr id="6" name="">
            <a:extLst xmlns:a="http://schemas.openxmlformats.org/drawingml/2006/main">
              <a:ext uri="{FF2B5EF4-FFF2-40B4-BE49-F238E27FC236}">
                <a16:creationId xmlns:a16="http://schemas.microsoft.com/office/drawing/2014/main" id="{74800580-56D8-49DB-B649-1CEAE754FC4C}"/>
              </a:ext>
            </a:extLst>
          </p:cNvPr>
          <p:cNvGraphicFramePr/>
          <p:nvPr/>
        </p:nvGraphicFramePr>
        <p:xfrm>
          <a:off xmlns:a="http://schemas.openxmlformats.org/drawingml/2006/main" x="685800" y="2114550"/>
          <a:ext xmlns:a="http://schemas.openxmlformats.org/drawingml/2006/main" cx="10820400" cy="3886200"/>
        </p:xfrm>
        <a:graphic xmlns:a="http://schemas.openxmlformats.org/drawingml/2006/main">
          <a:graphicData uri="http://schemas.openxmlformats.org/drawingml/2006/table">
            <a:tbl>
              <a:tblPr firstRow="1" firstCol="0" lastCol="0" bandRow="0"/>
              <a:tblGrid>
                <a:gridCol w="1714500"/>
                <a:gridCol w="9105900"/>
              </a:tblGrid>
              <a:tr h="419100">
                <a:tc>
                  <a:txBody>
                    <a:bodyPr wrap="square">
                      <a:noAutofit/>
                    </a:bodyPr>
                    <a:lstStyle/>
                    <a:p>
                      <a:r>
                        <a:rPr sz="1650" b="1">
                          <a:solidFill>
                            <a:srgbClr val="FFFFFF"/>
                          </a:solidFill>
                          <a:latin typeface="Arial"/>
                          <a:ea typeface="Arial"/>
                          <a:cs typeface="Arial"/>
                        </a:rPr>
                        <a:t>Pages</a:t>
                      </a:r>
                    </a:p>
                  </a:txBody>
                  <a:tcPr marL="114300" marR="114300" marT="47625" marB="47625" anchor="ctr">
                    <a:lnL w="6668">
                      <a:solidFill>
                        <a:srgbClr val="DCE3DA"/>
                      </a:solidFill>
                      <a:prstDash val="solid"/>
                    </a:lnL>
                    <a:lnR w="6668">
                      <a:solidFill>
                        <a:srgbClr val="DCE3DA"/>
                      </a:solidFill>
                      <a:prstDash val="solid"/>
                    </a:lnR>
                    <a:lnT w="6668">
                      <a:solidFill>
                        <a:srgbClr val="DCE3DA"/>
                      </a:solidFill>
                      <a:prstDash val="solid"/>
                    </a:lnT>
                    <a:lnB w="6668">
                      <a:solidFill>
                        <a:srgbClr val="DCE3DA"/>
                      </a:solidFill>
                      <a:prstDash val="solid"/>
                    </a:lnB>
                    <a:solidFill>
                      <a:srgbClr val="39725C"/>
                    </a:solidFill>
                  </a:tcPr>
                </a:tc>
                <a:tc>
                  <a:txBody>
                    <a:bodyPr wrap="square">
                      <a:noAutofit/>
                    </a:bodyPr>
                    <a:lstStyle/>
                    <a:p>
                      <a:r>
                        <a:rPr sz="1650" b="1">
                          <a:solidFill>
                            <a:srgbClr val="FFFFFF"/>
                          </a:solidFill>
                          <a:latin typeface="Arial"/>
                          <a:ea typeface="Arial"/>
                          <a:cs typeface="Arial"/>
                        </a:rPr>
                        <a:t>Subject</a:t>
                      </a:r>
                    </a:p>
                  </a:txBody>
                  <a:tcPr marL="114300" marR="114300" marT="47625" marB="47625" anchor="ctr">
                    <a:lnR w="6668">
                      <a:solidFill>
                        <a:srgbClr val="DCE3DA"/>
                      </a:solidFill>
                      <a:prstDash val="solid"/>
                    </a:lnR>
                    <a:lnT w="6668">
                      <a:solidFill>
                        <a:srgbClr val="DCE3DA"/>
                      </a:solidFill>
                      <a:prstDash val="solid"/>
                    </a:lnT>
                    <a:lnB w="6668">
                      <a:solidFill>
                        <a:srgbClr val="DCE3DA"/>
                      </a:solidFill>
                      <a:prstDash val="solid"/>
                    </a:lnB>
                    <a:solidFill>
                      <a:srgbClr val="39725C"/>
                    </a:solidFill>
                  </a:tcPr>
                </a:tc>
              </a:tr>
              <a:tr h="495300">
                <a:tc>
                  <a:txBody>
                    <a:bodyPr wrap="square">
                      <a:noAutofit/>
                    </a:bodyPr>
                    <a:lstStyle/>
                    <a:p>
                      <a:r>
                        <a:rPr sz="1725" b="1">
                          <a:solidFill>
                            <a:srgbClr val="26332E"/>
                          </a:solidFill>
                          <a:latin typeface="Arial"/>
                          <a:ea typeface="Arial"/>
                          <a:cs typeface="Arial"/>
                        </a:rPr>
                        <a:t>3–7</a:t>
                      </a:r>
                    </a:p>
                  </a:txBody>
                  <a:tcPr marL="114300" marR="114300" marT="47625" marB="47625" anchor="ctr">
                    <a:lnL w="6668">
                      <a:solidFill>
                        <a:srgbClr val="DCE3DA"/>
                      </a:solidFill>
                      <a:prstDash val="solid"/>
                    </a:lnL>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Problem, outputs and sentiment categories</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r>
              <a:tr h="495300">
                <a:tc>
                  <a:txBody>
                    <a:bodyPr wrap="square">
                      <a:noAutofit/>
                    </a:bodyPr>
                    <a:lstStyle/>
                    <a:p>
                      <a:r>
                        <a:rPr sz="1725" b="1">
                          <a:solidFill>
                            <a:srgbClr val="26332E"/>
                          </a:solidFill>
                          <a:latin typeface="Arial"/>
                          <a:ea typeface="Arial"/>
                          <a:cs typeface="Arial"/>
                        </a:rPr>
                        <a:t>8–14</a:t>
                      </a:r>
                    </a:p>
                  </a:txBody>
                  <a:tcPr marL="114300" marR="114300" marT="47625" marB="47625" anchor="ctr">
                    <a:lnL w="6668">
                      <a:solidFill>
                        <a:srgbClr val="DCE3DA"/>
                      </a:solidFill>
                      <a:prstDash val="solid"/>
                    </a:lnL>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Source data, preparation and annotation provenance</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r>
              <a:tr h="495300">
                <a:tc>
                  <a:txBody>
                    <a:bodyPr wrap="square">
                      <a:noAutofit/>
                    </a:bodyPr>
                    <a:lstStyle/>
                    <a:p>
                      <a:r>
                        <a:rPr sz="1725" b="1">
                          <a:solidFill>
                            <a:srgbClr val="26332E"/>
                          </a:solidFill>
                          <a:latin typeface="Arial"/>
                          <a:ea typeface="Arial"/>
                          <a:cs typeface="Arial"/>
                        </a:rPr>
                        <a:t>15–29</a:t>
                      </a:r>
                    </a:p>
                  </a:txBody>
                  <a:tcPr marL="114300" marR="114300" marT="47625" marB="47625" anchor="ctr">
                    <a:lnL w="6668">
                      <a:solidFill>
                        <a:srgbClr val="DCE3DA"/>
                      </a:solidFill>
                      <a:prstDash val="solid"/>
                    </a:lnL>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Architecture, persistence and model implementation</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r>
              <a:tr h="495300">
                <a:tc>
                  <a:txBody>
                    <a:bodyPr wrap="square">
                      <a:noAutofit/>
                    </a:bodyPr>
                    <a:lstStyle/>
                    <a:p>
                      <a:r>
                        <a:rPr sz="1725" b="1">
                          <a:solidFill>
                            <a:srgbClr val="26332E"/>
                          </a:solidFill>
                          <a:latin typeface="Arial"/>
                          <a:ea typeface="Arial"/>
                          <a:cs typeface="Arial"/>
                        </a:rPr>
                        <a:t>30–36</a:t>
                      </a:r>
                    </a:p>
                  </a:txBody>
                  <a:tcPr marL="114300" marR="114300" marT="47625" marB="47625" anchor="ctr">
                    <a:lnL w="6668">
                      <a:solidFill>
                        <a:srgbClr val="DCE3DA"/>
                      </a:solidFill>
                      <a:prstDash val="solid"/>
                    </a:lnL>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The six application workspaces</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r>
              <a:tr h="495300">
                <a:tc>
                  <a:txBody>
                    <a:bodyPr wrap="square">
                      <a:noAutofit/>
                    </a:bodyPr>
                    <a:lstStyle/>
                    <a:p>
                      <a:r>
                        <a:rPr sz="1725" b="1">
                          <a:solidFill>
                            <a:srgbClr val="26332E"/>
                          </a:solidFill>
                          <a:latin typeface="Arial"/>
                          <a:ea typeface="Arial"/>
                          <a:cs typeface="Arial"/>
                        </a:rPr>
                        <a:t>37–43</a:t>
                      </a:r>
                    </a:p>
                  </a:txBody>
                  <a:tcPr marL="114300" marR="114300" marT="47625" marB="47625" anchor="ctr">
                    <a:lnL w="6668">
                      <a:solidFill>
                        <a:srgbClr val="DCE3DA"/>
                      </a:solidFill>
                      <a:prstDash val="solid"/>
                    </a:lnL>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Metrics, results, performance and verification</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r>
              <a:tr h="495300">
                <a:tc>
                  <a:txBody>
                    <a:bodyPr wrap="square">
                      <a:noAutofit/>
                    </a:bodyPr>
                    <a:lstStyle/>
                    <a:p>
                      <a:r>
                        <a:rPr sz="1725" b="1">
                          <a:solidFill>
                            <a:srgbClr val="26332E"/>
                          </a:solidFill>
                          <a:latin typeface="Arial"/>
                          <a:ea typeface="Arial"/>
                          <a:cs typeface="Arial"/>
                        </a:rPr>
                        <a:t>44–48</a:t>
                      </a:r>
                    </a:p>
                  </a:txBody>
                  <a:tcPr marL="114300" marR="114300" marT="47625" marB="47625" anchor="ctr">
                    <a:lnL w="6668">
                      <a:solidFill>
                        <a:srgbClr val="DCE3DA"/>
                      </a:solidFill>
                      <a:prstDash val="solid"/>
                    </a:lnL>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Operations, limitations and further reading</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r>
              <a:tr h="495300">
                <a:tc>
                  <a:txBody>
                    <a:bodyPr wrap="square">
                      <a:noAutofit/>
                    </a:bodyPr>
                    <a:lstStyle/>
                    <a:p>
                      <a:r>
                        <a:rPr sz="1725" b="1">
                          <a:solidFill>
                            <a:srgbClr val="26332E"/>
                          </a:solidFill>
                          <a:latin typeface="Arial"/>
                          <a:ea typeface="Arial"/>
                          <a:cs typeface="Arial"/>
                        </a:rPr>
                        <a:t>49–52</a:t>
                      </a:r>
                    </a:p>
                  </a:txBody>
                  <a:tcPr marL="114300" marR="114300" marT="47625" marB="47625" anchor="ctr">
                    <a:lnL w="6668">
                      <a:solidFill>
                        <a:srgbClr val="DCE3DA"/>
                      </a:solidFill>
                      <a:prstDash val="solid"/>
                    </a:lnL>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Listings, schemas, API and reproduction commands</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r>
            </a:tbl>
          </a:graphicData>
        </a:graphic>
      </p:graphicFrame>
    </p:spTree>
    <p:extLst>
      <p:ext uri="{BB962C8B-B14F-4D97-AF65-F5344CB8AC3E}">
        <p14:creationId xmlns:p14="http://schemas.microsoft.com/office/powerpoint/2010/main" val="668397088"/>
      </p:ext>
    </p:extLst>
  </p:cSld>
</p:sld>
</file>

<file path=ppt/slides/slide3.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11" name="chapter">
            <a:extLst xmlns:a="http://schemas.openxmlformats.org/drawingml/2006/main">
              <a:ext uri="{FF2B5EF4-FFF2-40B4-BE49-F238E27FC236}">
                <a16:creationId xmlns:a16="http://schemas.microsoft.com/office/drawing/2014/main" id="{BCFA6E21-4FD8-4D8A-8B46-B8BC4B122D94}"/>
              </a:ext>
            </a:extLst>
          </p:cNvPr>
          <p:cNvSpPr>
            <a:spLocks xmlns:a="http://schemas.openxmlformats.org/drawingml/2006/main" noGrp="1"/>
          </p:cNvSpPr>
          <p:nvPr/>
        </p:nvSpPr>
        <p:spPr>
          <a:xfrm xmlns:a="http://schemas.openxmlformats.org/drawingml/2006/main">
            <a:off x="685800" y="381000"/>
            <a:ext cx="933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39725C"/>
                </a:solidFill>
                <a:latin typeface="Arial"/>
                <a:ea typeface="Arial"/>
                <a:cs typeface="Arial"/>
              </a:defRPr>
            </a:defPPr>
          </a:lstStyle>
          <a:p xmlns:a="http://schemas.openxmlformats.org/drawingml/2006/main">
            <a:pPr algn="l">
              <a:defRPr sz="1200" b="1">
                <a:solidFill>
                  <a:srgbClr val="39725C"/>
                </a:solidFill>
                <a:latin typeface="Arial"/>
                <a:ea typeface="Arial"/>
                <a:cs typeface="Arial"/>
              </a:defRPr>
            </a:pPr>
            <a:r>
              <a:rPr sz="1200" b="1">
                <a:solidFill>
                  <a:srgbClr val="39725C"/>
                </a:solidFill>
                <a:latin typeface="Arial"/>
                <a:ea typeface="Arial"/>
                <a:cs typeface="Arial"/>
              </a:rPr>
              <a:t>THE PROBLEM</a:t>
            </a:r>
          </a:p>
        </p:txBody>
      </p:sp>
      <p:sp>
        <p:nvSpPr>
          <p:cNvPr id="2" name="primary-heading">
            <a:extLst xmlns:a="http://schemas.openxmlformats.org/drawingml/2006/main">
              <a:ext uri="{FF2B5EF4-FFF2-40B4-BE49-F238E27FC236}">
                <a16:creationId xmlns:a16="http://schemas.microsoft.com/office/drawing/2014/main" id="{0B16A2BB-20CC-4D38-860C-9A404593204C}"/>
              </a:ext>
            </a:extLst>
          </p:cNvPr>
          <p:cNvSpPr>
            <a:spLocks xmlns:a="http://schemas.openxmlformats.org/drawingml/2006/main" noGrp="1"/>
          </p:cNvSpPr>
          <p:nvPr/>
        </p:nvSpPr>
        <p:spPr>
          <a:xfrm xmlns:a="http://schemas.openxmlformats.org/drawingml/2006/main">
            <a:off x="685800" y="83820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6332E"/>
                </a:solidFill>
                <a:latin typeface="Arial"/>
                <a:ea typeface="Arial"/>
                <a:cs typeface="Arial"/>
              </a:defRPr>
            </a:defPPr>
          </a:lstStyle>
          <a:p xmlns:a="http://schemas.openxmlformats.org/drawingml/2006/main">
            <a:pPr algn="l">
              <a:defRPr sz="3300" b="1">
                <a:solidFill>
                  <a:srgbClr val="26332E"/>
                </a:solidFill>
                <a:latin typeface="Arial"/>
                <a:ea typeface="Arial"/>
                <a:cs typeface="Arial"/>
              </a:defRPr>
            </a:pPr>
            <a:r>
              <a:rPr sz="3300" b="1">
                <a:solidFill>
                  <a:srgbClr val="26332E"/>
                </a:solidFill>
                <a:latin typeface="Arial"/>
                <a:ea typeface="Arial"/>
                <a:cs typeface="Arial"/>
              </a:rPr>
              <a:t>What the application does</a:t>
            </a:r>
          </a:p>
        </p:txBody>
      </p:sp>
      <p:sp>
        <p:nvSpPr>
          <p:cNvPr id="3" name="footer-label">
            <a:extLst xmlns:a="http://schemas.openxmlformats.org/drawingml/2006/main">
              <a:ext uri="{FF2B5EF4-FFF2-40B4-BE49-F238E27FC236}">
                <a16:creationId xmlns:a16="http://schemas.microsoft.com/office/drawing/2014/main" id="{13657CAE-1648-4454-99DF-09989FA4B480}"/>
              </a:ext>
            </a:extLst>
          </p:cNvPr>
          <p:cNvSpPr>
            <a:spLocks xmlns:a="http://schemas.openxmlformats.org/drawingml/2006/main" noGrp="1"/>
          </p:cNvSpPr>
          <p:nvPr/>
        </p:nvSpPr>
        <p:spPr>
          <a:xfrm xmlns:a="http://schemas.openxmlformats.org/drawingml/2006/main">
            <a:off x="685800" y="6505575"/>
            <a:ext cx="952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0">
                <a:solidFill>
                  <a:srgbClr val="66736C"/>
                </a:solidFill>
                <a:latin typeface="Arial"/>
                <a:ea typeface="Arial"/>
                <a:cs typeface="Arial"/>
              </a:defRPr>
            </a:defPPr>
          </a:lstStyle>
          <a:p xmlns:a="http://schemas.openxmlformats.org/drawingml/2006/main">
            <a:pPr algn="l">
              <a:defRPr sz="900" b="0">
                <a:solidFill>
                  <a:srgbClr val="66736C"/>
                </a:solidFill>
                <a:latin typeface="Arial"/>
                <a:ea typeface="Arial"/>
                <a:cs typeface="Arial"/>
              </a:defRPr>
            </a:pPr>
            <a:r>
              <a:rPr sz="900" b="0">
                <a:solidFill>
                  <a:srgbClr val="66736C"/>
                </a:solidFill>
                <a:latin typeface="Arial"/>
                <a:ea typeface="Arial"/>
                <a:cs typeface="Arial"/>
              </a:rPr>
              <a:t>ASPECT  /  PROJECT REFERENCE  /  1.0.0</a:t>
            </a:r>
          </a:p>
        </p:txBody>
      </p:sp>
      <p:sp>
        <p:nvSpPr>
          <p:cNvPr id="4" name="page-number">
            <a:extLst xmlns:a="http://schemas.openxmlformats.org/drawingml/2006/main">
              <a:ext uri="{FF2B5EF4-FFF2-40B4-BE49-F238E27FC236}">
                <a16:creationId xmlns:a16="http://schemas.microsoft.com/office/drawing/2014/main" id="{04419E96-271E-468B-9502-C32CBB41A6E6}"/>
              </a:ext>
            </a:extLst>
          </p:cNvPr>
          <p:cNvSpPr>
            <a:spLocks xmlns:a="http://schemas.openxmlformats.org/drawingml/2006/main" noGrp="1"/>
          </p:cNvSpPr>
          <p:nvPr/>
        </p:nvSpPr>
        <p:spPr>
          <a:xfrm xmlns:a="http://schemas.openxmlformats.org/drawingml/2006/main">
            <a:off x="10620375" y="6505575"/>
            <a:ext cx="8858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a:solidFill>
                  <a:srgbClr val="66736C"/>
                </a:solidFill>
                <a:latin typeface="Arial"/>
                <a:ea typeface="Arial"/>
                <a:cs typeface="Arial"/>
              </a:defRPr>
            </a:defPPr>
          </a:lstStyle>
          <a:p xmlns:a="http://schemas.openxmlformats.org/drawingml/2006/main">
            <a:pPr algn="r">
              <a:defRPr sz="900" b="0">
                <a:solidFill>
                  <a:srgbClr val="66736C"/>
                </a:solidFill>
                <a:latin typeface="Arial"/>
                <a:ea typeface="Arial"/>
                <a:cs typeface="Arial"/>
              </a:defRPr>
            </a:pPr>
            <a:r>
              <a:rPr sz="900" b="0">
                <a:solidFill>
                  <a:srgbClr val="66736C"/>
                </a:solidFill>
                <a:latin typeface="Arial"/>
                <a:ea typeface="Arial"/>
                <a:cs typeface="Arial"/>
              </a:rPr>
              <a:t>03 / 52</a:t>
            </a:r>
          </a:p>
        </p:txBody>
      </p:sp>
      <p:sp>
        <p:nvSpPr>
          <p:cNvPr id="5" name="lead">
            <a:extLst xmlns:a="http://schemas.openxmlformats.org/drawingml/2006/main">
              <a:ext uri="{FF2B5EF4-FFF2-40B4-BE49-F238E27FC236}">
                <a16:creationId xmlns:a16="http://schemas.microsoft.com/office/drawing/2014/main" id="{90C1DD02-FB80-4014-AD4F-12404817FDD4}"/>
              </a:ext>
            </a:extLst>
          </p:cNvPr>
          <p:cNvSpPr>
            <a:spLocks xmlns:a="http://schemas.openxmlformats.org/drawingml/2006/main" noGrp="1"/>
          </p:cNvSpPr>
          <p:nvPr/>
        </p:nvSpPr>
        <p:spPr>
          <a:xfrm xmlns:a="http://schemas.openxmlformats.org/drawingml/2006/main">
            <a:off x="685800" y="1524000"/>
            <a:ext cx="10820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66736C"/>
                </a:solidFill>
                <a:latin typeface="Arial"/>
                <a:ea typeface="Arial"/>
                <a:cs typeface="Arial"/>
              </a:defRPr>
            </a:defPPr>
          </a:lstStyle>
          <a:p xmlns:a="http://schemas.openxmlformats.org/drawingml/2006/main">
            <a:pPr algn="l">
              <a:defRPr sz="1800" b="0">
                <a:solidFill>
                  <a:srgbClr val="66736C"/>
                </a:solidFill>
                <a:latin typeface="Arial"/>
                <a:ea typeface="Arial"/>
                <a:cs typeface="Arial"/>
              </a:defRPr>
            </a:pPr>
            <a:r>
              <a:rPr sz="1800" b="0">
                <a:solidFill>
                  <a:srgbClr val="66736C"/>
                </a:solidFill>
                <a:latin typeface="Arial"/>
                <a:ea typeface="Arial"/>
                <a:cs typeface="Arial"/>
              </a:rPr>
              <a:t>It converts review text into opinions about individual phone features.</a:t>
            </a:r>
          </a:p>
        </p:txBody>
      </p:sp>
      <p:sp>
        <p:nvSpPr>
          <p:cNvPr id="6" name="context-note">
            <a:extLst xmlns:a="http://schemas.openxmlformats.org/drawingml/2006/main">
              <a:ext uri="{FF2B5EF4-FFF2-40B4-BE49-F238E27FC236}">
                <a16:creationId xmlns:a16="http://schemas.microsoft.com/office/drawing/2014/main" id="{F31B7252-2870-42A9-A33C-01D887449B76}"/>
              </a:ext>
            </a:extLst>
          </p:cNvPr>
          <p:cNvSpPr>
            <a:spLocks xmlns:a="http://schemas.openxmlformats.org/drawingml/2006/main" noGrp="1"/>
          </p:cNvSpPr>
          <p:nvPr/>
        </p:nvSpPr>
        <p:spPr>
          <a:xfrm xmlns:a="http://schemas.openxmlformats.org/drawingml/2006/main">
            <a:off x="685800" y="5924550"/>
            <a:ext cx="108204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39725C"/>
                </a:solidFill>
                <a:latin typeface="Arial"/>
                <a:ea typeface="Arial"/>
                <a:cs typeface="Arial"/>
              </a:defRPr>
            </a:defPPr>
          </a:lstStyle>
          <a:p xmlns:a="http://schemas.openxmlformats.org/drawingml/2006/main">
            <a:pPr algn="l">
              <a:defRPr sz="1725" b="0">
                <a:solidFill>
                  <a:srgbClr val="39725C"/>
                </a:solidFill>
                <a:latin typeface="Arial"/>
                <a:ea typeface="Arial"/>
                <a:cs typeface="Arial"/>
              </a:defRPr>
            </a:pPr>
            <a:r>
              <a:rPr sz="1725" b="0">
                <a:solidFill>
                  <a:srgbClr val="39725C"/>
                </a:solidFill>
                <a:latin typeface="Arial"/>
                <a:ea typeface="Arial"/>
                <a:cs typeface="Arial"/>
              </a:rPr>
              <a:t>The dashboard aggregates these predictions and lets the reader trace counts back to reviews.</a:t>
            </a:r>
          </a:p>
        </p:txBody>
      </p:sp>
      <p:sp>
        <p:nvSpPr>
          <p:cNvPr id="7" name="column-label-0">
            <a:extLst xmlns:a="http://schemas.openxmlformats.org/drawingml/2006/main">
              <a:ext uri="{FF2B5EF4-FFF2-40B4-BE49-F238E27FC236}">
                <a16:creationId xmlns:a16="http://schemas.microsoft.com/office/drawing/2014/main" id="{97EA3180-B38B-4A38-902F-B8C53BEE5A38}"/>
              </a:ext>
            </a:extLst>
          </p:cNvPr>
          <p:cNvSpPr>
            <a:spLocks xmlns:a="http://schemas.openxmlformats.org/drawingml/2006/main" noGrp="1"/>
          </p:cNvSpPr>
          <p:nvPr/>
        </p:nvSpPr>
        <p:spPr>
          <a:xfrm xmlns:a="http://schemas.openxmlformats.org/drawingml/2006/main">
            <a:off x="685800" y="2247900"/>
            <a:ext cx="52006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39725C"/>
                </a:solidFill>
                <a:latin typeface="Arial"/>
                <a:ea typeface="Arial"/>
                <a:cs typeface="Arial"/>
              </a:defRPr>
            </a:defPPr>
          </a:lstStyle>
          <a:p xmlns:a="http://schemas.openxmlformats.org/drawingml/2006/main">
            <a:pPr algn="l">
              <a:defRPr sz="2175" b="1">
                <a:solidFill>
                  <a:srgbClr val="39725C"/>
                </a:solidFill>
                <a:latin typeface="Arial"/>
                <a:ea typeface="Arial"/>
                <a:cs typeface="Arial"/>
              </a:defRPr>
            </a:pPr>
            <a:r>
              <a:rPr sz="2175" b="1">
                <a:solidFill>
                  <a:srgbClr val="39725C"/>
                </a:solidFill>
                <a:latin typeface="Arial"/>
                <a:ea typeface="Arial"/>
                <a:cs typeface="Arial"/>
              </a:rPr>
              <a:t>Input</a:t>
            </a:r>
          </a:p>
        </p:txBody>
      </p:sp>
      <p:sp>
        <p:nvSpPr>
          <p:cNvPr id="8" name="column-copy-0">
            <a:extLst xmlns:a="http://schemas.openxmlformats.org/drawingml/2006/main">
              <a:ext uri="{FF2B5EF4-FFF2-40B4-BE49-F238E27FC236}">
                <a16:creationId xmlns:a16="http://schemas.microsoft.com/office/drawing/2014/main" id="{4902E307-DF7B-4DED-B19B-2314EB9A255F}"/>
              </a:ext>
            </a:extLst>
          </p:cNvPr>
          <p:cNvSpPr>
            <a:spLocks xmlns:a="http://schemas.openxmlformats.org/drawingml/2006/main" noGrp="1"/>
          </p:cNvSpPr>
          <p:nvPr/>
        </p:nvSpPr>
        <p:spPr>
          <a:xfrm xmlns:a="http://schemas.openxmlformats.org/drawingml/2006/main">
            <a:off x="685800" y="2895600"/>
            <a:ext cx="520065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26332E"/>
                </a:solidFill>
                <a:latin typeface="Arial"/>
                <a:ea typeface="Arial"/>
                <a:cs typeface="Arial"/>
              </a:defRPr>
            </a:defPPr>
          </a:lstStyle>
          <a:p xmlns:a="http://schemas.openxmlformats.org/drawingml/2006/main">
            <a:pPr algn="l">
              <a:defRPr sz="2175" b="0">
                <a:solidFill>
                  <a:srgbClr val="26332E"/>
                </a:solidFill>
                <a:latin typeface="Arial"/>
                <a:ea typeface="Arial"/>
                <a:cs typeface="Arial"/>
              </a:defRPr>
            </a:pPr>
            <a:r>
              <a:rPr sz="2175" b="0">
                <a:solidFill>
                  <a:srgbClr val="26332E"/>
                </a:solidFill>
                <a:latin typeface="Arial"/>
                <a:ea typeface="Arial"/>
                <a:cs typeface="Arial"/>
              </a:rPr>
              <a:t>English reviews supplied as text or CSV. Product, date and overall rating are optional metadata.</a:t>
            </a:r>
          </a:p>
        </p:txBody>
      </p:sp>
      <p:sp>
        <p:nvSpPr>
          <p:cNvPr id="9" name="column-label-1">
            <a:extLst xmlns:a="http://schemas.openxmlformats.org/drawingml/2006/main">
              <a:ext uri="{FF2B5EF4-FFF2-40B4-BE49-F238E27FC236}">
                <a16:creationId xmlns:a16="http://schemas.microsoft.com/office/drawing/2014/main" id="{BEFDB940-867A-4540-B16B-1B480ED4B27F}"/>
              </a:ext>
            </a:extLst>
          </p:cNvPr>
          <p:cNvSpPr>
            <a:spLocks xmlns:a="http://schemas.openxmlformats.org/drawingml/2006/main" noGrp="1"/>
          </p:cNvSpPr>
          <p:nvPr/>
        </p:nvSpPr>
        <p:spPr>
          <a:xfrm xmlns:a="http://schemas.openxmlformats.org/drawingml/2006/main">
            <a:off x="6305550" y="2247900"/>
            <a:ext cx="52006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39725C"/>
                </a:solidFill>
                <a:latin typeface="Arial"/>
                <a:ea typeface="Arial"/>
                <a:cs typeface="Arial"/>
              </a:defRPr>
            </a:defPPr>
          </a:lstStyle>
          <a:p xmlns:a="http://schemas.openxmlformats.org/drawingml/2006/main">
            <a:pPr algn="l">
              <a:defRPr sz="2175" b="1">
                <a:solidFill>
                  <a:srgbClr val="39725C"/>
                </a:solidFill>
                <a:latin typeface="Arial"/>
                <a:ea typeface="Arial"/>
                <a:cs typeface="Arial"/>
              </a:defRPr>
            </a:pPr>
            <a:r>
              <a:rPr sz="2175" b="1">
                <a:solidFill>
                  <a:srgbClr val="39725C"/>
                </a:solidFill>
                <a:latin typeface="Arial"/>
                <a:ea typeface="Arial"/>
                <a:cs typeface="Arial"/>
              </a:rPr>
              <a:t>Output</a:t>
            </a:r>
          </a:p>
        </p:txBody>
      </p:sp>
      <p:sp>
        <p:nvSpPr>
          <p:cNvPr id="10" name="column-copy-1">
            <a:extLst xmlns:a="http://schemas.openxmlformats.org/drawingml/2006/main">
              <a:ext uri="{FF2B5EF4-FFF2-40B4-BE49-F238E27FC236}">
                <a16:creationId xmlns:a16="http://schemas.microsoft.com/office/drawing/2014/main" id="{4A785DF5-BF00-490E-88BC-2CD0A0F32B87}"/>
              </a:ext>
            </a:extLst>
          </p:cNvPr>
          <p:cNvSpPr>
            <a:spLocks xmlns:a="http://schemas.openxmlformats.org/drawingml/2006/main" noGrp="1"/>
          </p:cNvSpPr>
          <p:nvPr/>
        </p:nvSpPr>
        <p:spPr>
          <a:xfrm xmlns:a="http://schemas.openxmlformats.org/drawingml/2006/main">
            <a:off x="6305550" y="2895600"/>
            <a:ext cx="520065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26332E"/>
                </a:solidFill>
                <a:latin typeface="Arial"/>
                <a:ea typeface="Arial"/>
                <a:cs typeface="Arial"/>
              </a:defRPr>
            </a:defPPr>
          </a:lstStyle>
          <a:p xmlns:a="http://schemas.openxmlformats.org/drawingml/2006/main">
            <a:pPr algn="l">
              <a:defRPr sz="2175" b="0">
                <a:solidFill>
                  <a:srgbClr val="26332E"/>
                </a:solidFill>
                <a:latin typeface="Arial"/>
                <a:ea typeface="Arial"/>
                <a:cs typeface="Arial"/>
              </a:defRPr>
            </a:pPr>
            <a:r>
              <a:rPr sz="2175" b="0">
                <a:solidFill>
                  <a:srgbClr val="26332E"/>
                </a:solidFill>
                <a:latin typeface="Arial"/>
                <a:ea typeface="Arial"/>
                <a:cs typeface="Arial"/>
              </a:rPr>
              <a:t>An aspect category, a sentiment state and the original sentence supporting the prediction.</a:t>
            </a:r>
          </a:p>
        </p:txBody>
      </p:sp>
    </p:spTree>
    <p:extLst>
      <p:ext uri="{BB962C8B-B14F-4D97-AF65-F5344CB8AC3E}">
        <p14:creationId xmlns:p14="http://schemas.microsoft.com/office/powerpoint/2010/main" val="511707973"/>
      </p:ext>
    </p:extLst>
  </p:cSld>
</p:sld>
</file>

<file path=ppt/slides/slide4.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8" name="chapter">
            <a:extLst xmlns:a="http://schemas.openxmlformats.org/drawingml/2006/main">
              <a:ext uri="{FF2B5EF4-FFF2-40B4-BE49-F238E27FC236}">
                <a16:creationId xmlns:a16="http://schemas.microsoft.com/office/drawing/2014/main" id="{7DE923E6-08EC-45F8-BC62-B917E615B4A8}"/>
              </a:ext>
            </a:extLst>
          </p:cNvPr>
          <p:cNvSpPr>
            <a:spLocks xmlns:a="http://schemas.openxmlformats.org/drawingml/2006/main" noGrp="1"/>
          </p:cNvSpPr>
          <p:nvPr/>
        </p:nvSpPr>
        <p:spPr>
          <a:xfrm xmlns:a="http://schemas.openxmlformats.org/drawingml/2006/main">
            <a:off x="685800" y="381000"/>
            <a:ext cx="933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39725C"/>
                </a:solidFill>
                <a:latin typeface="Arial"/>
                <a:ea typeface="Arial"/>
                <a:cs typeface="Arial"/>
              </a:defRPr>
            </a:defPPr>
          </a:lstStyle>
          <a:p xmlns:a="http://schemas.openxmlformats.org/drawingml/2006/main">
            <a:pPr algn="l">
              <a:defRPr sz="1200" b="1">
                <a:solidFill>
                  <a:srgbClr val="39725C"/>
                </a:solidFill>
                <a:latin typeface="Arial"/>
                <a:ea typeface="Arial"/>
                <a:cs typeface="Arial"/>
              </a:defRPr>
            </a:pPr>
            <a:r>
              <a:rPr sz="1200" b="1">
                <a:solidFill>
                  <a:srgbClr val="39725C"/>
                </a:solidFill>
                <a:latin typeface="Arial"/>
                <a:ea typeface="Arial"/>
                <a:cs typeface="Arial"/>
              </a:rPr>
              <a:t>THE PROBLEM</a:t>
            </a:r>
          </a:p>
        </p:txBody>
      </p:sp>
      <p:sp>
        <p:nvSpPr>
          <p:cNvPr id="2" name="primary-heading">
            <a:extLst xmlns:a="http://schemas.openxmlformats.org/drawingml/2006/main">
              <a:ext uri="{FF2B5EF4-FFF2-40B4-BE49-F238E27FC236}">
                <a16:creationId xmlns:a16="http://schemas.microsoft.com/office/drawing/2014/main" id="{458B0DEB-3678-4A0D-956C-70CA3947F3AB}"/>
              </a:ext>
            </a:extLst>
          </p:cNvPr>
          <p:cNvSpPr>
            <a:spLocks xmlns:a="http://schemas.openxmlformats.org/drawingml/2006/main" noGrp="1"/>
          </p:cNvSpPr>
          <p:nvPr/>
        </p:nvSpPr>
        <p:spPr>
          <a:xfrm xmlns:a="http://schemas.openxmlformats.org/drawingml/2006/main">
            <a:off x="685800" y="83820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6332E"/>
                </a:solidFill>
                <a:latin typeface="Arial"/>
                <a:ea typeface="Arial"/>
                <a:cs typeface="Arial"/>
              </a:defRPr>
            </a:defPPr>
          </a:lstStyle>
          <a:p xmlns:a="http://schemas.openxmlformats.org/drawingml/2006/main">
            <a:pPr algn="l">
              <a:defRPr sz="3300" b="1">
                <a:solidFill>
                  <a:srgbClr val="26332E"/>
                </a:solidFill>
                <a:latin typeface="Arial"/>
                <a:ea typeface="Arial"/>
                <a:cs typeface="Arial"/>
              </a:defRPr>
            </a:pPr>
            <a:r>
              <a:rPr sz="3300" b="1">
                <a:solidFill>
                  <a:srgbClr val="26332E"/>
                </a:solidFill>
                <a:latin typeface="Arial"/>
                <a:ea typeface="Arial"/>
                <a:cs typeface="Arial"/>
              </a:rPr>
              <a:t>One review can contain opposing opinions</a:t>
            </a:r>
          </a:p>
        </p:txBody>
      </p:sp>
      <p:sp>
        <p:nvSpPr>
          <p:cNvPr id="3" name="footer-label">
            <a:extLst xmlns:a="http://schemas.openxmlformats.org/drawingml/2006/main">
              <a:ext uri="{FF2B5EF4-FFF2-40B4-BE49-F238E27FC236}">
                <a16:creationId xmlns:a16="http://schemas.microsoft.com/office/drawing/2014/main" id="{A979F34A-74C8-4972-84CE-EEFFB7FE0E8F}"/>
              </a:ext>
            </a:extLst>
          </p:cNvPr>
          <p:cNvSpPr>
            <a:spLocks xmlns:a="http://schemas.openxmlformats.org/drawingml/2006/main" noGrp="1"/>
          </p:cNvSpPr>
          <p:nvPr/>
        </p:nvSpPr>
        <p:spPr>
          <a:xfrm xmlns:a="http://schemas.openxmlformats.org/drawingml/2006/main">
            <a:off x="685800" y="6505575"/>
            <a:ext cx="952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0">
                <a:solidFill>
                  <a:srgbClr val="66736C"/>
                </a:solidFill>
                <a:latin typeface="Arial"/>
                <a:ea typeface="Arial"/>
                <a:cs typeface="Arial"/>
              </a:defRPr>
            </a:defPPr>
          </a:lstStyle>
          <a:p xmlns:a="http://schemas.openxmlformats.org/drawingml/2006/main">
            <a:pPr algn="l">
              <a:defRPr sz="900" b="0">
                <a:solidFill>
                  <a:srgbClr val="66736C"/>
                </a:solidFill>
                <a:latin typeface="Arial"/>
                <a:ea typeface="Arial"/>
                <a:cs typeface="Arial"/>
              </a:defRPr>
            </a:pPr>
            <a:r>
              <a:rPr sz="900" b="0">
                <a:solidFill>
                  <a:srgbClr val="66736C"/>
                </a:solidFill>
                <a:latin typeface="Arial"/>
                <a:ea typeface="Arial"/>
                <a:cs typeface="Arial"/>
              </a:rPr>
              <a:t>ASPECT  /  PROJECT REFERENCE  /  1.0.0</a:t>
            </a:r>
          </a:p>
        </p:txBody>
      </p:sp>
      <p:sp>
        <p:nvSpPr>
          <p:cNvPr id="4" name="page-number">
            <a:extLst xmlns:a="http://schemas.openxmlformats.org/drawingml/2006/main">
              <a:ext uri="{FF2B5EF4-FFF2-40B4-BE49-F238E27FC236}">
                <a16:creationId xmlns:a16="http://schemas.microsoft.com/office/drawing/2014/main" id="{30D656B4-62EB-4BB4-963C-467C22F57D07}"/>
              </a:ext>
            </a:extLst>
          </p:cNvPr>
          <p:cNvSpPr>
            <a:spLocks xmlns:a="http://schemas.openxmlformats.org/drawingml/2006/main" noGrp="1"/>
          </p:cNvSpPr>
          <p:nvPr/>
        </p:nvSpPr>
        <p:spPr>
          <a:xfrm xmlns:a="http://schemas.openxmlformats.org/drawingml/2006/main">
            <a:off x="10620375" y="6505575"/>
            <a:ext cx="8858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a:solidFill>
                  <a:srgbClr val="66736C"/>
                </a:solidFill>
                <a:latin typeface="Arial"/>
                <a:ea typeface="Arial"/>
                <a:cs typeface="Arial"/>
              </a:defRPr>
            </a:defPPr>
          </a:lstStyle>
          <a:p xmlns:a="http://schemas.openxmlformats.org/drawingml/2006/main">
            <a:pPr algn="r">
              <a:defRPr sz="900" b="0">
                <a:solidFill>
                  <a:srgbClr val="66736C"/>
                </a:solidFill>
                <a:latin typeface="Arial"/>
                <a:ea typeface="Arial"/>
                <a:cs typeface="Arial"/>
              </a:defRPr>
            </a:pPr>
            <a:r>
              <a:rPr sz="900" b="0">
                <a:solidFill>
                  <a:srgbClr val="66736C"/>
                </a:solidFill>
                <a:latin typeface="Arial"/>
                <a:ea typeface="Arial"/>
                <a:cs typeface="Arial"/>
              </a:rPr>
              <a:t>04 / 52</a:t>
            </a:r>
          </a:p>
        </p:txBody>
      </p:sp>
      <p:sp>
        <p:nvSpPr>
          <p:cNvPr id="5" name="example-review">
            <a:extLst xmlns:a="http://schemas.openxmlformats.org/drawingml/2006/main">
              <a:ext uri="{FF2B5EF4-FFF2-40B4-BE49-F238E27FC236}">
                <a16:creationId xmlns:a16="http://schemas.microsoft.com/office/drawing/2014/main" id="{89F8DD89-8391-46C2-A958-87649349A319}"/>
              </a:ext>
            </a:extLst>
          </p:cNvPr>
          <p:cNvSpPr>
            <a:spLocks xmlns:a="http://schemas.openxmlformats.org/drawingml/2006/main" noGrp="1"/>
          </p:cNvSpPr>
          <p:nvPr/>
        </p:nvSpPr>
        <p:spPr>
          <a:xfrm xmlns:a="http://schemas.openxmlformats.org/drawingml/2006/main">
            <a:off x="685800" y="18859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0">
                <a:solidFill>
                  <a:srgbClr val="26332E"/>
                </a:solidFill>
                <a:latin typeface="Arial"/>
                <a:ea typeface="Arial"/>
                <a:cs typeface="Arial"/>
              </a:defRPr>
            </a:defPPr>
          </a:lstStyle>
          <a:p xmlns:a="http://schemas.openxmlformats.org/drawingml/2006/main">
            <a:pPr algn="l">
              <a:defRPr sz="2850" b="0">
                <a:solidFill>
                  <a:srgbClr val="26332E"/>
                </a:solidFill>
                <a:latin typeface="Arial"/>
                <a:ea typeface="Arial"/>
                <a:cs typeface="Arial"/>
              </a:defRPr>
            </a:pPr>
            <a:r>
              <a:rPr sz="2850" b="0">
                <a:solidFill>
                  <a:srgbClr val="26332E"/>
                </a:solidFill>
                <a:latin typeface="Arial"/>
                <a:ea typeface="Arial"/>
                <a:cs typeface="Arial"/>
              </a:rPr>
              <a:t>The camera is excellent, but the battery is terrible.</a:t>
            </a:r>
          </a:p>
        </p:txBody>
      </p:sp>
      <p:sp>
        <p:nvSpPr>
          <p:cNvPr id="6" name="example-context">
            <a:extLst xmlns:a="http://schemas.openxmlformats.org/drawingml/2006/main">
              <a:ext uri="{FF2B5EF4-FFF2-40B4-BE49-F238E27FC236}">
                <a16:creationId xmlns:a16="http://schemas.microsoft.com/office/drawing/2014/main" id="{57AC2AAD-0AE1-4BA9-80A8-A15B296A75CB}"/>
              </a:ext>
            </a:extLst>
          </p:cNvPr>
          <p:cNvSpPr>
            <a:spLocks xmlns:a="http://schemas.openxmlformats.org/drawingml/2006/main" noGrp="1"/>
          </p:cNvSpPr>
          <p:nvPr/>
        </p:nvSpPr>
        <p:spPr>
          <a:xfrm xmlns:a="http://schemas.openxmlformats.org/drawingml/2006/main">
            <a:off x="685800" y="3000375"/>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66736C"/>
                </a:solidFill>
                <a:latin typeface="Arial"/>
                <a:ea typeface="Arial"/>
                <a:cs typeface="Arial"/>
              </a:defRPr>
            </a:defPPr>
          </a:lstStyle>
          <a:p xmlns:a="http://schemas.openxmlformats.org/drawingml/2006/main">
            <a:pPr algn="l">
              <a:defRPr sz="1425" b="0">
                <a:solidFill>
                  <a:srgbClr val="66736C"/>
                </a:solidFill>
                <a:latin typeface="Arial"/>
                <a:ea typeface="Arial"/>
                <a:cs typeface="Arial"/>
              </a:defRPr>
            </a:pPr>
            <a:r>
              <a:rPr sz="1425" b="0">
                <a:solidFill>
                  <a:srgbClr val="66736C"/>
                </a:solidFill>
                <a:latin typeface="Arial"/>
                <a:ea typeface="Arial"/>
                <a:cs typeface="Arial"/>
              </a:rPr>
              <a:t>Illustrative input outside the evaluation set</a:t>
            </a:r>
          </a:p>
        </p:txBody>
      </p:sp>
      <p:graphicFrame>
        <p:nvGraphicFramePr>
          <p:cNvPr id="7" name="">
            <a:extLst xmlns:a="http://schemas.openxmlformats.org/drawingml/2006/main">
              <a:ext uri="{FF2B5EF4-FFF2-40B4-BE49-F238E27FC236}">
                <a16:creationId xmlns:a16="http://schemas.microsoft.com/office/drawing/2014/main" id="{8C74D154-DC30-4F03-9BF1-627545AD5541}"/>
              </a:ext>
            </a:extLst>
          </p:cNvPr>
          <p:cNvGraphicFramePr/>
          <p:nvPr/>
        </p:nvGraphicFramePr>
        <p:xfrm>
          <a:off xmlns:a="http://schemas.openxmlformats.org/drawingml/2006/main" x="685800" y="3619500"/>
          <a:ext xmlns:a="http://schemas.openxmlformats.org/drawingml/2006/main" cx="10820400" cy="1828800"/>
        </p:xfrm>
        <a:graphic xmlns:a="http://schemas.openxmlformats.org/drawingml/2006/main">
          <a:graphicData uri="http://schemas.openxmlformats.org/drawingml/2006/table">
            <a:tbl>
              <a:tblPr firstRow="1" firstCol="0" lastCol="0" bandRow="0"/>
              <a:tblGrid>
                <a:gridCol w="3606800"/>
                <a:gridCol w="3606800"/>
                <a:gridCol w="3606800"/>
              </a:tblGrid>
              <a:tr h="419100">
                <a:tc>
                  <a:txBody>
                    <a:bodyPr wrap="square">
                      <a:noAutofit/>
                    </a:bodyPr>
                    <a:lstStyle/>
                    <a:p>
                      <a:r>
                        <a:rPr sz="1650" b="1">
                          <a:solidFill>
                            <a:srgbClr val="FFFFFF"/>
                          </a:solidFill>
                          <a:latin typeface="Arial"/>
                          <a:ea typeface="Arial"/>
                          <a:cs typeface="Arial"/>
                        </a:rPr>
                        <a:t>Category</a:t>
                      </a:r>
                    </a:p>
                  </a:txBody>
                  <a:tcPr marL="114300" marR="114300" marT="47625" marB="47625" anchor="ctr">
                    <a:lnL w="6668">
                      <a:solidFill>
                        <a:srgbClr val="DCE3DA"/>
                      </a:solidFill>
                      <a:prstDash val="solid"/>
                    </a:lnL>
                    <a:lnR w="6668">
                      <a:solidFill>
                        <a:srgbClr val="DCE3DA"/>
                      </a:solidFill>
                      <a:prstDash val="solid"/>
                    </a:lnR>
                    <a:lnT w="6668">
                      <a:solidFill>
                        <a:srgbClr val="DCE3DA"/>
                      </a:solidFill>
                      <a:prstDash val="solid"/>
                    </a:lnT>
                    <a:lnB w="6668">
                      <a:solidFill>
                        <a:srgbClr val="DCE3DA"/>
                      </a:solidFill>
                      <a:prstDash val="solid"/>
                    </a:lnB>
                    <a:solidFill>
                      <a:srgbClr val="39725C"/>
                    </a:solidFill>
                  </a:tcPr>
                </a:tc>
                <a:tc>
                  <a:txBody>
                    <a:bodyPr wrap="square">
                      <a:noAutofit/>
                    </a:bodyPr>
                    <a:lstStyle/>
                    <a:p>
                      <a:r>
                        <a:rPr sz="1650" b="1">
                          <a:solidFill>
                            <a:srgbClr val="FFFFFF"/>
                          </a:solidFill>
                          <a:latin typeface="Arial"/>
                          <a:ea typeface="Arial"/>
                          <a:cs typeface="Arial"/>
                        </a:rPr>
                        <a:t>Sentiment</a:t>
                      </a:r>
                    </a:p>
                  </a:txBody>
                  <a:tcPr marL="114300" marR="114300" marT="47625" marB="47625" anchor="ctr">
                    <a:lnR w="6668">
                      <a:solidFill>
                        <a:srgbClr val="DCE3DA"/>
                      </a:solidFill>
                      <a:prstDash val="solid"/>
                    </a:lnR>
                    <a:lnT w="6668">
                      <a:solidFill>
                        <a:srgbClr val="DCE3DA"/>
                      </a:solidFill>
                      <a:prstDash val="solid"/>
                    </a:lnT>
                    <a:lnB w="6668">
                      <a:solidFill>
                        <a:srgbClr val="DCE3DA"/>
                      </a:solidFill>
                      <a:prstDash val="solid"/>
                    </a:lnB>
                    <a:solidFill>
                      <a:srgbClr val="39725C"/>
                    </a:solidFill>
                  </a:tcPr>
                </a:tc>
                <a:tc>
                  <a:txBody>
                    <a:bodyPr wrap="square">
                      <a:noAutofit/>
                    </a:bodyPr>
                    <a:lstStyle/>
                    <a:p>
                      <a:r>
                        <a:rPr sz="1650" b="1">
                          <a:solidFill>
                            <a:srgbClr val="FFFFFF"/>
                          </a:solidFill>
                          <a:latin typeface="Arial"/>
                          <a:ea typeface="Arial"/>
                          <a:cs typeface="Arial"/>
                        </a:rPr>
                        <a:t>Reason</a:t>
                      </a:r>
                    </a:p>
                  </a:txBody>
                  <a:tcPr marL="114300" marR="114300" marT="47625" marB="47625" anchor="ctr">
                    <a:lnR w="6668">
                      <a:solidFill>
                        <a:srgbClr val="DCE3DA"/>
                      </a:solidFill>
                      <a:prstDash val="solid"/>
                    </a:lnR>
                    <a:lnT w="6668">
                      <a:solidFill>
                        <a:srgbClr val="DCE3DA"/>
                      </a:solidFill>
                      <a:prstDash val="solid"/>
                    </a:lnT>
                    <a:lnB w="6668">
                      <a:solidFill>
                        <a:srgbClr val="DCE3DA"/>
                      </a:solidFill>
                      <a:prstDash val="solid"/>
                    </a:lnB>
                    <a:solidFill>
                      <a:srgbClr val="39725C"/>
                    </a:solidFill>
                  </a:tcPr>
                </a:tc>
              </a:tr>
              <a:tr h="704850">
                <a:tc>
                  <a:txBody>
                    <a:bodyPr wrap="square">
                      <a:noAutofit/>
                    </a:bodyPr>
                    <a:lstStyle/>
                    <a:p>
                      <a:r>
                        <a:rPr sz="1725" b="1">
                          <a:solidFill>
                            <a:srgbClr val="26332E"/>
                          </a:solidFill>
                          <a:latin typeface="Arial"/>
                          <a:ea typeface="Arial"/>
                          <a:cs typeface="Arial"/>
                        </a:rPr>
                        <a:t>Camera</a:t>
                      </a:r>
                    </a:p>
                  </a:txBody>
                  <a:tcPr marL="114300" marR="114300" marT="47625" marB="47625" anchor="ctr">
                    <a:lnL w="6668">
                      <a:solidFill>
                        <a:srgbClr val="DCE3DA"/>
                      </a:solidFill>
                      <a:prstDash val="solid"/>
                    </a:lnL>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Positive</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The review praises the camera.</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r>
              <a:tr h="704850">
                <a:tc>
                  <a:txBody>
                    <a:bodyPr wrap="square">
                      <a:noAutofit/>
                    </a:bodyPr>
                    <a:lstStyle/>
                    <a:p>
                      <a:r>
                        <a:rPr sz="1725" b="1">
                          <a:solidFill>
                            <a:srgbClr val="26332E"/>
                          </a:solidFill>
                          <a:latin typeface="Arial"/>
                          <a:ea typeface="Arial"/>
                          <a:cs typeface="Arial"/>
                        </a:rPr>
                        <a:t>Battery</a:t>
                      </a:r>
                    </a:p>
                  </a:txBody>
                  <a:tcPr marL="114300" marR="114300" marT="47625" marB="47625" anchor="ctr">
                    <a:lnL w="6668">
                      <a:solidFill>
                        <a:srgbClr val="DCE3DA"/>
                      </a:solidFill>
                      <a:prstDash val="solid"/>
                    </a:lnL>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Negative</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The review criticises battery quality.</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r>
            </a:tbl>
          </a:graphicData>
        </a:graphic>
      </p:graphicFrame>
    </p:spTree>
    <p:extLst>
      <p:ext uri="{BB962C8B-B14F-4D97-AF65-F5344CB8AC3E}">
        <p14:creationId xmlns:p14="http://schemas.microsoft.com/office/powerpoint/2010/main" val="1549296329"/>
      </p:ext>
    </p:extLst>
  </p:cSld>
</p:sld>
</file>

<file path=ppt/slides/slide5.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6" name="chapter">
            <a:extLst xmlns:a="http://schemas.openxmlformats.org/drawingml/2006/main">
              <a:ext uri="{FF2B5EF4-FFF2-40B4-BE49-F238E27FC236}">
                <a16:creationId xmlns:a16="http://schemas.microsoft.com/office/drawing/2014/main" id="{66E83789-3F45-4501-BF3B-5B752999FF4E}"/>
              </a:ext>
            </a:extLst>
          </p:cNvPr>
          <p:cNvSpPr>
            <a:spLocks xmlns:a="http://schemas.openxmlformats.org/drawingml/2006/main" noGrp="1"/>
          </p:cNvSpPr>
          <p:nvPr/>
        </p:nvSpPr>
        <p:spPr>
          <a:xfrm xmlns:a="http://schemas.openxmlformats.org/drawingml/2006/main">
            <a:off x="685800" y="381000"/>
            <a:ext cx="933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39725C"/>
                </a:solidFill>
                <a:latin typeface="Arial"/>
                <a:ea typeface="Arial"/>
                <a:cs typeface="Arial"/>
              </a:defRPr>
            </a:defPPr>
          </a:lstStyle>
          <a:p xmlns:a="http://schemas.openxmlformats.org/drawingml/2006/main">
            <a:pPr algn="l">
              <a:defRPr sz="1200" b="1">
                <a:solidFill>
                  <a:srgbClr val="39725C"/>
                </a:solidFill>
                <a:latin typeface="Arial"/>
                <a:ea typeface="Arial"/>
                <a:cs typeface="Arial"/>
              </a:defRPr>
            </a:pPr>
            <a:r>
              <a:rPr sz="1200" b="1">
                <a:solidFill>
                  <a:srgbClr val="39725C"/>
                </a:solidFill>
                <a:latin typeface="Arial"/>
                <a:ea typeface="Arial"/>
                <a:cs typeface="Arial"/>
              </a:rPr>
              <a:t>LABEL DEFINITIONS</a:t>
            </a:r>
          </a:p>
        </p:txBody>
      </p:sp>
      <p:sp>
        <p:nvSpPr>
          <p:cNvPr id="2" name="primary-heading">
            <a:extLst xmlns:a="http://schemas.openxmlformats.org/drawingml/2006/main">
              <a:ext uri="{FF2B5EF4-FFF2-40B4-BE49-F238E27FC236}">
                <a16:creationId xmlns:a16="http://schemas.microsoft.com/office/drawing/2014/main" id="{27F4801E-E1D1-4D5E-A6D2-D8B604A66C96}"/>
              </a:ext>
            </a:extLst>
          </p:cNvPr>
          <p:cNvSpPr>
            <a:spLocks xmlns:a="http://schemas.openxmlformats.org/drawingml/2006/main" noGrp="1"/>
          </p:cNvSpPr>
          <p:nvPr/>
        </p:nvSpPr>
        <p:spPr>
          <a:xfrm xmlns:a="http://schemas.openxmlformats.org/drawingml/2006/main">
            <a:off x="685800" y="83820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6332E"/>
                </a:solidFill>
                <a:latin typeface="Arial"/>
                <a:ea typeface="Arial"/>
                <a:cs typeface="Arial"/>
              </a:defRPr>
            </a:defPPr>
          </a:lstStyle>
          <a:p xmlns:a="http://schemas.openxmlformats.org/drawingml/2006/main">
            <a:pPr algn="l">
              <a:defRPr sz="3300" b="1">
                <a:solidFill>
                  <a:srgbClr val="26332E"/>
                </a:solidFill>
                <a:latin typeface="Arial"/>
                <a:ea typeface="Arial"/>
                <a:cs typeface="Arial"/>
              </a:defRPr>
            </a:pPr>
            <a:r>
              <a:rPr sz="3300" b="1">
                <a:solidFill>
                  <a:srgbClr val="26332E"/>
                </a:solidFill>
                <a:latin typeface="Arial"/>
                <a:ea typeface="Arial"/>
                <a:cs typeface="Arial"/>
              </a:rPr>
              <a:t>The first five aspect categories</a:t>
            </a:r>
          </a:p>
        </p:txBody>
      </p:sp>
      <p:sp>
        <p:nvSpPr>
          <p:cNvPr id="3" name="footer-label">
            <a:extLst xmlns:a="http://schemas.openxmlformats.org/drawingml/2006/main">
              <a:ext uri="{FF2B5EF4-FFF2-40B4-BE49-F238E27FC236}">
                <a16:creationId xmlns:a16="http://schemas.microsoft.com/office/drawing/2014/main" id="{0F043A86-5F95-4A2D-B930-E2C0F74104CB}"/>
              </a:ext>
            </a:extLst>
          </p:cNvPr>
          <p:cNvSpPr>
            <a:spLocks xmlns:a="http://schemas.openxmlformats.org/drawingml/2006/main" noGrp="1"/>
          </p:cNvSpPr>
          <p:nvPr/>
        </p:nvSpPr>
        <p:spPr>
          <a:xfrm xmlns:a="http://schemas.openxmlformats.org/drawingml/2006/main">
            <a:off x="685800" y="6505575"/>
            <a:ext cx="952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0">
                <a:solidFill>
                  <a:srgbClr val="66736C"/>
                </a:solidFill>
                <a:latin typeface="Arial"/>
                <a:ea typeface="Arial"/>
                <a:cs typeface="Arial"/>
              </a:defRPr>
            </a:defPPr>
          </a:lstStyle>
          <a:p xmlns:a="http://schemas.openxmlformats.org/drawingml/2006/main">
            <a:pPr algn="l">
              <a:defRPr sz="900" b="0">
                <a:solidFill>
                  <a:srgbClr val="66736C"/>
                </a:solidFill>
                <a:latin typeface="Arial"/>
                <a:ea typeface="Arial"/>
                <a:cs typeface="Arial"/>
              </a:defRPr>
            </a:pPr>
            <a:r>
              <a:rPr sz="900" b="0">
                <a:solidFill>
                  <a:srgbClr val="66736C"/>
                </a:solidFill>
                <a:latin typeface="Arial"/>
                <a:ea typeface="Arial"/>
                <a:cs typeface="Arial"/>
              </a:rPr>
              <a:t>ASPECT  /  PROJECT REFERENCE  /  1.0.0</a:t>
            </a:r>
          </a:p>
        </p:txBody>
      </p:sp>
      <p:sp>
        <p:nvSpPr>
          <p:cNvPr id="4" name="page-number">
            <a:extLst xmlns:a="http://schemas.openxmlformats.org/drawingml/2006/main">
              <a:ext uri="{FF2B5EF4-FFF2-40B4-BE49-F238E27FC236}">
                <a16:creationId xmlns:a16="http://schemas.microsoft.com/office/drawing/2014/main" id="{0746947C-F7AC-4E76-BE9F-0275E12E068A}"/>
              </a:ext>
            </a:extLst>
          </p:cNvPr>
          <p:cNvSpPr>
            <a:spLocks xmlns:a="http://schemas.openxmlformats.org/drawingml/2006/main" noGrp="1"/>
          </p:cNvSpPr>
          <p:nvPr/>
        </p:nvSpPr>
        <p:spPr>
          <a:xfrm xmlns:a="http://schemas.openxmlformats.org/drawingml/2006/main">
            <a:off x="10620375" y="6505575"/>
            <a:ext cx="8858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a:solidFill>
                  <a:srgbClr val="66736C"/>
                </a:solidFill>
                <a:latin typeface="Arial"/>
                <a:ea typeface="Arial"/>
                <a:cs typeface="Arial"/>
              </a:defRPr>
            </a:defPPr>
          </a:lstStyle>
          <a:p xmlns:a="http://schemas.openxmlformats.org/drawingml/2006/main">
            <a:pPr algn="r">
              <a:defRPr sz="900" b="0">
                <a:solidFill>
                  <a:srgbClr val="66736C"/>
                </a:solidFill>
                <a:latin typeface="Arial"/>
                <a:ea typeface="Arial"/>
                <a:cs typeface="Arial"/>
              </a:defRPr>
            </a:pPr>
            <a:r>
              <a:rPr sz="900" b="0">
                <a:solidFill>
                  <a:srgbClr val="66736C"/>
                </a:solidFill>
                <a:latin typeface="Arial"/>
                <a:ea typeface="Arial"/>
                <a:cs typeface="Arial"/>
              </a:rPr>
              <a:t>05 / 52</a:t>
            </a:r>
          </a:p>
        </p:txBody>
      </p:sp>
      <p:graphicFrame>
        <p:nvGraphicFramePr>
          <p:cNvPr id="5" name="">
            <a:extLst xmlns:a="http://schemas.openxmlformats.org/drawingml/2006/main">
              <a:ext uri="{FF2B5EF4-FFF2-40B4-BE49-F238E27FC236}">
                <a16:creationId xmlns:a16="http://schemas.microsoft.com/office/drawing/2014/main" id="{F928F9A4-742F-4F48-9C4E-38B06D48DD53}"/>
              </a:ext>
            </a:extLst>
          </p:cNvPr>
          <p:cNvGraphicFramePr/>
          <p:nvPr/>
        </p:nvGraphicFramePr>
        <p:xfrm>
          <a:off xmlns:a="http://schemas.openxmlformats.org/drawingml/2006/main" x="685800" y="1714500"/>
          <a:ext xmlns:a="http://schemas.openxmlformats.org/drawingml/2006/main" cx="10820400" cy="4133850"/>
        </p:xfrm>
        <a:graphic xmlns:a="http://schemas.openxmlformats.org/drawingml/2006/main">
          <a:graphicData uri="http://schemas.openxmlformats.org/drawingml/2006/table">
            <a:tbl>
              <a:tblPr firstRow="1" firstCol="0" lastCol="0" bandRow="0"/>
              <a:tblGrid>
                <a:gridCol w="1809750"/>
                <a:gridCol w="4714875"/>
                <a:gridCol w="4295775"/>
              </a:tblGrid>
              <a:tr h="419100">
                <a:tc>
                  <a:txBody>
                    <a:bodyPr wrap="square">
                      <a:noAutofit/>
                    </a:bodyPr>
                    <a:lstStyle/>
                    <a:p>
                      <a:r>
                        <a:rPr sz="1650" b="1">
                          <a:solidFill>
                            <a:srgbClr val="FFFFFF"/>
                          </a:solidFill>
                          <a:latin typeface="Arial"/>
                          <a:ea typeface="Arial"/>
                          <a:cs typeface="Arial"/>
                        </a:rPr>
                        <a:t>Category</a:t>
                      </a:r>
                    </a:p>
                  </a:txBody>
                  <a:tcPr marL="114300" marR="114300" marT="47625" marB="47625" anchor="ctr">
                    <a:lnL w="6668">
                      <a:solidFill>
                        <a:srgbClr val="DCE3DA"/>
                      </a:solidFill>
                      <a:prstDash val="solid"/>
                    </a:lnL>
                    <a:lnR w="6668">
                      <a:solidFill>
                        <a:srgbClr val="DCE3DA"/>
                      </a:solidFill>
                      <a:prstDash val="solid"/>
                    </a:lnR>
                    <a:lnT w="6668">
                      <a:solidFill>
                        <a:srgbClr val="DCE3DA"/>
                      </a:solidFill>
                      <a:prstDash val="solid"/>
                    </a:lnT>
                    <a:lnB w="6668">
                      <a:solidFill>
                        <a:srgbClr val="DCE3DA"/>
                      </a:solidFill>
                      <a:prstDash val="solid"/>
                    </a:lnB>
                    <a:solidFill>
                      <a:srgbClr val="39725C"/>
                    </a:solidFill>
                  </a:tcPr>
                </a:tc>
                <a:tc>
                  <a:txBody>
                    <a:bodyPr wrap="square">
                      <a:noAutofit/>
                    </a:bodyPr>
                    <a:lstStyle/>
                    <a:p>
                      <a:r>
                        <a:rPr sz="1650" b="1">
                          <a:solidFill>
                            <a:srgbClr val="FFFFFF"/>
                          </a:solidFill>
                          <a:latin typeface="Arial"/>
                          <a:ea typeface="Arial"/>
                          <a:cs typeface="Arial"/>
                        </a:rPr>
                        <a:t>What belongs here</a:t>
                      </a:r>
                    </a:p>
                  </a:txBody>
                  <a:tcPr marL="114300" marR="114300" marT="47625" marB="47625" anchor="ctr">
                    <a:lnR w="6668">
                      <a:solidFill>
                        <a:srgbClr val="DCE3DA"/>
                      </a:solidFill>
                      <a:prstDash val="solid"/>
                    </a:lnR>
                    <a:lnT w="6668">
                      <a:solidFill>
                        <a:srgbClr val="DCE3DA"/>
                      </a:solidFill>
                      <a:prstDash val="solid"/>
                    </a:lnT>
                    <a:lnB w="6668">
                      <a:solidFill>
                        <a:srgbClr val="DCE3DA"/>
                      </a:solidFill>
                      <a:prstDash val="solid"/>
                    </a:lnB>
                    <a:solidFill>
                      <a:srgbClr val="39725C"/>
                    </a:solidFill>
                  </a:tcPr>
                </a:tc>
                <a:tc>
                  <a:txBody>
                    <a:bodyPr wrap="square">
                      <a:noAutofit/>
                    </a:bodyPr>
                    <a:lstStyle/>
                    <a:p>
                      <a:r>
                        <a:rPr sz="1650" b="1">
                          <a:solidFill>
                            <a:srgbClr val="FFFFFF"/>
                          </a:solidFill>
                          <a:latin typeface="Arial"/>
                          <a:ea typeface="Arial"/>
                          <a:cs typeface="Arial"/>
                        </a:rPr>
                        <a:t>Typical cues</a:t>
                      </a:r>
                    </a:p>
                  </a:txBody>
                  <a:tcPr marL="114300" marR="114300" marT="47625" marB="47625" anchor="ctr">
                    <a:lnR w="6668">
                      <a:solidFill>
                        <a:srgbClr val="DCE3DA"/>
                      </a:solidFill>
                      <a:prstDash val="solid"/>
                    </a:lnR>
                    <a:lnT w="6668">
                      <a:solidFill>
                        <a:srgbClr val="DCE3DA"/>
                      </a:solidFill>
                      <a:prstDash val="solid"/>
                    </a:lnT>
                    <a:lnB w="6668">
                      <a:solidFill>
                        <a:srgbClr val="DCE3DA"/>
                      </a:solidFill>
                      <a:prstDash val="solid"/>
                    </a:lnB>
                    <a:solidFill>
                      <a:srgbClr val="39725C"/>
                    </a:solidFill>
                  </a:tcPr>
                </a:tc>
              </a:tr>
              <a:tr h="742950">
                <a:tc>
                  <a:txBody>
                    <a:bodyPr wrap="square">
                      <a:noAutofit/>
                    </a:bodyPr>
                    <a:lstStyle/>
                    <a:p>
                      <a:r>
                        <a:rPr sz="1725" b="1">
                          <a:solidFill>
                            <a:srgbClr val="26332E"/>
                          </a:solidFill>
                          <a:latin typeface="Arial"/>
                          <a:ea typeface="Arial"/>
                          <a:cs typeface="Arial"/>
                        </a:rPr>
                        <a:t>Battery</a:t>
                      </a:r>
                    </a:p>
                  </a:txBody>
                  <a:tcPr marL="114300" marR="114300" marT="47625" marB="47625" anchor="ctr">
                    <a:lnL w="6668">
                      <a:solidFill>
                        <a:srgbClr val="DCE3DA"/>
                      </a:solidFill>
                      <a:prstDash val="solid"/>
                    </a:lnL>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Endurance, drain and standby time</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battery, standby, lasts all day</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r>
              <a:tr h="742950">
                <a:tc>
                  <a:txBody>
                    <a:bodyPr wrap="square">
                      <a:noAutofit/>
                    </a:bodyPr>
                    <a:lstStyle/>
                    <a:p>
                      <a:r>
                        <a:rPr sz="1725" b="1">
                          <a:solidFill>
                            <a:srgbClr val="26332E"/>
                          </a:solidFill>
                          <a:latin typeface="Arial"/>
                          <a:ea typeface="Arial"/>
                          <a:cs typeface="Arial"/>
                        </a:rPr>
                        <a:t>Charging</a:t>
                      </a:r>
                    </a:p>
                  </a:txBody>
                  <a:tcPr marL="114300" marR="114300" marT="47625" marB="47625" anchor="ctr">
                    <a:lnL w="6668">
                      <a:solidFill>
                        <a:srgbClr val="DCE3DA"/>
                      </a:solidFill>
                      <a:prstDash val="solid"/>
                    </a:lnL>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Charging speed, ports and wireless charging</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charger, USB-C, charging</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r>
              <a:tr h="742950">
                <a:tc>
                  <a:txBody>
                    <a:bodyPr wrap="square">
                      <a:noAutofit/>
                    </a:bodyPr>
                    <a:lstStyle/>
                    <a:p>
                      <a:r>
                        <a:rPr sz="1725" b="1">
                          <a:solidFill>
                            <a:srgbClr val="26332E"/>
                          </a:solidFill>
                          <a:latin typeface="Arial"/>
                          <a:ea typeface="Arial"/>
                          <a:cs typeface="Arial"/>
                        </a:rPr>
                        <a:t>Camera</a:t>
                      </a:r>
                    </a:p>
                  </a:txBody>
                  <a:tcPr marL="114300" marR="114300" marT="47625" marB="47625" anchor="ctr">
                    <a:lnL w="6668">
                      <a:solidFill>
                        <a:srgbClr val="DCE3DA"/>
                      </a:solidFill>
                      <a:prstDash val="solid"/>
                    </a:lnL>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Photo, video and camera quality</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photos, selfies, video</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r>
              <a:tr h="742950">
                <a:tc>
                  <a:txBody>
                    <a:bodyPr wrap="square">
                      <a:noAutofit/>
                    </a:bodyPr>
                    <a:lstStyle/>
                    <a:p>
                      <a:r>
                        <a:rPr sz="1725" b="1">
                          <a:solidFill>
                            <a:srgbClr val="26332E"/>
                          </a:solidFill>
                          <a:latin typeface="Arial"/>
                          <a:ea typeface="Arial"/>
                          <a:cs typeface="Arial"/>
                        </a:rPr>
                        <a:t>Display</a:t>
                      </a:r>
                    </a:p>
                  </a:txBody>
                  <a:tcPr marL="114300" marR="114300" marT="47625" marB="47625" anchor="ctr">
                    <a:lnL w="6668">
                      <a:solidFill>
                        <a:srgbClr val="DCE3DA"/>
                      </a:solidFill>
                      <a:prstDash val="solid"/>
                    </a:lnL>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Screen brightness, colour and touch response</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screen, AMOLED, resolution</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r>
              <a:tr h="742950">
                <a:tc>
                  <a:txBody>
                    <a:bodyPr wrap="square">
                      <a:noAutofit/>
                    </a:bodyPr>
                    <a:lstStyle/>
                    <a:p>
                      <a:r>
                        <a:rPr sz="1725" b="1">
                          <a:solidFill>
                            <a:srgbClr val="26332E"/>
                          </a:solidFill>
                          <a:latin typeface="Arial"/>
                          <a:ea typeface="Arial"/>
                          <a:cs typeface="Arial"/>
                        </a:rPr>
                        <a:t>Performance</a:t>
                      </a:r>
                    </a:p>
                  </a:txBody>
                  <a:tcPr marL="114300" marR="114300" marT="47625" marB="47625" anchor="ctr">
                    <a:lnL w="6668">
                      <a:solidFill>
                        <a:srgbClr val="DCE3DA"/>
                      </a:solidFill>
                      <a:prstDash val="solid"/>
                    </a:lnL>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Speed, gaming, lag and heat</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lag, gaming, processor, speed</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r>
            </a:tbl>
          </a:graphicData>
        </a:graphic>
      </p:graphicFrame>
    </p:spTree>
    <p:extLst>
      <p:ext uri="{BB962C8B-B14F-4D97-AF65-F5344CB8AC3E}">
        <p14:creationId xmlns:p14="http://schemas.microsoft.com/office/powerpoint/2010/main" val="1657582911"/>
      </p:ext>
    </p:extLst>
  </p:cSld>
</p:sld>
</file>

<file path=ppt/slides/slide6.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6" name="chapter">
            <a:extLst xmlns:a="http://schemas.openxmlformats.org/drawingml/2006/main">
              <a:ext uri="{FF2B5EF4-FFF2-40B4-BE49-F238E27FC236}">
                <a16:creationId xmlns:a16="http://schemas.microsoft.com/office/drawing/2014/main" id="{A8C0F17E-1B59-414A-8FFD-31E0C609C660}"/>
              </a:ext>
            </a:extLst>
          </p:cNvPr>
          <p:cNvSpPr>
            <a:spLocks xmlns:a="http://schemas.openxmlformats.org/drawingml/2006/main" noGrp="1"/>
          </p:cNvSpPr>
          <p:nvPr/>
        </p:nvSpPr>
        <p:spPr>
          <a:xfrm xmlns:a="http://schemas.openxmlformats.org/drawingml/2006/main">
            <a:off x="685800" y="381000"/>
            <a:ext cx="933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39725C"/>
                </a:solidFill>
                <a:latin typeface="Arial"/>
                <a:ea typeface="Arial"/>
                <a:cs typeface="Arial"/>
              </a:defRPr>
            </a:defPPr>
          </a:lstStyle>
          <a:p xmlns:a="http://schemas.openxmlformats.org/drawingml/2006/main">
            <a:pPr algn="l">
              <a:defRPr sz="1200" b="1">
                <a:solidFill>
                  <a:srgbClr val="39725C"/>
                </a:solidFill>
                <a:latin typeface="Arial"/>
                <a:ea typeface="Arial"/>
                <a:cs typeface="Arial"/>
              </a:defRPr>
            </a:pPr>
            <a:r>
              <a:rPr sz="1200" b="1">
                <a:solidFill>
                  <a:srgbClr val="39725C"/>
                </a:solidFill>
                <a:latin typeface="Arial"/>
                <a:ea typeface="Arial"/>
                <a:cs typeface="Arial"/>
              </a:rPr>
              <a:t>LABEL DEFINITIONS</a:t>
            </a:r>
          </a:p>
        </p:txBody>
      </p:sp>
      <p:sp>
        <p:nvSpPr>
          <p:cNvPr id="2" name="primary-heading">
            <a:extLst xmlns:a="http://schemas.openxmlformats.org/drawingml/2006/main">
              <a:ext uri="{FF2B5EF4-FFF2-40B4-BE49-F238E27FC236}">
                <a16:creationId xmlns:a16="http://schemas.microsoft.com/office/drawing/2014/main" id="{F4B220F3-1947-4F8A-BF77-B902805C32CE}"/>
              </a:ext>
            </a:extLst>
          </p:cNvPr>
          <p:cNvSpPr>
            <a:spLocks xmlns:a="http://schemas.openxmlformats.org/drawingml/2006/main" noGrp="1"/>
          </p:cNvSpPr>
          <p:nvPr/>
        </p:nvSpPr>
        <p:spPr>
          <a:xfrm xmlns:a="http://schemas.openxmlformats.org/drawingml/2006/main">
            <a:off x="685800" y="83820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6332E"/>
                </a:solidFill>
                <a:latin typeface="Arial"/>
                <a:ea typeface="Arial"/>
                <a:cs typeface="Arial"/>
              </a:defRPr>
            </a:defPPr>
          </a:lstStyle>
          <a:p xmlns:a="http://schemas.openxmlformats.org/drawingml/2006/main">
            <a:pPr algn="l">
              <a:defRPr sz="3300" b="1">
                <a:solidFill>
                  <a:srgbClr val="26332E"/>
                </a:solidFill>
                <a:latin typeface="Arial"/>
                <a:ea typeface="Arial"/>
                <a:cs typeface="Arial"/>
              </a:defRPr>
            </a:pPr>
            <a:r>
              <a:rPr sz="3300" b="1">
                <a:solidFill>
                  <a:srgbClr val="26332E"/>
                </a:solidFill>
                <a:latin typeface="Arial"/>
                <a:ea typeface="Arial"/>
                <a:cs typeface="Arial"/>
              </a:rPr>
              <a:t>The other five aspect categories</a:t>
            </a:r>
          </a:p>
        </p:txBody>
      </p:sp>
      <p:sp>
        <p:nvSpPr>
          <p:cNvPr id="3" name="footer-label">
            <a:extLst xmlns:a="http://schemas.openxmlformats.org/drawingml/2006/main">
              <a:ext uri="{FF2B5EF4-FFF2-40B4-BE49-F238E27FC236}">
                <a16:creationId xmlns:a16="http://schemas.microsoft.com/office/drawing/2014/main" id="{5D900BFA-FD4F-456A-B3DD-DAF8A5929CE4}"/>
              </a:ext>
            </a:extLst>
          </p:cNvPr>
          <p:cNvSpPr>
            <a:spLocks xmlns:a="http://schemas.openxmlformats.org/drawingml/2006/main" noGrp="1"/>
          </p:cNvSpPr>
          <p:nvPr/>
        </p:nvSpPr>
        <p:spPr>
          <a:xfrm xmlns:a="http://schemas.openxmlformats.org/drawingml/2006/main">
            <a:off x="685800" y="6505575"/>
            <a:ext cx="952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0">
                <a:solidFill>
                  <a:srgbClr val="66736C"/>
                </a:solidFill>
                <a:latin typeface="Arial"/>
                <a:ea typeface="Arial"/>
                <a:cs typeface="Arial"/>
              </a:defRPr>
            </a:defPPr>
          </a:lstStyle>
          <a:p xmlns:a="http://schemas.openxmlformats.org/drawingml/2006/main">
            <a:pPr algn="l">
              <a:defRPr sz="900" b="0">
                <a:solidFill>
                  <a:srgbClr val="66736C"/>
                </a:solidFill>
                <a:latin typeface="Arial"/>
                <a:ea typeface="Arial"/>
                <a:cs typeface="Arial"/>
              </a:defRPr>
            </a:pPr>
            <a:r>
              <a:rPr sz="900" b="0">
                <a:solidFill>
                  <a:srgbClr val="66736C"/>
                </a:solidFill>
                <a:latin typeface="Arial"/>
                <a:ea typeface="Arial"/>
                <a:cs typeface="Arial"/>
              </a:rPr>
              <a:t>ASPECT  /  PROJECT REFERENCE  /  1.0.0</a:t>
            </a:r>
          </a:p>
        </p:txBody>
      </p:sp>
      <p:sp>
        <p:nvSpPr>
          <p:cNvPr id="4" name="page-number">
            <a:extLst xmlns:a="http://schemas.openxmlformats.org/drawingml/2006/main">
              <a:ext uri="{FF2B5EF4-FFF2-40B4-BE49-F238E27FC236}">
                <a16:creationId xmlns:a16="http://schemas.microsoft.com/office/drawing/2014/main" id="{0096A1EB-5058-4FAB-9C6A-D1AC0A3A56CA}"/>
              </a:ext>
            </a:extLst>
          </p:cNvPr>
          <p:cNvSpPr>
            <a:spLocks xmlns:a="http://schemas.openxmlformats.org/drawingml/2006/main" noGrp="1"/>
          </p:cNvSpPr>
          <p:nvPr/>
        </p:nvSpPr>
        <p:spPr>
          <a:xfrm xmlns:a="http://schemas.openxmlformats.org/drawingml/2006/main">
            <a:off x="10620375" y="6505575"/>
            <a:ext cx="8858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a:solidFill>
                  <a:srgbClr val="66736C"/>
                </a:solidFill>
                <a:latin typeface="Arial"/>
                <a:ea typeface="Arial"/>
                <a:cs typeface="Arial"/>
              </a:defRPr>
            </a:defPPr>
          </a:lstStyle>
          <a:p xmlns:a="http://schemas.openxmlformats.org/drawingml/2006/main">
            <a:pPr algn="r">
              <a:defRPr sz="900" b="0">
                <a:solidFill>
                  <a:srgbClr val="66736C"/>
                </a:solidFill>
                <a:latin typeface="Arial"/>
                <a:ea typeface="Arial"/>
                <a:cs typeface="Arial"/>
              </a:defRPr>
            </a:pPr>
            <a:r>
              <a:rPr sz="900" b="0">
                <a:solidFill>
                  <a:srgbClr val="66736C"/>
                </a:solidFill>
                <a:latin typeface="Arial"/>
                <a:ea typeface="Arial"/>
                <a:cs typeface="Arial"/>
              </a:rPr>
              <a:t>06 / 52</a:t>
            </a:r>
          </a:p>
        </p:txBody>
      </p:sp>
      <p:graphicFrame>
        <p:nvGraphicFramePr>
          <p:cNvPr id="5" name="">
            <a:extLst xmlns:a="http://schemas.openxmlformats.org/drawingml/2006/main">
              <a:ext uri="{FF2B5EF4-FFF2-40B4-BE49-F238E27FC236}">
                <a16:creationId xmlns:a16="http://schemas.microsoft.com/office/drawing/2014/main" id="{75A3238A-7158-42B7-BE32-1E056D8A51F9}"/>
              </a:ext>
            </a:extLst>
          </p:cNvPr>
          <p:cNvGraphicFramePr/>
          <p:nvPr/>
        </p:nvGraphicFramePr>
        <p:xfrm>
          <a:off xmlns:a="http://schemas.openxmlformats.org/drawingml/2006/main" x="685800" y="1714500"/>
          <a:ext xmlns:a="http://schemas.openxmlformats.org/drawingml/2006/main" cx="10820400" cy="4133850"/>
        </p:xfrm>
        <a:graphic xmlns:a="http://schemas.openxmlformats.org/drawingml/2006/main">
          <a:graphicData uri="http://schemas.openxmlformats.org/drawingml/2006/table">
            <a:tbl>
              <a:tblPr firstRow="1" firstCol="0" lastCol="0" bandRow="0"/>
              <a:tblGrid>
                <a:gridCol w="1809750"/>
                <a:gridCol w="4714875"/>
                <a:gridCol w="4295775"/>
              </a:tblGrid>
              <a:tr h="419100">
                <a:tc>
                  <a:txBody>
                    <a:bodyPr wrap="square">
                      <a:noAutofit/>
                    </a:bodyPr>
                    <a:lstStyle/>
                    <a:p>
                      <a:r>
                        <a:rPr sz="1650" b="1">
                          <a:solidFill>
                            <a:srgbClr val="FFFFFF"/>
                          </a:solidFill>
                          <a:latin typeface="Arial"/>
                          <a:ea typeface="Arial"/>
                          <a:cs typeface="Arial"/>
                        </a:rPr>
                        <a:t>Category</a:t>
                      </a:r>
                    </a:p>
                  </a:txBody>
                  <a:tcPr marL="114300" marR="114300" marT="47625" marB="47625" anchor="ctr">
                    <a:lnL w="6668">
                      <a:solidFill>
                        <a:srgbClr val="DCE3DA"/>
                      </a:solidFill>
                      <a:prstDash val="solid"/>
                    </a:lnL>
                    <a:lnR w="6668">
                      <a:solidFill>
                        <a:srgbClr val="DCE3DA"/>
                      </a:solidFill>
                      <a:prstDash val="solid"/>
                    </a:lnR>
                    <a:lnT w="6668">
                      <a:solidFill>
                        <a:srgbClr val="DCE3DA"/>
                      </a:solidFill>
                      <a:prstDash val="solid"/>
                    </a:lnT>
                    <a:lnB w="6668">
                      <a:solidFill>
                        <a:srgbClr val="DCE3DA"/>
                      </a:solidFill>
                      <a:prstDash val="solid"/>
                    </a:lnB>
                    <a:solidFill>
                      <a:srgbClr val="39725C"/>
                    </a:solidFill>
                  </a:tcPr>
                </a:tc>
                <a:tc>
                  <a:txBody>
                    <a:bodyPr wrap="square">
                      <a:noAutofit/>
                    </a:bodyPr>
                    <a:lstStyle/>
                    <a:p>
                      <a:r>
                        <a:rPr sz="1650" b="1">
                          <a:solidFill>
                            <a:srgbClr val="FFFFFF"/>
                          </a:solidFill>
                          <a:latin typeface="Arial"/>
                          <a:ea typeface="Arial"/>
                          <a:cs typeface="Arial"/>
                        </a:rPr>
                        <a:t>What belongs here</a:t>
                      </a:r>
                    </a:p>
                  </a:txBody>
                  <a:tcPr marL="114300" marR="114300" marT="47625" marB="47625" anchor="ctr">
                    <a:lnR w="6668">
                      <a:solidFill>
                        <a:srgbClr val="DCE3DA"/>
                      </a:solidFill>
                      <a:prstDash val="solid"/>
                    </a:lnR>
                    <a:lnT w="6668">
                      <a:solidFill>
                        <a:srgbClr val="DCE3DA"/>
                      </a:solidFill>
                      <a:prstDash val="solid"/>
                    </a:lnT>
                    <a:lnB w="6668">
                      <a:solidFill>
                        <a:srgbClr val="DCE3DA"/>
                      </a:solidFill>
                      <a:prstDash val="solid"/>
                    </a:lnB>
                    <a:solidFill>
                      <a:srgbClr val="39725C"/>
                    </a:solidFill>
                  </a:tcPr>
                </a:tc>
                <a:tc>
                  <a:txBody>
                    <a:bodyPr wrap="square">
                      <a:noAutofit/>
                    </a:bodyPr>
                    <a:lstStyle/>
                    <a:p>
                      <a:r>
                        <a:rPr sz="1650" b="1">
                          <a:solidFill>
                            <a:srgbClr val="FFFFFF"/>
                          </a:solidFill>
                          <a:latin typeface="Arial"/>
                          <a:ea typeface="Arial"/>
                          <a:cs typeface="Arial"/>
                        </a:rPr>
                        <a:t>Typical cues</a:t>
                      </a:r>
                    </a:p>
                  </a:txBody>
                  <a:tcPr marL="114300" marR="114300" marT="47625" marB="47625" anchor="ctr">
                    <a:lnR w="6668">
                      <a:solidFill>
                        <a:srgbClr val="DCE3DA"/>
                      </a:solidFill>
                      <a:prstDash val="solid"/>
                    </a:lnR>
                    <a:lnT w="6668">
                      <a:solidFill>
                        <a:srgbClr val="DCE3DA"/>
                      </a:solidFill>
                      <a:prstDash val="solid"/>
                    </a:lnT>
                    <a:lnB w="6668">
                      <a:solidFill>
                        <a:srgbClr val="DCE3DA"/>
                      </a:solidFill>
                      <a:prstDash val="solid"/>
                    </a:lnB>
                    <a:solidFill>
                      <a:srgbClr val="39725C"/>
                    </a:solidFill>
                  </a:tcPr>
                </a:tc>
              </a:tr>
              <a:tr h="742950">
                <a:tc>
                  <a:txBody>
                    <a:bodyPr wrap="square">
                      <a:noAutofit/>
                    </a:bodyPr>
                    <a:lstStyle/>
                    <a:p>
                      <a:r>
                        <a:rPr sz="1725" b="1">
                          <a:solidFill>
                            <a:srgbClr val="26332E"/>
                          </a:solidFill>
                          <a:latin typeface="Arial"/>
                          <a:ea typeface="Arial"/>
                          <a:cs typeface="Arial"/>
                        </a:rPr>
                        <a:t>Software</a:t>
                      </a:r>
                    </a:p>
                  </a:txBody>
                  <a:tcPr marL="114300" marR="114300" marT="47625" marB="47625" anchor="ctr">
                    <a:lnL w="6668">
                      <a:solidFill>
                        <a:srgbClr val="DCE3DA"/>
                      </a:solidFill>
                      <a:prstDash val="solid"/>
                    </a:lnL>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Operating system, interface, updates and bugs</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Android, apps, Bixby, setup</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r>
              <a:tr h="742950">
                <a:tc>
                  <a:txBody>
                    <a:bodyPr wrap="square">
                      <a:noAutofit/>
                    </a:bodyPr>
                    <a:lstStyle/>
                    <a:p>
                      <a:r>
                        <a:rPr sz="1725" b="1">
                          <a:solidFill>
                            <a:srgbClr val="26332E"/>
                          </a:solidFill>
                          <a:latin typeface="Arial"/>
                          <a:ea typeface="Arial"/>
                          <a:cs typeface="Arial"/>
                        </a:rPr>
                        <a:t>Build and design</a:t>
                      </a:r>
                    </a:p>
                  </a:txBody>
                  <a:tcPr marL="114300" marR="114300" marT="47625" marB="47625" anchor="ctr">
                    <a:lnL w="6668">
                      <a:solidFill>
                        <a:srgbClr val="DCE3DA"/>
                      </a:solidFill>
                      <a:prstDash val="solid"/>
                    </a:lnL>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Materials, durability, size and ergonomics</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frame, plastic, buttons, grip</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r>
              <a:tr h="742950">
                <a:tc>
                  <a:txBody>
                    <a:bodyPr wrap="square">
                      <a:noAutofit/>
                    </a:bodyPr>
                    <a:lstStyle/>
                    <a:p>
                      <a:r>
                        <a:rPr sz="1725" b="1">
                          <a:solidFill>
                            <a:srgbClr val="26332E"/>
                          </a:solidFill>
                          <a:latin typeface="Arial"/>
                          <a:ea typeface="Arial"/>
                          <a:cs typeface="Arial"/>
                        </a:rPr>
                        <a:t>Audio</a:t>
                      </a:r>
                    </a:p>
                  </a:txBody>
                  <a:tcPr marL="114300" marR="114300" marT="47625" marB="47625" anchor="ctr">
                    <a:lnL w="6668">
                      <a:solidFill>
                        <a:srgbClr val="DCE3DA"/>
                      </a:solidFill>
                      <a:prstDash val="solid"/>
                    </a:lnL>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Speakers, microphones and calls</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speaker, microphone, volume</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r>
              <a:tr h="742950">
                <a:tc>
                  <a:txBody>
                    <a:bodyPr wrap="square">
                      <a:noAutofit/>
                    </a:bodyPr>
                    <a:lstStyle/>
                    <a:p>
                      <a:r>
                        <a:rPr sz="1725" b="1">
                          <a:solidFill>
                            <a:srgbClr val="26332E"/>
                          </a:solidFill>
                          <a:latin typeface="Arial"/>
                          <a:ea typeface="Arial"/>
                          <a:cs typeface="Arial"/>
                        </a:rPr>
                        <a:t>Connectivity</a:t>
                      </a:r>
                    </a:p>
                  </a:txBody>
                  <a:tcPr marL="114300" marR="114300" marT="47625" marB="47625" anchor="ctr">
                    <a:lnL w="6668">
                      <a:solidFill>
                        <a:srgbClr val="DCE3DA"/>
                      </a:solidFill>
                      <a:prstDash val="solid"/>
                    </a:lnL>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Cellular service, Wi-Fi, Bluetooth and GPS</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signal, SIM, unlocked, carriers</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r>
              <a:tr h="742950">
                <a:tc>
                  <a:txBody>
                    <a:bodyPr wrap="square">
                      <a:noAutofit/>
                    </a:bodyPr>
                    <a:lstStyle/>
                    <a:p>
                      <a:r>
                        <a:rPr sz="1725" b="1">
                          <a:solidFill>
                            <a:srgbClr val="26332E"/>
                          </a:solidFill>
                          <a:latin typeface="Arial"/>
                          <a:ea typeface="Arial"/>
                          <a:cs typeface="Arial"/>
                        </a:rPr>
                        <a:t>Value</a:t>
                      </a:r>
                    </a:p>
                  </a:txBody>
                  <a:tcPr marL="114300" marR="114300" marT="47625" marB="47625" anchor="ctr">
                    <a:lnL w="6668">
                      <a:solidFill>
                        <a:srgbClr val="DCE3DA"/>
                      </a:solidFill>
                      <a:prstDash val="solid"/>
                    </a:lnL>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Affordability and satisfaction with price</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price, worth, expensive, deal</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r>
            </a:tbl>
          </a:graphicData>
        </a:graphic>
      </p:graphicFrame>
    </p:spTree>
    <p:extLst>
      <p:ext uri="{BB962C8B-B14F-4D97-AF65-F5344CB8AC3E}">
        <p14:creationId xmlns:p14="http://schemas.microsoft.com/office/powerpoint/2010/main" val="1106005758"/>
      </p:ext>
    </p:extLst>
  </p:cSld>
</p:sld>
</file>

<file path=ppt/slides/slide7.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6" name="chapter">
            <a:extLst xmlns:a="http://schemas.openxmlformats.org/drawingml/2006/main">
              <a:ext uri="{FF2B5EF4-FFF2-40B4-BE49-F238E27FC236}">
                <a16:creationId xmlns:a16="http://schemas.microsoft.com/office/drawing/2014/main" id="{3256C9F5-2B81-4510-969C-C0AA592503A8}"/>
              </a:ext>
            </a:extLst>
          </p:cNvPr>
          <p:cNvSpPr>
            <a:spLocks xmlns:a="http://schemas.openxmlformats.org/drawingml/2006/main" noGrp="1"/>
          </p:cNvSpPr>
          <p:nvPr/>
        </p:nvSpPr>
        <p:spPr>
          <a:xfrm xmlns:a="http://schemas.openxmlformats.org/drawingml/2006/main">
            <a:off x="685800" y="381000"/>
            <a:ext cx="933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39725C"/>
                </a:solidFill>
                <a:latin typeface="Arial"/>
                <a:ea typeface="Arial"/>
                <a:cs typeface="Arial"/>
              </a:defRPr>
            </a:defPPr>
          </a:lstStyle>
          <a:p xmlns:a="http://schemas.openxmlformats.org/drawingml/2006/main">
            <a:pPr algn="l">
              <a:defRPr sz="1200" b="1">
                <a:solidFill>
                  <a:srgbClr val="39725C"/>
                </a:solidFill>
                <a:latin typeface="Arial"/>
                <a:ea typeface="Arial"/>
                <a:cs typeface="Arial"/>
              </a:defRPr>
            </a:pPr>
            <a:r>
              <a:rPr sz="1200" b="1">
                <a:solidFill>
                  <a:srgbClr val="39725C"/>
                </a:solidFill>
                <a:latin typeface="Arial"/>
                <a:ea typeface="Arial"/>
                <a:cs typeface="Arial"/>
              </a:rPr>
              <a:t>LABEL DEFINITIONS</a:t>
            </a:r>
          </a:p>
        </p:txBody>
      </p:sp>
      <p:sp>
        <p:nvSpPr>
          <p:cNvPr id="2" name="primary-heading">
            <a:extLst xmlns:a="http://schemas.openxmlformats.org/drawingml/2006/main">
              <a:ext uri="{FF2B5EF4-FFF2-40B4-BE49-F238E27FC236}">
                <a16:creationId xmlns:a16="http://schemas.microsoft.com/office/drawing/2014/main" id="{1EF0968F-BA4D-4C39-B428-94DE74A70108}"/>
              </a:ext>
            </a:extLst>
          </p:cNvPr>
          <p:cNvSpPr>
            <a:spLocks xmlns:a="http://schemas.openxmlformats.org/drawingml/2006/main" noGrp="1"/>
          </p:cNvSpPr>
          <p:nvPr/>
        </p:nvSpPr>
        <p:spPr>
          <a:xfrm xmlns:a="http://schemas.openxmlformats.org/drawingml/2006/main">
            <a:off x="685800" y="83820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6332E"/>
                </a:solidFill>
                <a:latin typeface="Arial"/>
                <a:ea typeface="Arial"/>
                <a:cs typeface="Arial"/>
              </a:defRPr>
            </a:defPPr>
          </a:lstStyle>
          <a:p xmlns:a="http://schemas.openxmlformats.org/drawingml/2006/main">
            <a:pPr algn="l">
              <a:defRPr sz="3300" b="1">
                <a:solidFill>
                  <a:srgbClr val="26332E"/>
                </a:solidFill>
                <a:latin typeface="Arial"/>
                <a:ea typeface="Arial"/>
                <a:cs typeface="Arial"/>
              </a:defRPr>
            </a:pPr>
            <a:r>
              <a:rPr sz="3300" b="1">
                <a:solidFill>
                  <a:srgbClr val="26332E"/>
                </a:solidFill>
                <a:latin typeface="Arial"/>
                <a:ea typeface="Arial"/>
                <a:cs typeface="Arial"/>
              </a:rPr>
              <a:t>Five states keep absence separate from neutrality</a:t>
            </a:r>
          </a:p>
        </p:txBody>
      </p:sp>
      <p:sp>
        <p:nvSpPr>
          <p:cNvPr id="3" name="footer-label">
            <a:extLst xmlns:a="http://schemas.openxmlformats.org/drawingml/2006/main">
              <a:ext uri="{FF2B5EF4-FFF2-40B4-BE49-F238E27FC236}">
                <a16:creationId xmlns:a16="http://schemas.microsoft.com/office/drawing/2014/main" id="{A81E7CB0-6BDF-457E-89BC-EC5566705270}"/>
              </a:ext>
            </a:extLst>
          </p:cNvPr>
          <p:cNvSpPr>
            <a:spLocks xmlns:a="http://schemas.openxmlformats.org/drawingml/2006/main" noGrp="1"/>
          </p:cNvSpPr>
          <p:nvPr/>
        </p:nvSpPr>
        <p:spPr>
          <a:xfrm xmlns:a="http://schemas.openxmlformats.org/drawingml/2006/main">
            <a:off x="685800" y="6505575"/>
            <a:ext cx="952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0">
                <a:solidFill>
                  <a:srgbClr val="66736C"/>
                </a:solidFill>
                <a:latin typeface="Arial"/>
                <a:ea typeface="Arial"/>
                <a:cs typeface="Arial"/>
              </a:defRPr>
            </a:defPPr>
          </a:lstStyle>
          <a:p xmlns:a="http://schemas.openxmlformats.org/drawingml/2006/main">
            <a:pPr algn="l">
              <a:defRPr sz="900" b="0">
                <a:solidFill>
                  <a:srgbClr val="66736C"/>
                </a:solidFill>
                <a:latin typeface="Arial"/>
                <a:ea typeface="Arial"/>
                <a:cs typeface="Arial"/>
              </a:defRPr>
            </a:pPr>
            <a:r>
              <a:rPr sz="900" b="0">
                <a:solidFill>
                  <a:srgbClr val="66736C"/>
                </a:solidFill>
                <a:latin typeface="Arial"/>
                <a:ea typeface="Arial"/>
                <a:cs typeface="Arial"/>
              </a:rPr>
              <a:t>ASPECT  /  PROJECT REFERENCE  /  1.0.0</a:t>
            </a:r>
          </a:p>
        </p:txBody>
      </p:sp>
      <p:sp>
        <p:nvSpPr>
          <p:cNvPr id="4" name="page-number">
            <a:extLst xmlns:a="http://schemas.openxmlformats.org/drawingml/2006/main">
              <a:ext uri="{FF2B5EF4-FFF2-40B4-BE49-F238E27FC236}">
                <a16:creationId xmlns:a16="http://schemas.microsoft.com/office/drawing/2014/main" id="{9F172224-301C-418D-AA46-215EA850D645}"/>
              </a:ext>
            </a:extLst>
          </p:cNvPr>
          <p:cNvSpPr>
            <a:spLocks xmlns:a="http://schemas.openxmlformats.org/drawingml/2006/main" noGrp="1"/>
          </p:cNvSpPr>
          <p:nvPr/>
        </p:nvSpPr>
        <p:spPr>
          <a:xfrm xmlns:a="http://schemas.openxmlformats.org/drawingml/2006/main">
            <a:off x="10620375" y="6505575"/>
            <a:ext cx="8858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a:solidFill>
                  <a:srgbClr val="66736C"/>
                </a:solidFill>
                <a:latin typeface="Arial"/>
                <a:ea typeface="Arial"/>
                <a:cs typeface="Arial"/>
              </a:defRPr>
            </a:defPPr>
          </a:lstStyle>
          <a:p xmlns:a="http://schemas.openxmlformats.org/drawingml/2006/main">
            <a:pPr algn="r">
              <a:defRPr sz="900" b="0">
                <a:solidFill>
                  <a:srgbClr val="66736C"/>
                </a:solidFill>
                <a:latin typeface="Arial"/>
                <a:ea typeface="Arial"/>
                <a:cs typeface="Arial"/>
              </a:defRPr>
            </a:pPr>
            <a:r>
              <a:rPr sz="900" b="0">
                <a:solidFill>
                  <a:srgbClr val="66736C"/>
                </a:solidFill>
                <a:latin typeface="Arial"/>
                <a:ea typeface="Arial"/>
                <a:cs typeface="Arial"/>
              </a:rPr>
              <a:t>07 / 52</a:t>
            </a:r>
          </a:p>
        </p:txBody>
      </p:sp>
      <p:graphicFrame>
        <p:nvGraphicFramePr>
          <p:cNvPr id="5" name="">
            <a:extLst xmlns:a="http://schemas.openxmlformats.org/drawingml/2006/main">
              <a:ext uri="{FF2B5EF4-FFF2-40B4-BE49-F238E27FC236}">
                <a16:creationId xmlns:a16="http://schemas.microsoft.com/office/drawing/2014/main" id="{A1DE0603-8CBA-4A53-B52F-67DC14E7AB1A}"/>
              </a:ext>
            </a:extLst>
          </p:cNvPr>
          <p:cNvGraphicFramePr/>
          <p:nvPr/>
        </p:nvGraphicFramePr>
        <p:xfrm>
          <a:off xmlns:a="http://schemas.openxmlformats.org/drawingml/2006/main" x="685800" y="1714500"/>
          <a:ext xmlns:a="http://schemas.openxmlformats.org/drawingml/2006/main" cx="10820400" cy="4086225"/>
        </p:xfrm>
        <a:graphic xmlns:a="http://schemas.openxmlformats.org/drawingml/2006/main">
          <a:graphicData uri="http://schemas.openxmlformats.org/drawingml/2006/table">
            <a:tbl>
              <a:tblPr firstRow="1" firstCol="0" lastCol="0" bandRow="0"/>
              <a:tblGrid>
                <a:gridCol w="1619250"/>
                <a:gridCol w="4048125"/>
                <a:gridCol w="5153025"/>
              </a:tblGrid>
              <a:tr h="419100">
                <a:tc>
                  <a:txBody>
                    <a:bodyPr wrap="square">
                      <a:noAutofit/>
                    </a:bodyPr>
                    <a:lstStyle/>
                    <a:p>
                      <a:r>
                        <a:rPr sz="1650" b="1">
                          <a:solidFill>
                            <a:srgbClr val="FFFFFF"/>
                          </a:solidFill>
                          <a:latin typeface="Arial"/>
                          <a:ea typeface="Arial"/>
                          <a:cs typeface="Arial"/>
                        </a:rPr>
                        <a:t>State</a:t>
                      </a:r>
                    </a:p>
                  </a:txBody>
                  <a:tcPr marL="114300" marR="114300" marT="47625" marB="47625" anchor="ctr">
                    <a:lnL w="6668">
                      <a:solidFill>
                        <a:srgbClr val="DCE3DA"/>
                      </a:solidFill>
                      <a:prstDash val="solid"/>
                    </a:lnL>
                    <a:lnR w="6668">
                      <a:solidFill>
                        <a:srgbClr val="DCE3DA"/>
                      </a:solidFill>
                      <a:prstDash val="solid"/>
                    </a:lnR>
                    <a:lnT w="6668">
                      <a:solidFill>
                        <a:srgbClr val="DCE3DA"/>
                      </a:solidFill>
                      <a:prstDash val="solid"/>
                    </a:lnT>
                    <a:lnB w="6668">
                      <a:solidFill>
                        <a:srgbClr val="DCE3DA"/>
                      </a:solidFill>
                      <a:prstDash val="solid"/>
                    </a:lnB>
                    <a:solidFill>
                      <a:srgbClr val="39725C"/>
                    </a:solidFill>
                  </a:tcPr>
                </a:tc>
                <a:tc>
                  <a:txBody>
                    <a:bodyPr wrap="square">
                      <a:noAutofit/>
                    </a:bodyPr>
                    <a:lstStyle/>
                    <a:p>
                      <a:r>
                        <a:rPr sz="1650" b="1">
                          <a:solidFill>
                            <a:srgbClr val="FFFFFF"/>
                          </a:solidFill>
                          <a:latin typeface="Arial"/>
                          <a:ea typeface="Arial"/>
                          <a:cs typeface="Arial"/>
                        </a:rPr>
                        <a:t>Meaning</a:t>
                      </a:r>
                    </a:p>
                  </a:txBody>
                  <a:tcPr marL="114300" marR="114300" marT="47625" marB="47625" anchor="ctr">
                    <a:lnR w="6668">
                      <a:solidFill>
                        <a:srgbClr val="DCE3DA"/>
                      </a:solidFill>
                      <a:prstDash val="solid"/>
                    </a:lnR>
                    <a:lnT w="6668">
                      <a:solidFill>
                        <a:srgbClr val="DCE3DA"/>
                      </a:solidFill>
                      <a:prstDash val="solid"/>
                    </a:lnT>
                    <a:lnB w="6668">
                      <a:solidFill>
                        <a:srgbClr val="DCE3DA"/>
                      </a:solidFill>
                      <a:prstDash val="solid"/>
                    </a:lnB>
                    <a:solidFill>
                      <a:srgbClr val="39725C"/>
                    </a:solidFill>
                  </a:tcPr>
                </a:tc>
                <a:tc>
                  <a:txBody>
                    <a:bodyPr wrap="square">
                      <a:noAutofit/>
                    </a:bodyPr>
                    <a:lstStyle/>
                    <a:p>
                      <a:r>
                        <a:rPr sz="1650" b="1">
                          <a:solidFill>
                            <a:srgbClr val="FFFFFF"/>
                          </a:solidFill>
                          <a:latin typeface="Arial"/>
                          <a:ea typeface="Arial"/>
                          <a:cs typeface="Arial"/>
                        </a:rPr>
                        <a:t>Illustrative example</a:t>
                      </a:r>
                    </a:p>
                  </a:txBody>
                  <a:tcPr marL="114300" marR="114300" marT="47625" marB="47625" anchor="ctr">
                    <a:lnR w="6668">
                      <a:solidFill>
                        <a:srgbClr val="DCE3DA"/>
                      </a:solidFill>
                      <a:prstDash val="solid"/>
                    </a:lnR>
                    <a:lnT w="6668">
                      <a:solidFill>
                        <a:srgbClr val="DCE3DA"/>
                      </a:solidFill>
                      <a:prstDash val="solid"/>
                    </a:lnT>
                    <a:lnB w="6668">
                      <a:solidFill>
                        <a:srgbClr val="DCE3DA"/>
                      </a:solidFill>
                      <a:prstDash val="solid"/>
                    </a:lnB>
                    <a:solidFill>
                      <a:srgbClr val="39725C"/>
                    </a:solidFill>
                  </a:tcPr>
                </a:tc>
              </a:tr>
              <a:tr h="733425">
                <a:tc>
                  <a:txBody>
                    <a:bodyPr wrap="square">
                      <a:noAutofit/>
                    </a:bodyPr>
                    <a:lstStyle/>
                    <a:p>
                      <a:r>
                        <a:rPr sz="1725" b="1">
                          <a:solidFill>
                            <a:srgbClr val="26332E"/>
                          </a:solidFill>
                          <a:latin typeface="Arial"/>
                          <a:ea typeface="Arial"/>
                          <a:cs typeface="Arial"/>
                        </a:rPr>
                        <a:t>Absent</a:t>
                      </a:r>
                    </a:p>
                  </a:txBody>
                  <a:tcPr marL="114300" marR="114300" marT="47625" marB="47625" anchor="ctr">
                    <a:lnL w="6668">
                      <a:solidFill>
                        <a:srgbClr val="DCE3DA"/>
                      </a:solidFill>
                      <a:prstDash val="solid"/>
                    </a:lnL>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The category is not mentioned.</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“Great phone” does not name a battery aspect.</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r>
              <a:tr h="733425">
                <a:tc>
                  <a:txBody>
                    <a:bodyPr wrap="square">
                      <a:noAutofit/>
                    </a:bodyPr>
                    <a:lstStyle/>
                    <a:p>
                      <a:r>
                        <a:rPr sz="1725" b="1">
                          <a:solidFill>
                            <a:srgbClr val="26332E"/>
                          </a:solidFill>
                          <a:latin typeface="Arial"/>
                          <a:ea typeface="Arial"/>
                          <a:cs typeface="Arial"/>
                        </a:rPr>
                        <a:t>Positive</a:t>
                      </a:r>
                    </a:p>
                  </a:txBody>
                  <a:tcPr marL="114300" marR="114300" marT="47625" marB="47625" anchor="ctr">
                    <a:lnL w="6668">
                      <a:solidFill>
                        <a:srgbClr val="DCE3DA"/>
                      </a:solidFill>
                      <a:prstDash val="solid"/>
                    </a:lnL>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The text expresses a favourable opinion.</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“The screen is excellent.”</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r>
              <a:tr h="733425">
                <a:tc>
                  <a:txBody>
                    <a:bodyPr wrap="square">
                      <a:noAutofit/>
                    </a:bodyPr>
                    <a:lstStyle/>
                    <a:p>
                      <a:r>
                        <a:rPr sz="1725" b="1">
                          <a:solidFill>
                            <a:srgbClr val="26332E"/>
                          </a:solidFill>
                          <a:latin typeface="Arial"/>
                          <a:ea typeface="Arial"/>
                          <a:cs typeface="Arial"/>
                        </a:rPr>
                        <a:t>Negative</a:t>
                      </a:r>
                    </a:p>
                  </a:txBody>
                  <a:tcPr marL="114300" marR="114300" marT="47625" marB="47625" anchor="ctr">
                    <a:lnL w="6668">
                      <a:solidFill>
                        <a:srgbClr val="DCE3DA"/>
                      </a:solidFill>
                      <a:prstDash val="solid"/>
                    </a:lnL>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The text expresses an unfavourable opinion.</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“The camera is awful.”</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r>
              <a:tr h="733425">
                <a:tc>
                  <a:txBody>
                    <a:bodyPr wrap="square">
                      <a:noAutofit/>
                    </a:bodyPr>
                    <a:lstStyle/>
                    <a:p>
                      <a:r>
                        <a:rPr sz="1725" b="1">
                          <a:solidFill>
                            <a:srgbClr val="26332E"/>
                          </a:solidFill>
                          <a:latin typeface="Arial"/>
                          <a:ea typeface="Arial"/>
                          <a:cs typeface="Arial"/>
                        </a:rPr>
                        <a:t>Neutral</a:t>
                      </a:r>
                    </a:p>
                  </a:txBody>
                  <a:tcPr marL="114300" marR="114300" marT="47625" marB="47625" anchor="ctr">
                    <a:lnL w="6668">
                      <a:solidFill>
                        <a:srgbClr val="DCE3DA"/>
                      </a:solidFill>
                      <a:prstDash val="solid"/>
                    </a:lnL>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The category appears as a fact without an opinion.</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“It has a USB-C charging port.”</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r>
              <a:tr h="733425">
                <a:tc>
                  <a:txBody>
                    <a:bodyPr wrap="square">
                      <a:noAutofit/>
                    </a:bodyPr>
                    <a:lstStyle/>
                    <a:p>
                      <a:r>
                        <a:rPr sz="1725" b="1">
                          <a:solidFill>
                            <a:srgbClr val="26332E"/>
                          </a:solidFill>
                          <a:latin typeface="Arial"/>
                          <a:ea typeface="Arial"/>
                          <a:cs typeface="Arial"/>
                        </a:rPr>
                        <a:t>Mixed</a:t>
                      </a:r>
                    </a:p>
                  </a:txBody>
                  <a:tcPr marL="114300" marR="114300" marT="47625" marB="47625" anchor="ctr">
                    <a:lnL w="6668">
                      <a:solidFill>
                        <a:srgbClr val="DCE3DA"/>
                      </a:solidFill>
                      <a:prstDash val="solid"/>
                    </a:lnL>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The same category has opposing opinions.</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“Daylight photos are good, night shots are bad.”</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r>
            </a:tbl>
          </a:graphicData>
        </a:graphic>
      </p:graphicFrame>
    </p:spTree>
    <p:extLst>
      <p:ext uri="{BB962C8B-B14F-4D97-AF65-F5344CB8AC3E}">
        <p14:creationId xmlns:p14="http://schemas.microsoft.com/office/powerpoint/2010/main" val="1077024709"/>
      </p:ext>
    </p:extLst>
  </p:cSld>
</p:sld>
</file>

<file path=ppt/slides/slide8.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8" name="chapter">
            <a:extLst xmlns:a="http://schemas.openxmlformats.org/drawingml/2006/main">
              <a:ext uri="{FF2B5EF4-FFF2-40B4-BE49-F238E27FC236}">
                <a16:creationId xmlns:a16="http://schemas.microsoft.com/office/drawing/2014/main" id="{1B205DA8-8C2E-45F8-83F2-A4955571A2A8}"/>
              </a:ext>
            </a:extLst>
          </p:cNvPr>
          <p:cNvSpPr>
            <a:spLocks xmlns:a="http://schemas.openxmlformats.org/drawingml/2006/main" noGrp="1"/>
          </p:cNvSpPr>
          <p:nvPr/>
        </p:nvSpPr>
        <p:spPr>
          <a:xfrm xmlns:a="http://schemas.openxmlformats.org/drawingml/2006/main">
            <a:off x="685800" y="381000"/>
            <a:ext cx="933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39725C"/>
                </a:solidFill>
                <a:latin typeface="Arial"/>
                <a:ea typeface="Arial"/>
                <a:cs typeface="Arial"/>
              </a:defRPr>
            </a:defPPr>
          </a:lstStyle>
          <a:p xmlns:a="http://schemas.openxmlformats.org/drawingml/2006/main">
            <a:pPr algn="l">
              <a:defRPr sz="1200" b="1">
                <a:solidFill>
                  <a:srgbClr val="39725C"/>
                </a:solidFill>
                <a:latin typeface="Arial"/>
                <a:ea typeface="Arial"/>
                <a:cs typeface="Arial"/>
              </a:defRPr>
            </a:pPr>
            <a:r>
              <a:rPr sz="1200" b="1">
                <a:solidFill>
                  <a:srgbClr val="39725C"/>
                </a:solidFill>
                <a:latin typeface="Arial"/>
                <a:ea typeface="Arial"/>
                <a:cs typeface="Arial"/>
              </a:rPr>
              <a:t>THE DATASET</a:t>
            </a:r>
          </a:p>
        </p:txBody>
      </p:sp>
      <p:sp>
        <p:nvSpPr>
          <p:cNvPr id="2" name="primary-heading">
            <a:extLst xmlns:a="http://schemas.openxmlformats.org/drawingml/2006/main">
              <a:ext uri="{FF2B5EF4-FFF2-40B4-BE49-F238E27FC236}">
                <a16:creationId xmlns:a16="http://schemas.microsoft.com/office/drawing/2014/main" id="{48F938CB-72A9-4866-B883-5E615BF88A45}"/>
              </a:ext>
            </a:extLst>
          </p:cNvPr>
          <p:cNvSpPr>
            <a:spLocks xmlns:a="http://schemas.openxmlformats.org/drawingml/2006/main" noGrp="1"/>
          </p:cNvSpPr>
          <p:nvPr/>
        </p:nvSpPr>
        <p:spPr>
          <a:xfrm xmlns:a="http://schemas.openxmlformats.org/drawingml/2006/main">
            <a:off x="685800" y="83820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6332E"/>
                </a:solidFill>
                <a:latin typeface="Arial"/>
                <a:ea typeface="Arial"/>
                <a:cs typeface="Arial"/>
              </a:defRPr>
            </a:defPPr>
          </a:lstStyle>
          <a:p xmlns:a="http://schemas.openxmlformats.org/drawingml/2006/main">
            <a:pPr algn="l">
              <a:defRPr sz="3300" b="1">
                <a:solidFill>
                  <a:srgbClr val="26332E"/>
                </a:solidFill>
                <a:latin typeface="Arial"/>
                <a:ea typeface="Arial"/>
                <a:cs typeface="Arial"/>
              </a:defRPr>
            </a:pPr>
            <a:r>
              <a:rPr sz="3300" b="1">
                <a:solidFill>
                  <a:srgbClr val="26332E"/>
                </a:solidFill>
                <a:latin typeface="Arial"/>
                <a:ea typeface="Arial"/>
                <a:cs typeface="Arial"/>
              </a:rPr>
              <a:t>The source contains reviews and product listings</a:t>
            </a:r>
          </a:p>
        </p:txBody>
      </p:sp>
      <p:sp>
        <p:nvSpPr>
          <p:cNvPr id="3" name="footer-label">
            <a:extLst xmlns:a="http://schemas.openxmlformats.org/drawingml/2006/main">
              <a:ext uri="{FF2B5EF4-FFF2-40B4-BE49-F238E27FC236}">
                <a16:creationId xmlns:a16="http://schemas.microsoft.com/office/drawing/2014/main" id="{03708F14-59CA-4377-9AF2-3ADBB7A47099}"/>
              </a:ext>
            </a:extLst>
          </p:cNvPr>
          <p:cNvSpPr>
            <a:spLocks xmlns:a="http://schemas.openxmlformats.org/drawingml/2006/main" noGrp="1"/>
          </p:cNvSpPr>
          <p:nvPr/>
        </p:nvSpPr>
        <p:spPr>
          <a:xfrm xmlns:a="http://schemas.openxmlformats.org/drawingml/2006/main">
            <a:off x="685800" y="6505575"/>
            <a:ext cx="952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0">
                <a:solidFill>
                  <a:srgbClr val="66736C"/>
                </a:solidFill>
                <a:latin typeface="Arial"/>
                <a:ea typeface="Arial"/>
                <a:cs typeface="Arial"/>
              </a:defRPr>
            </a:defPPr>
          </a:lstStyle>
          <a:p xmlns:a="http://schemas.openxmlformats.org/drawingml/2006/main">
            <a:pPr algn="l">
              <a:defRPr sz="900" b="0">
                <a:solidFill>
                  <a:srgbClr val="66736C"/>
                </a:solidFill>
                <a:latin typeface="Arial"/>
                <a:ea typeface="Arial"/>
                <a:cs typeface="Arial"/>
              </a:defRPr>
            </a:pPr>
            <a:r>
              <a:rPr sz="900" b="0">
                <a:solidFill>
                  <a:srgbClr val="66736C"/>
                </a:solidFill>
                <a:latin typeface="Arial"/>
                <a:ea typeface="Arial"/>
                <a:cs typeface="Arial"/>
              </a:rPr>
              <a:t>ASPECT  /  PROJECT REFERENCE  /  1.0.0</a:t>
            </a:r>
          </a:p>
        </p:txBody>
      </p:sp>
      <p:sp>
        <p:nvSpPr>
          <p:cNvPr id="4" name="page-number">
            <a:extLst xmlns:a="http://schemas.openxmlformats.org/drawingml/2006/main">
              <a:ext uri="{FF2B5EF4-FFF2-40B4-BE49-F238E27FC236}">
                <a16:creationId xmlns:a16="http://schemas.microsoft.com/office/drawing/2014/main" id="{ECFC5DEF-4373-4867-B716-BDA1A6257AF5}"/>
              </a:ext>
            </a:extLst>
          </p:cNvPr>
          <p:cNvSpPr>
            <a:spLocks xmlns:a="http://schemas.openxmlformats.org/drawingml/2006/main" noGrp="1"/>
          </p:cNvSpPr>
          <p:nvPr/>
        </p:nvSpPr>
        <p:spPr>
          <a:xfrm xmlns:a="http://schemas.openxmlformats.org/drawingml/2006/main">
            <a:off x="10620375" y="6505575"/>
            <a:ext cx="8858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a:solidFill>
                  <a:srgbClr val="66736C"/>
                </a:solidFill>
                <a:latin typeface="Arial"/>
                <a:ea typeface="Arial"/>
                <a:cs typeface="Arial"/>
              </a:defRPr>
            </a:defPPr>
          </a:lstStyle>
          <a:p xmlns:a="http://schemas.openxmlformats.org/drawingml/2006/main">
            <a:pPr algn="r">
              <a:defRPr sz="900" b="0">
                <a:solidFill>
                  <a:srgbClr val="66736C"/>
                </a:solidFill>
                <a:latin typeface="Arial"/>
                <a:ea typeface="Arial"/>
                <a:cs typeface="Arial"/>
              </a:defRPr>
            </a:pPr>
            <a:r>
              <a:rPr sz="900" b="0">
                <a:solidFill>
                  <a:srgbClr val="66736C"/>
                </a:solidFill>
                <a:latin typeface="Arial"/>
                <a:ea typeface="Arial"/>
                <a:cs typeface="Arial"/>
              </a:rPr>
              <a:t>08 / 52</a:t>
            </a:r>
          </a:p>
        </p:txBody>
      </p:sp>
      <p:sp>
        <p:nvSpPr>
          <p:cNvPr id="5" name="lead">
            <a:extLst xmlns:a="http://schemas.openxmlformats.org/drawingml/2006/main">
              <a:ext uri="{FF2B5EF4-FFF2-40B4-BE49-F238E27FC236}">
                <a16:creationId xmlns:a16="http://schemas.microsoft.com/office/drawing/2014/main" id="{27A71F1D-00BE-4B8D-9AB2-F058A43E421B}"/>
              </a:ext>
            </a:extLst>
          </p:cNvPr>
          <p:cNvSpPr>
            <a:spLocks xmlns:a="http://schemas.openxmlformats.org/drawingml/2006/main" noGrp="1"/>
          </p:cNvSpPr>
          <p:nvPr/>
        </p:nvSpPr>
        <p:spPr>
          <a:xfrm xmlns:a="http://schemas.openxmlformats.org/drawingml/2006/main">
            <a:off x="685800" y="1524000"/>
            <a:ext cx="10820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66736C"/>
                </a:solidFill>
                <a:latin typeface="Arial"/>
                <a:ea typeface="Arial"/>
                <a:cs typeface="Arial"/>
              </a:defRPr>
            </a:defPPr>
          </a:lstStyle>
          <a:p xmlns:a="http://schemas.openxmlformats.org/drawingml/2006/main">
            <a:pPr algn="l">
              <a:defRPr sz="1800" b="0">
                <a:solidFill>
                  <a:srgbClr val="66736C"/>
                </a:solidFill>
                <a:latin typeface="Arial"/>
                <a:ea typeface="Arial"/>
                <a:cs typeface="Arial"/>
              </a:defRPr>
            </a:pPr>
            <a:r>
              <a:rPr sz="1800" b="0">
                <a:solidFill>
                  <a:srgbClr val="66736C"/>
                </a:solidFill>
                <a:latin typeface="Arial"/>
                <a:ea typeface="Arial"/>
                <a:cs typeface="Arial"/>
              </a:rPr>
              <a:t>Griko Nibras, Amazon Cell Phones Reviews, fixed version 2. Source metadata declares CC0.</a:t>
            </a:r>
          </a:p>
        </p:txBody>
      </p:sp>
      <p:sp>
        <p:nvSpPr>
          <p:cNvPr id="6" name="context-note">
            <a:extLst xmlns:a="http://schemas.openxmlformats.org/drawingml/2006/main">
              <a:ext uri="{FF2B5EF4-FFF2-40B4-BE49-F238E27FC236}">
                <a16:creationId xmlns:a16="http://schemas.microsoft.com/office/drawing/2014/main" id="{6708D48C-DC7F-4C45-AE51-E17C86012087}"/>
              </a:ext>
            </a:extLst>
          </p:cNvPr>
          <p:cNvSpPr>
            <a:spLocks xmlns:a="http://schemas.openxmlformats.org/drawingml/2006/main" noGrp="1"/>
          </p:cNvSpPr>
          <p:nvPr/>
        </p:nvSpPr>
        <p:spPr>
          <a:xfrm xmlns:a="http://schemas.openxmlformats.org/drawingml/2006/main">
            <a:off x="685800" y="5924550"/>
            <a:ext cx="108204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39725C"/>
                </a:solidFill>
                <a:latin typeface="Arial"/>
                <a:ea typeface="Arial"/>
                <a:cs typeface="Arial"/>
              </a:defRPr>
            </a:defPPr>
          </a:lstStyle>
          <a:p xmlns:a="http://schemas.openxmlformats.org/drawingml/2006/main">
            <a:pPr algn="l">
              <a:defRPr sz="1725" b="0">
                <a:solidFill>
                  <a:srgbClr val="39725C"/>
                </a:solidFill>
                <a:latin typeface="Arial"/>
                <a:ea typeface="Arial"/>
                <a:cs typeface="Arial"/>
              </a:defRPr>
            </a:pPr>
            <a:r>
              <a:rPr sz="1725" b="0">
                <a:solidFill>
                  <a:srgbClr val="39725C"/>
                </a:solidFill>
                <a:latin typeface="Arial"/>
                <a:ea typeface="Arial"/>
                <a:cs typeface="Arial"/>
              </a:rPr>
              <a:t>The source spans 2003–2019 and includes feature phones and renewed listings. It has no ABSA gold labels.</a:t>
            </a:r>
          </a:p>
        </p:txBody>
      </p:sp>
      <p:graphicFrame>
        <p:nvGraphicFramePr>
          <p:cNvPr id="7" name="">
            <a:extLst xmlns:a="http://schemas.openxmlformats.org/drawingml/2006/main">
              <a:ext uri="{FF2B5EF4-FFF2-40B4-BE49-F238E27FC236}">
                <a16:creationId xmlns:a16="http://schemas.microsoft.com/office/drawing/2014/main" id="{C129FAC3-69E9-4611-935B-B8D5BE7AA352}"/>
              </a:ext>
            </a:extLst>
          </p:cNvPr>
          <p:cNvGraphicFramePr/>
          <p:nvPr/>
        </p:nvGraphicFramePr>
        <p:xfrm>
          <a:off xmlns:a="http://schemas.openxmlformats.org/drawingml/2006/main" x="685800" y="2114550"/>
          <a:ext xmlns:a="http://schemas.openxmlformats.org/drawingml/2006/main" cx="10820400" cy="2552700"/>
        </p:xfrm>
        <a:graphic xmlns:a="http://schemas.openxmlformats.org/drawingml/2006/main">
          <a:graphicData uri="http://schemas.openxmlformats.org/drawingml/2006/table">
            <a:tbl>
              <a:tblPr firstRow="1" firstCol="0" lastCol="0" bandRow="0"/>
              <a:tblGrid>
                <a:gridCol w="3238500"/>
                <a:gridCol w="2000250"/>
                <a:gridCol w="5581650"/>
              </a:tblGrid>
              <a:tr h="419100">
                <a:tc>
                  <a:txBody>
                    <a:bodyPr wrap="square">
                      <a:noAutofit/>
                    </a:bodyPr>
                    <a:lstStyle/>
                    <a:p>
                      <a:r>
                        <a:rPr sz="1650" b="1">
                          <a:solidFill>
                            <a:srgbClr val="FFFFFF"/>
                          </a:solidFill>
                          <a:latin typeface="Arial"/>
                          <a:ea typeface="Arial"/>
                          <a:cs typeface="Arial"/>
                        </a:rPr>
                        <a:t>Source file</a:t>
                      </a:r>
                    </a:p>
                  </a:txBody>
                  <a:tcPr marL="114300" marR="114300" marT="47625" marB="47625" anchor="ctr">
                    <a:lnL w="6668">
                      <a:solidFill>
                        <a:srgbClr val="DCE3DA"/>
                      </a:solidFill>
                      <a:prstDash val="solid"/>
                    </a:lnL>
                    <a:lnR w="6668">
                      <a:solidFill>
                        <a:srgbClr val="DCE3DA"/>
                      </a:solidFill>
                      <a:prstDash val="solid"/>
                    </a:lnR>
                    <a:lnT w="6668">
                      <a:solidFill>
                        <a:srgbClr val="DCE3DA"/>
                      </a:solidFill>
                      <a:prstDash val="solid"/>
                    </a:lnT>
                    <a:lnB w="6668">
                      <a:solidFill>
                        <a:srgbClr val="DCE3DA"/>
                      </a:solidFill>
                      <a:prstDash val="solid"/>
                    </a:lnB>
                    <a:solidFill>
                      <a:srgbClr val="39725C"/>
                    </a:solidFill>
                  </a:tcPr>
                </a:tc>
                <a:tc>
                  <a:txBody>
                    <a:bodyPr wrap="square">
                      <a:noAutofit/>
                    </a:bodyPr>
                    <a:lstStyle/>
                    <a:p>
                      <a:r>
                        <a:rPr sz="1650" b="1">
                          <a:solidFill>
                            <a:srgbClr val="FFFFFF"/>
                          </a:solidFill>
                          <a:latin typeface="Arial"/>
                          <a:ea typeface="Arial"/>
                          <a:cs typeface="Arial"/>
                        </a:rPr>
                        <a:t>Rows</a:t>
                      </a:r>
                    </a:p>
                  </a:txBody>
                  <a:tcPr marL="114300" marR="114300" marT="47625" marB="47625" anchor="ctr">
                    <a:lnR w="6668">
                      <a:solidFill>
                        <a:srgbClr val="DCE3DA"/>
                      </a:solidFill>
                      <a:prstDash val="solid"/>
                    </a:lnR>
                    <a:lnT w="6668">
                      <a:solidFill>
                        <a:srgbClr val="DCE3DA"/>
                      </a:solidFill>
                      <a:prstDash val="solid"/>
                    </a:lnT>
                    <a:lnB w="6668">
                      <a:solidFill>
                        <a:srgbClr val="DCE3DA"/>
                      </a:solidFill>
                      <a:prstDash val="solid"/>
                    </a:lnB>
                    <a:solidFill>
                      <a:srgbClr val="39725C"/>
                    </a:solidFill>
                  </a:tcPr>
                </a:tc>
                <a:tc>
                  <a:txBody>
                    <a:bodyPr wrap="square">
                      <a:noAutofit/>
                    </a:bodyPr>
                    <a:lstStyle/>
                    <a:p>
                      <a:r>
                        <a:rPr sz="1650" b="1">
                          <a:solidFill>
                            <a:srgbClr val="FFFFFF"/>
                          </a:solidFill>
                          <a:latin typeface="Arial"/>
                          <a:ea typeface="Arial"/>
                          <a:cs typeface="Arial"/>
                        </a:rPr>
                        <a:t>Useful fields</a:t>
                      </a:r>
                    </a:p>
                  </a:txBody>
                  <a:tcPr marL="114300" marR="114300" marT="47625" marB="47625" anchor="ctr">
                    <a:lnR w="6668">
                      <a:solidFill>
                        <a:srgbClr val="DCE3DA"/>
                      </a:solidFill>
                      <a:prstDash val="solid"/>
                    </a:lnR>
                    <a:lnT w="6668">
                      <a:solidFill>
                        <a:srgbClr val="DCE3DA"/>
                      </a:solidFill>
                      <a:prstDash val="solid"/>
                    </a:lnT>
                    <a:lnB w="6668">
                      <a:solidFill>
                        <a:srgbClr val="DCE3DA"/>
                      </a:solidFill>
                      <a:prstDash val="solid"/>
                    </a:lnB>
                    <a:solidFill>
                      <a:srgbClr val="39725C"/>
                    </a:solidFill>
                  </a:tcPr>
                </a:tc>
              </a:tr>
              <a:tr h="1066800">
                <a:tc>
                  <a:txBody>
                    <a:bodyPr wrap="square">
                      <a:noAutofit/>
                    </a:bodyPr>
                    <a:lstStyle/>
                    <a:p>
                      <a:r>
                        <a:rPr sz="1725" b="1">
                          <a:solidFill>
                            <a:srgbClr val="26332E"/>
                          </a:solidFill>
                          <a:latin typeface="Arial"/>
                          <a:ea typeface="Arial"/>
                          <a:cs typeface="Arial"/>
                        </a:rPr>
                        <a:t>20191226-items.csv</a:t>
                      </a:r>
                    </a:p>
                  </a:txBody>
                  <a:tcPr marL="114300" marR="114300" marT="47625" marB="47625" anchor="ctr">
                    <a:lnL w="6668">
                      <a:solidFill>
                        <a:srgbClr val="DCE3DA"/>
                      </a:solidFill>
                      <a:prstDash val="solid"/>
                    </a:lnL>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720 listings</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ASIN, brand, title, product links and listing metadata</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r>
              <a:tr h="1066800">
                <a:tc>
                  <a:txBody>
                    <a:bodyPr wrap="square">
                      <a:noAutofit/>
                    </a:bodyPr>
                    <a:lstStyle/>
                    <a:p>
                      <a:r>
                        <a:rPr sz="1725" b="1">
                          <a:solidFill>
                            <a:srgbClr val="26332E"/>
                          </a:solidFill>
                          <a:latin typeface="Arial"/>
                          <a:ea typeface="Arial"/>
                          <a:cs typeface="Arial"/>
                        </a:rPr>
                        <a:t>20191226-reviews.csv</a:t>
                      </a:r>
                    </a:p>
                  </a:txBody>
                  <a:tcPr marL="114300" marR="114300" marT="47625" marB="47625" anchor="ctr">
                    <a:lnL w="6668">
                      <a:solidFill>
                        <a:srgbClr val="DCE3DA"/>
                      </a:solidFill>
                      <a:prstDash val="solid"/>
                    </a:lnL>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67,986 reviews</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ASIN, body, rating, date, title and verification metadata</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r>
            </a:tbl>
          </a:graphicData>
        </a:graphic>
      </p:graphicFrame>
    </p:spTree>
    <p:extLst>
      <p:ext uri="{BB962C8B-B14F-4D97-AF65-F5344CB8AC3E}">
        <p14:creationId xmlns:p14="http://schemas.microsoft.com/office/powerpoint/2010/main" val="262451484"/>
      </p:ext>
    </p:extLst>
  </p:cSld>
</p:sld>
</file>

<file path=ppt/slides/slide9.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11" name="chapter">
            <a:extLst xmlns:a="http://schemas.openxmlformats.org/drawingml/2006/main">
              <a:ext uri="{FF2B5EF4-FFF2-40B4-BE49-F238E27FC236}">
                <a16:creationId xmlns:a16="http://schemas.microsoft.com/office/drawing/2014/main" id="{B4CAE0FA-987D-427A-8463-EF1A78895582}"/>
              </a:ext>
            </a:extLst>
          </p:cNvPr>
          <p:cNvSpPr>
            <a:spLocks xmlns:a="http://schemas.openxmlformats.org/drawingml/2006/main" noGrp="1"/>
          </p:cNvSpPr>
          <p:nvPr/>
        </p:nvSpPr>
        <p:spPr>
          <a:xfrm xmlns:a="http://schemas.openxmlformats.org/drawingml/2006/main">
            <a:off x="685800" y="381000"/>
            <a:ext cx="933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39725C"/>
                </a:solidFill>
                <a:latin typeface="Arial"/>
                <a:ea typeface="Arial"/>
                <a:cs typeface="Arial"/>
              </a:defRPr>
            </a:defPPr>
          </a:lstStyle>
          <a:p xmlns:a="http://schemas.openxmlformats.org/drawingml/2006/main">
            <a:pPr algn="l">
              <a:defRPr sz="1200" b="1">
                <a:solidFill>
                  <a:srgbClr val="39725C"/>
                </a:solidFill>
                <a:latin typeface="Arial"/>
                <a:ea typeface="Arial"/>
                <a:cs typeface="Arial"/>
              </a:defRPr>
            </a:pPr>
            <a:r>
              <a:rPr sz="1200" b="1">
                <a:solidFill>
                  <a:srgbClr val="39725C"/>
                </a:solidFill>
                <a:latin typeface="Arial"/>
                <a:ea typeface="Arial"/>
                <a:cs typeface="Arial"/>
              </a:rPr>
              <a:t>THE DATASET</a:t>
            </a:r>
          </a:p>
        </p:txBody>
      </p:sp>
      <p:sp>
        <p:nvSpPr>
          <p:cNvPr id="2" name="primary-heading">
            <a:extLst xmlns:a="http://schemas.openxmlformats.org/drawingml/2006/main">
              <a:ext uri="{FF2B5EF4-FFF2-40B4-BE49-F238E27FC236}">
                <a16:creationId xmlns:a16="http://schemas.microsoft.com/office/drawing/2014/main" id="{F37EAF2C-B032-4E7B-8228-A7A91D9B3EA5}"/>
              </a:ext>
            </a:extLst>
          </p:cNvPr>
          <p:cNvSpPr>
            <a:spLocks xmlns:a="http://schemas.openxmlformats.org/drawingml/2006/main" noGrp="1"/>
          </p:cNvSpPr>
          <p:nvPr/>
        </p:nvSpPr>
        <p:spPr>
          <a:xfrm xmlns:a="http://schemas.openxmlformats.org/drawingml/2006/main">
            <a:off x="685800" y="83820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6332E"/>
                </a:solidFill>
                <a:latin typeface="Arial"/>
                <a:ea typeface="Arial"/>
                <a:cs typeface="Arial"/>
              </a:defRPr>
            </a:defPPr>
          </a:lstStyle>
          <a:p xmlns:a="http://schemas.openxmlformats.org/drawingml/2006/main">
            <a:pPr algn="l">
              <a:defRPr sz="3300" b="1">
                <a:solidFill>
                  <a:srgbClr val="26332E"/>
                </a:solidFill>
                <a:latin typeface="Arial"/>
                <a:ea typeface="Arial"/>
                <a:cs typeface="Arial"/>
              </a:defRPr>
            </a:pPr>
            <a:r>
              <a:rPr sz="3300" b="1">
                <a:solidFill>
                  <a:srgbClr val="26332E"/>
                </a:solidFill>
                <a:latin typeface="Arial"/>
                <a:ea typeface="Arial"/>
                <a:cs typeface="Arial"/>
              </a:rPr>
              <a:t>A bounded smartphone corpus</a:t>
            </a:r>
          </a:p>
        </p:txBody>
      </p:sp>
      <p:sp>
        <p:nvSpPr>
          <p:cNvPr id="3" name="footer-label">
            <a:extLst xmlns:a="http://schemas.openxmlformats.org/drawingml/2006/main">
              <a:ext uri="{FF2B5EF4-FFF2-40B4-BE49-F238E27FC236}">
                <a16:creationId xmlns:a16="http://schemas.microsoft.com/office/drawing/2014/main" id="{4E1DB414-E5C3-444E-84E7-0854E0D4BF36}"/>
              </a:ext>
            </a:extLst>
          </p:cNvPr>
          <p:cNvSpPr>
            <a:spLocks xmlns:a="http://schemas.openxmlformats.org/drawingml/2006/main" noGrp="1"/>
          </p:cNvSpPr>
          <p:nvPr/>
        </p:nvSpPr>
        <p:spPr>
          <a:xfrm xmlns:a="http://schemas.openxmlformats.org/drawingml/2006/main">
            <a:off x="685800" y="6505575"/>
            <a:ext cx="952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0">
                <a:solidFill>
                  <a:srgbClr val="66736C"/>
                </a:solidFill>
                <a:latin typeface="Arial"/>
                <a:ea typeface="Arial"/>
                <a:cs typeface="Arial"/>
              </a:defRPr>
            </a:defPPr>
          </a:lstStyle>
          <a:p xmlns:a="http://schemas.openxmlformats.org/drawingml/2006/main">
            <a:pPr algn="l">
              <a:defRPr sz="900" b="0">
                <a:solidFill>
                  <a:srgbClr val="66736C"/>
                </a:solidFill>
                <a:latin typeface="Arial"/>
                <a:ea typeface="Arial"/>
                <a:cs typeface="Arial"/>
              </a:defRPr>
            </a:pPr>
            <a:r>
              <a:rPr sz="900" b="0">
                <a:solidFill>
                  <a:srgbClr val="66736C"/>
                </a:solidFill>
                <a:latin typeface="Arial"/>
                <a:ea typeface="Arial"/>
                <a:cs typeface="Arial"/>
              </a:rPr>
              <a:t>ASPECT  /  PROJECT REFERENCE  /  1.0.0</a:t>
            </a:r>
          </a:p>
        </p:txBody>
      </p:sp>
      <p:sp>
        <p:nvSpPr>
          <p:cNvPr id="4" name="page-number">
            <a:extLst xmlns:a="http://schemas.openxmlformats.org/drawingml/2006/main">
              <a:ext uri="{FF2B5EF4-FFF2-40B4-BE49-F238E27FC236}">
                <a16:creationId xmlns:a16="http://schemas.microsoft.com/office/drawing/2014/main" id="{A01FC135-3C07-4062-B9FA-15AE16F7DDF8}"/>
              </a:ext>
            </a:extLst>
          </p:cNvPr>
          <p:cNvSpPr>
            <a:spLocks xmlns:a="http://schemas.openxmlformats.org/drawingml/2006/main" noGrp="1"/>
          </p:cNvSpPr>
          <p:nvPr/>
        </p:nvSpPr>
        <p:spPr>
          <a:xfrm xmlns:a="http://schemas.openxmlformats.org/drawingml/2006/main">
            <a:off x="10620375" y="6505575"/>
            <a:ext cx="8858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a:solidFill>
                  <a:srgbClr val="66736C"/>
                </a:solidFill>
                <a:latin typeface="Arial"/>
                <a:ea typeface="Arial"/>
                <a:cs typeface="Arial"/>
              </a:defRPr>
            </a:defPPr>
          </a:lstStyle>
          <a:p xmlns:a="http://schemas.openxmlformats.org/drawingml/2006/main">
            <a:pPr algn="r">
              <a:defRPr sz="900" b="0">
                <a:solidFill>
                  <a:srgbClr val="66736C"/>
                </a:solidFill>
                <a:latin typeface="Arial"/>
                <a:ea typeface="Arial"/>
                <a:cs typeface="Arial"/>
              </a:defRPr>
            </a:pPr>
            <a:r>
              <a:rPr sz="900" b="0">
                <a:solidFill>
                  <a:srgbClr val="66736C"/>
                </a:solidFill>
                <a:latin typeface="Arial"/>
                <a:ea typeface="Arial"/>
                <a:cs typeface="Arial"/>
              </a:rPr>
              <a:t>09 / 52</a:t>
            </a:r>
          </a:p>
        </p:txBody>
      </p:sp>
      <p:sp>
        <p:nvSpPr>
          <p:cNvPr id="5" name="lead">
            <a:extLst xmlns:a="http://schemas.openxmlformats.org/drawingml/2006/main">
              <a:ext uri="{FF2B5EF4-FFF2-40B4-BE49-F238E27FC236}">
                <a16:creationId xmlns:a16="http://schemas.microsoft.com/office/drawing/2014/main" id="{D76D4A10-71C9-4DD3-BCAE-7F186D104AD3}"/>
              </a:ext>
            </a:extLst>
          </p:cNvPr>
          <p:cNvSpPr>
            <a:spLocks xmlns:a="http://schemas.openxmlformats.org/drawingml/2006/main" noGrp="1"/>
          </p:cNvSpPr>
          <p:nvPr/>
        </p:nvSpPr>
        <p:spPr>
          <a:xfrm xmlns:a="http://schemas.openxmlformats.org/drawingml/2006/main">
            <a:off x="685800" y="1524000"/>
            <a:ext cx="10820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66736C"/>
                </a:solidFill>
                <a:latin typeface="Arial"/>
                <a:ea typeface="Arial"/>
                <a:cs typeface="Arial"/>
              </a:defRPr>
            </a:defPPr>
          </a:lstStyle>
          <a:p xmlns:a="http://schemas.openxmlformats.org/drawingml/2006/main">
            <a:pPr algn="l">
              <a:defRPr sz="1800" b="0">
                <a:solidFill>
                  <a:srgbClr val="66736C"/>
                </a:solidFill>
                <a:latin typeface="Arial"/>
                <a:ea typeface="Arial"/>
                <a:cs typeface="Arial"/>
              </a:defRPr>
            </a:pPr>
            <a:r>
              <a:rPr sz="1800" b="0">
                <a:solidFill>
                  <a:srgbClr val="66736C"/>
                </a:solidFill>
                <a:latin typeface="Arial"/>
                <a:ea typeface="Arial"/>
                <a:cs typeface="Arial"/>
              </a:rPr>
              <a:t>The application uses 12 explicitly selected listings rather than treating every source item as a smartphone.</a:t>
            </a:r>
          </a:p>
        </p:txBody>
      </p:sp>
      <p:sp>
        <p:nvSpPr>
          <p:cNvPr id="6" name="context-note">
            <a:extLst xmlns:a="http://schemas.openxmlformats.org/drawingml/2006/main">
              <a:ext uri="{FF2B5EF4-FFF2-40B4-BE49-F238E27FC236}">
                <a16:creationId xmlns:a16="http://schemas.microsoft.com/office/drawing/2014/main" id="{AE370739-0FB3-4D96-B46A-B4B93DB1F089}"/>
              </a:ext>
            </a:extLst>
          </p:cNvPr>
          <p:cNvSpPr>
            <a:spLocks xmlns:a="http://schemas.openxmlformats.org/drawingml/2006/main" noGrp="1"/>
          </p:cNvSpPr>
          <p:nvPr/>
        </p:nvSpPr>
        <p:spPr>
          <a:xfrm xmlns:a="http://schemas.openxmlformats.org/drawingml/2006/main">
            <a:off x="685800" y="5924550"/>
            <a:ext cx="108204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39725C"/>
                </a:solidFill>
                <a:latin typeface="Arial"/>
                <a:ea typeface="Arial"/>
                <a:cs typeface="Arial"/>
              </a:defRPr>
            </a:defPPr>
          </a:lstStyle>
          <a:p xmlns:a="http://schemas.openxmlformats.org/drawingml/2006/main">
            <a:pPr algn="l">
              <a:defRPr sz="1725" b="0">
                <a:solidFill>
                  <a:srgbClr val="39725C"/>
                </a:solidFill>
                <a:latin typeface="Arial"/>
                <a:ea typeface="Arial"/>
                <a:cs typeface="Arial"/>
              </a:defRPr>
            </a:pPr>
            <a:r>
              <a:rPr sz="1725" b="0">
                <a:solidFill>
                  <a:srgbClr val="39725C"/>
                </a:solidFill>
                <a:latin typeface="Arial"/>
                <a:ea typeface="Arial"/>
                <a:cs typeface="Arial"/>
              </a:rPr>
              <a:t>The final corpus has 4,346 reviews dated July 2016 to December 2019.</a:t>
            </a:r>
          </a:p>
        </p:txBody>
      </p:sp>
      <p:sp>
        <p:nvSpPr>
          <p:cNvPr id="7" name="column-label-0">
            <a:extLst xmlns:a="http://schemas.openxmlformats.org/drawingml/2006/main">
              <a:ext uri="{FF2B5EF4-FFF2-40B4-BE49-F238E27FC236}">
                <a16:creationId xmlns:a16="http://schemas.microsoft.com/office/drawing/2014/main" id="{030EFEB8-925C-402E-A71C-B9FBC69784A1}"/>
              </a:ext>
            </a:extLst>
          </p:cNvPr>
          <p:cNvSpPr>
            <a:spLocks xmlns:a="http://schemas.openxmlformats.org/drawingml/2006/main" noGrp="1"/>
          </p:cNvSpPr>
          <p:nvPr/>
        </p:nvSpPr>
        <p:spPr>
          <a:xfrm xmlns:a="http://schemas.openxmlformats.org/drawingml/2006/main">
            <a:off x="685800" y="2247900"/>
            <a:ext cx="52006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39725C"/>
                </a:solidFill>
                <a:latin typeface="Arial"/>
                <a:ea typeface="Arial"/>
                <a:cs typeface="Arial"/>
              </a:defRPr>
            </a:defPPr>
          </a:lstStyle>
          <a:p xmlns:a="http://schemas.openxmlformats.org/drawingml/2006/main">
            <a:pPr algn="l">
              <a:defRPr sz="2175" b="1">
                <a:solidFill>
                  <a:srgbClr val="39725C"/>
                </a:solidFill>
                <a:latin typeface="Arial"/>
                <a:ea typeface="Arial"/>
                <a:cs typeface="Arial"/>
              </a:defRPr>
            </a:pPr>
            <a:r>
              <a:rPr sz="2175" b="1">
                <a:solidFill>
                  <a:srgbClr val="39725C"/>
                </a:solidFill>
                <a:latin typeface="Arial"/>
                <a:ea typeface="Arial"/>
                <a:cs typeface="Arial"/>
              </a:rPr>
              <a:t>Selection</a:t>
            </a:r>
          </a:p>
        </p:txBody>
      </p:sp>
      <p:sp>
        <p:nvSpPr>
          <p:cNvPr id="8" name="column-copy-0">
            <a:extLst xmlns:a="http://schemas.openxmlformats.org/drawingml/2006/main">
              <a:ext uri="{FF2B5EF4-FFF2-40B4-BE49-F238E27FC236}">
                <a16:creationId xmlns:a16="http://schemas.microsoft.com/office/drawing/2014/main" id="{7C83F24A-62A8-4FD9-A469-A29EB2E5934D}"/>
              </a:ext>
            </a:extLst>
          </p:cNvPr>
          <p:cNvSpPr>
            <a:spLocks xmlns:a="http://schemas.openxmlformats.org/drawingml/2006/main" noGrp="1"/>
          </p:cNvSpPr>
          <p:nvPr/>
        </p:nvSpPr>
        <p:spPr>
          <a:xfrm xmlns:a="http://schemas.openxmlformats.org/drawingml/2006/main">
            <a:off x="685800" y="2895600"/>
            <a:ext cx="520065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26332E"/>
                </a:solidFill>
                <a:latin typeface="Arial"/>
                <a:ea typeface="Arial"/>
                <a:cs typeface="Arial"/>
              </a:defRPr>
            </a:defPPr>
          </a:lstStyle>
          <a:p xmlns:a="http://schemas.openxmlformats.org/drawingml/2006/main">
            <a:pPr algn="l">
              <a:defRPr sz="2175" b="0">
                <a:solidFill>
                  <a:srgbClr val="26332E"/>
                </a:solidFill>
                <a:latin typeface="Arial"/>
                <a:ea typeface="Arial"/>
                <a:cs typeface="Arial"/>
              </a:defRPr>
            </a:pPr>
            <a:r>
              <a:rPr sz="2175" b="0">
                <a:solidFill>
                  <a:srgbClr val="26332E"/>
                </a:solidFill>
                <a:latin typeface="Arial"/>
                <a:ea typeface="Arial"/>
                <a:cs typeface="Arial"/>
              </a:rPr>
              <a:t>Source titles identify the selected phone listings. Renewed iPhones remain separate from listings marked new.</a:t>
            </a:r>
          </a:p>
        </p:txBody>
      </p:sp>
      <p:sp>
        <p:nvSpPr>
          <p:cNvPr id="9" name="column-label-1">
            <a:extLst xmlns:a="http://schemas.openxmlformats.org/drawingml/2006/main">
              <a:ext uri="{FF2B5EF4-FFF2-40B4-BE49-F238E27FC236}">
                <a16:creationId xmlns:a16="http://schemas.microsoft.com/office/drawing/2014/main" id="{1777C9D2-06D9-4AA7-9BEE-3264206EAB3B}"/>
              </a:ext>
            </a:extLst>
          </p:cNvPr>
          <p:cNvSpPr>
            <a:spLocks xmlns:a="http://schemas.openxmlformats.org/drawingml/2006/main" noGrp="1"/>
          </p:cNvSpPr>
          <p:nvPr/>
        </p:nvSpPr>
        <p:spPr>
          <a:xfrm xmlns:a="http://schemas.openxmlformats.org/drawingml/2006/main">
            <a:off x="6305550" y="2247900"/>
            <a:ext cx="52006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39725C"/>
                </a:solidFill>
                <a:latin typeface="Arial"/>
                <a:ea typeface="Arial"/>
                <a:cs typeface="Arial"/>
              </a:defRPr>
            </a:defPPr>
          </a:lstStyle>
          <a:p xmlns:a="http://schemas.openxmlformats.org/drawingml/2006/main">
            <a:pPr algn="l">
              <a:defRPr sz="2175" b="1">
                <a:solidFill>
                  <a:srgbClr val="39725C"/>
                </a:solidFill>
                <a:latin typeface="Arial"/>
                <a:ea typeface="Arial"/>
                <a:cs typeface="Arial"/>
              </a:defRPr>
            </a:pPr>
            <a:r>
              <a:rPr sz="2175" b="1">
                <a:solidFill>
                  <a:srgbClr val="39725C"/>
                </a:solidFill>
                <a:latin typeface="Arial"/>
                <a:ea typeface="Arial"/>
                <a:cs typeface="Arial"/>
              </a:rPr>
              <a:t>Sampling</a:t>
            </a:r>
          </a:p>
        </p:txBody>
      </p:sp>
      <p:sp>
        <p:nvSpPr>
          <p:cNvPr id="10" name="column-copy-1">
            <a:extLst xmlns:a="http://schemas.openxmlformats.org/drawingml/2006/main">
              <a:ext uri="{FF2B5EF4-FFF2-40B4-BE49-F238E27FC236}">
                <a16:creationId xmlns:a16="http://schemas.microsoft.com/office/drawing/2014/main" id="{B5E3A09B-BCE2-49D9-899B-7E3EC01015EC}"/>
              </a:ext>
            </a:extLst>
          </p:cNvPr>
          <p:cNvSpPr>
            <a:spLocks xmlns:a="http://schemas.openxmlformats.org/drawingml/2006/main" noGrp="1"/>
          </p:cNvSpPr>
          <p:nvPr/>
        </p:nvSpPr>
        <p:spPr>
          <a:xfrm xmlns:a="http://schemas.openxmlformats.org/drawingml/2006/main">
            <a:off x="6305550" y="2895600"/>
            <a:ext cx="520065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26332E"/>
                </a:solidFill>
                <a:latin typeface="Arial"/>
                <a:ea typeface="Arial"/>
                <a:cs typeface="Arial"/>
              </a:defRPr>
            </a:defPPr>
          </a:lstStyle>
          <a:p xmlns:a="http://schemas.openxmlformats.org/drawingml/2006/main">
            <a:pPr algn="l">
              <a:defRPr sz="2175" b="0">
                <a:solidFill>
                  <a:srgbClr val="26332E"/>
                </a:solidFill>
                <a:latin typeface="Arial"/>
                <a:ea typeface="Arial"/>
                <a:cs typeface="Arial"/>
              </a:defRPr>
            </a:pPr>
            <a:r>
              <a:rPr sz="2175" b="0">
                <a:solidFill>
                  <a:srgbClr val="26332E"/>
                </a:solidFill>
                <a:latin typeface="Arial"/>
                <a:ea typeface="Arial"/>
                <a:cs typeface="Arial"/>
              </a:rPr>
              <a:t>The preparation pipeline caps each listing at 400 reviews. Smaller listings keep their available eligible reviews.</a:t>
            </a:r>
          </a:p>
        </p:txBody>
      </p:sp>
    </p:spTree>
    <p:extLst>
      <p:ext uri="{BB962C8B-B14F-4D97-AF65-F5344CB8AC3E}">
        <p14:creationId xmlns:p14="http://schemas.microsoft.com/office/powerpoint/2010/main" val="162383500"/>
      </p:ext>
    </p:extLst>
  </p:cSld>
</p:sld>
</file>

<file path=ppt/slides/slide10.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7" name="chapter">
            <a:extLst xmlns:a="http://schemas.openxmlformats.org/drawingml/2006/main">
              <a:ext uri="{FF2B5EF4-FFF2-40B4-BE49-F238E27FC236}">
                <a16:creationId xmlns:a16="http://schemas.microsoft.com/office/drawing/2014/main" id="{C9A7CA23-170E-4E35-B099-D8341E00C1EF}"/>
              </a:ext>
            </a:extLst>
          </p:cNvPr>
          <p:cNvSpPr>
            <a:spLocks xmlns:a="http://schemas.openxmlformats.org/drawingml/2006/main" noGrp="1"/>
          </p:cNvSpPr>
          <p:nvPr/>
        </p:nvSpPr>
        <p:spPr>
          <a:xfrm xmlns:a="http://schemas.openxmlformats.org/drawingml/2006/main">
            <a:off x="685800" y="381000"/>
            <a:ext cx="933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39725C"/>
                </a:solidFill>
                <a:latin typeface="Arial"/>
                <a:ea typeface="Arial"/>
                <a:cs typeface="Arial"/>
              </a:defRPr>
            </a:defPPr>
          </a:lstStyle>
          <a:p xmlns:a="http://schemas.openxmlformats.org/drawingml/2006/main">
            <a:pPr algn="l">
              <a:defRPr sz="1200" b="1">
                <a:solidFill>
                  <a:srgbClr val="39725C"/>
                </a:solidFill>
                <a:latin typeface="Arial"/>
                <a:ea typeface="Arial"/>
                <a:cs typeface="Arial"/>
              </a:defRPr>
            </a:pPr>
            <a:r>
              <a:rPr sz="1200" b="1">
                <a:solidFill>
                  <a:srgbClr val="39725C"/>
                </a:solidFill>
                <a:latin typeface="Arial"/>
                <a:ea typeface="Arial"/>
                <a:cs typeface="Arial"/>
              </a:rPr>
              <a:t>THE DATASET</a:t>
            </a:r>
          </a:p>
        </p:txBody>
      </p:sp>
      <p:sp>
        <p:nvSpPr>
          <p:cNvPr id="2" name="primary-heading">
            <a:extLst xmlns:a="http://schemas.openxmlformats.org/drawingml/2006/main">
              <a:ext uri="{FF2B5EF4-FFF2-40B4-BE49-F238E27FC236}">
                <a16:creationId xmlns:a16="http://schemas.microsoft.com/office/drawing/2014/main" id="{DB461009-34CD-4E0C-973A-01D349138FF8}"/>
              </a:ext>
            </a:extLst>
          </p:cNvPr>
          <p:cNvSpPr>
            <a:spLocks xmlns:a="http://schemas.openxmlformats.org/drawingml/2006/main" noGrp="1"/>
          </p:cNvSpPr>
          <p:nvPr/>
        </p:nvSpPr>
        <p:spPr>
          <a:xfrm xmlns:a="http://schemas.openxmlformats.org/drawingml/2006/main">
            <a:off x="685800" y="83820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6332E"/>
                </a:solidFill>
                <a:latin typeface="Arial"/>
                <a:ea typeface="Arial"/>
                <a:cs typeface="Arial"/>
              </a:defRPr>
            </a:defPPr>
          </a:lstStyle>
          <a:p xmlns:a="http://schemas.openxmlformats.org/drawingml/2006/main">
            <a:pPr algn="l">
              <a:defRPr sz="3300" b="1">
                <a:solidFill>
                  <a:srgbClr val="26332E"/>
                </a:solidFill>
                <a:latin typeface="Arial"/>
                <a:ea typeface="Arial"/>
                <a:cs typeface="Arial"/>
              </a:defRPr>
            </a:pPr>
            <a:r>
              <a:rPr sz="3300" b="1">
                <a:solidFill>
                  <a:srgbClr val="26332E"/>
                </a:solidFill>
                <a:latin typeface="Arial"/>
                <a:ea typeface="Arial"/>
                <a:cs typeface="Arial"/>
              </a:rPr>
              <a:t>Preparation accounts for every source row</a:t>
            </a:r>
          </a:p>
        </p:txBody>
      </p:sp>
      <p:sp>
        <p:nvSpPr>
          <p:cNvPr id="3" name="footer-label">
            <a:extLst xmlns:a="http://schemas.openxmlformats.org/drawingml/2006/main">
              <a:ext uri="{FF2B5EF4-FFF2-40B4-BE49-F238E27FC236}">
                <a16:creationId xmlns:a16="http://schemas.microsoft.com/office/drawing/2014/main" id="{D432E568-98BD-4C85-8A66-4F1AA104440D}"/>
              </a:ext>
            </a:extLst>
          </p:cNvPr>
          <p:cNvSpPr>
            <a:spLocks xmlns:a="http://schemas.openxmlformats.org/drawingml/2006/main" noGrp="1"/>
          </p:cNvSpPr>
          <p:nvPr/>
        </p:nvSpPr>
        <p:spPr>
          <a:xfrm xmlns:a="http://schemas.openxmlformats.org/drawingml/2006/main">
            <a:off x="685800" y="6505575"/>
            <a:ext cx="952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0">
                <a:solidFill>
                  <a:srgbClr val="66736C"/>
                </a:solidFill>
                <a:latin typeface="Arial"/>
                <a:ea typeface="Arial"/>
                <a:cs typeface="Arial"/>
              </a:defRPr>
            </a:defPPr>
          </a:lstStyle>
          <a:p xmlns:a="http://schemas.openxmlformats.org/drawingml/2006/main">
            <a:pPr algn="l">
              <a:defRPr sz="900" b="0">
                <a:solidFill>
                  <a:srgbClr val="66736C"/>
                </a:solidFill>
                <a:latin typeface="Arial"/>
                <a:ea typeface="Arial"/>
                <a:cs typeface="Arial"/>
              </a:defRPr>
            </a:pPr>
            <a:r>
              <a:rPr sz="900" b="0">
                <a:solidFill>
                  <a:srgbClr val="66736C"/>
                </a:solidFill>
                <a:latin typeface="Arial"/>
                <a:ea typeface="Arial"/>
                <a:cs typeface="Arial"/>
              </a:rPr>
              <a:t>ASPECT  /  PROJECT REFERENCE  /  1.0.0</a:t>
            </a:r>
          </a:p>
        </p:txBody>
      </p:sp>
      <p:sp>
        <p:nvSpPr>
          <p:cNvPr id="4" name="page-number">
            <a:extLst xmlns:a="http://schemas.openxmlformats.org/drawingml/2006/main">
              <a:ext uri="{FF2B5EF4-FFF2-40B4-BE49-F238E27FC236}">
                <a16:creationId xmlns:a16="http://schemas.microsoft.com/office/drawing/2014/main" id="{70265897-AA1F-4241-8651-E771049841E4}"/>
              </a:ext>
            </a:extLst>
          </p:cNvPr>
          <p:cNvSpPr>
            <a:spLocks xmlns:a="http://schemas.openxmlformats.org/drawingml/2006/main" noGrp="1"/>
          </p:cNvSpPr>
          <p:nvPr/>
        </p:nvSpPr>
        <p:spPr>
          <a:xfrm xmlns:a="http://schemas.openxmlformats.org/drawingml/2006/main">
            <a:off x="10620375" y="6505575"/>
            <a:ext cx="8858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a:solidFill>
                  <a:srgbClr val="66736C"/>
                </a:solidFill>
                <a:latin typeface="Arial"/>
                <a:ea typeface="Arial"/>
                <a:cs typeface="Arial"/>
              </a:defRPr>
            </a:defPPr>
          </a:lstStyle>
          <a:p xmlns:a="http://schemas.openxmlformats.org/drawingml/2006/main">
            <a:pPr algn="r">
              <a:defRPr sz="900" b="0">
                <a:solidFill>
                  <a:srgbClr val="66736C"/>
                </a:solidFill>
                <a:latin typeface="Arial"/>
                <a:ea typeface="Arial"/>
                <a:cs typeface="Arial"/>
              </a:defRPr>
            </a:pPr>
            <a:r>
              <a:rPr sz="900" b="0">
                <a:solidFill>
                  <a:srgbClr val="66736C"/>
                </a:solidFill>
                <a:latin typeface="Arial"/>
                <a:ea typeface="Arial"/>
                <a:cs typeface="Arial"/>
              </a:rPr>
              <a:t>10 / 52</a:t>
            </a:r>
          </a:p>
        </p:txBody>
      </p:sp>
      <p:sp>
        <p:nvSpPr>
          <p:cNvPr id="5" name="context-note">
            <a:extLst xmlns:a="http://schemas.openxmlformats.org/drawingml/2006/main">
              <a:ext uri="{FF2B5EF4-FFF2-40B4-BE49-F238E27FC236}">
                <a16:creationId xmlns:a16="http://schemas.microsoft.com/office/drawing/2014/main" id="{58A1E871-780E-4497-BD3F-03BF9DDCAB85}"/>
              </a:ext>
            </a:extLst>
          </p:cNvPr>
          <p:cNvSpPr>
            <a:spLocks xmlns:a="http://schemas.openxmlformats.org/drawingml/2006/main" noGrp="1"/>
          </p:cNvSpPr>
          <p:nvPr/>
        </p:nvSpPr>
        <p:spPr>
          <a:xfrm xmlns:a="http://schemas.openxmlformats.org/drawingml/2006/main">
            <a:off x="685800" y="5924550"/>
            <a:ext cx="108204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39725C"/>
                </a:solidFill>
                <a:latin typeface="Arial"/>
                <a:ea typeface="Arial"/>
                <a:cs typeface="Arial"/>
              </a:defRPr>
            </a:defPPr>
          </a:lstStyle>
          <a:p xmlns:a="http://schemas.openxmlformats.org/drawingml/2006/main">
            <a:pPr algn="l">
              <a:defRPr sz="1725" b="0">
                <a:solidFill>
                  <a:srgbClr val="39725C"/>
                </a:solidFill>
                <a:latin typeface="Arial"/>
                <a:ea typeface="Arial"/>
                <a:cs typeface="Arial"/>
              </a:defRPr>
            </a:pPr>
            <a:r>
              <a:rPr sz="1725" b="0">
                <a:solidFill>
                  <a:srgbClr val="39725C"/>
                </a:solidFill>
                <a:latin typeface="Arial"/>
                <a:ea typeface="Arial"/>
                <a:cs typeface="Arial"/>
              </a:rPr>
              <a:t>Excluded rows can reflect scope or sampling decisions. They are not all invalid records.</a:t>
            </a:r>
          </a:p>
        </p:txBody>
      </p:sp>
      <p:graphicFrame>
        <p:nvGraphicFramePr>
          <p:cNvPr id="6" name="">
            <a:extLst xmlns:a="http://schemas.openxmlformats.org/drawingml/2006/main">
              <a:ext uri="{FF2B5EF4-FFF2-40B4-BE49-F238E27FC236}">
                <a16:creationId xmlns:a16="http://schemas.microsoft.com/office/drawing/2014/main" id="{1FC793FF-93D9-40D8-987E-D32A67C7FC01}"/>
              </a:ext>
            </a:extLst>
          </p:cNvPr>
          <p:cNvGraphicFramePr/>
          <p:nvPr/>
        </p:nvGraphicFramePr>
        <p:xfrm>
          <a:off xmlns:a="http://schemas.openxmlformats.org/drawingml/2006/main" x="685800" y="1714500"/>
          <a:ext xmlns:a="http://schemas.openxmlformats.org/drawingml/2006/main" cx="10820400" cy="3705225"/>
        </p:xfrm>
        <a:graphic xmlns:a="http://schemas.openxmlformats.org/drawingml/2006/main">
          <a:graphicData uri="http://schemas.openxmlformats.org/drawingml/2006/table">
            <a:tbl>
              <a:tblPr firstRow="1" firstCol="0" lastCol="0" bandRow="0"/>
              <a:tblGrid>
                <a:gridCol w="5524500"/>
                <a:gridCol w="2857500"/>
                <a:gridCol w="2438400"/>
              </a:tblGrid>
              <a:tr h="419100">
                <a:tc>
                  <a:txBody>
                    <a:bodyPr wrap="square">
                      <a:noAutofit/>
                    </a:bodyPr>
                    <a:lstStyle/>
                    <a:p>
                      <a:r>
                        <a:rPr sz="1650" b="1">
                          <a:solidFill>
                            <a:srgbClr val="FFFFFF"/>
                          </a:solidFill>
                          <a:latin typeface="Arial"/>
                          <a:ea typeface="Arial"/>
                          <a:cs typeface="Arial"/>
                        </a:rPr>
                        <a:t>Step</a:t>
                      </a:r>
                    </a:p>
                  </a:txBody>
                  <a:tcPr marL="114300" marR="114300" marT="47625" marB="47625" anchor="ctr">
                    <a:lnL w="6668">
                      <a:solidFill>
                        <a:srgbClr val="DCE3DA"/>
                      </a:solidFill>
                      <a:prstDash val="solid"/>
                    </a:lnL>
                    <a:lnR w="6668">
                      <a:solidFill>
                        <a:srgbClr val="DCE3DA"/>
                      </a:solidFill>
                      <a:prstDash val="solid"/>
                    </a:lnR>
                    <a:lnT w="6668">
                      <a:solidFill>
                        <a:srgbClr val="DCE3DA"/>
                      </a:solidFill>
                      <a:prstDash val="solid"/>
                    </a:lnT>
                    <a:lnB w="6668">
                      <a:solidFill>
                        <a:srgbClr val="DCE3DA"/>
                      </a:solidFill>
                      <a:prstDash val="solid"/>
                    </a:lnB>
                    <a:solidFill>
                      <a:srgbClr val="39725C"/>
                    </a:solidFill>
                  </a:tcPr>
                </a:tc>
                <a:tc>
                  <a:txBody>
                    <a:bodyPr wrap="square">
                      <a:noAutofit/>
                    </a:bodyPr>
                    <a:lstStyle/>
                    <a:p>
                      <a:r>
                        <a:rPr sz="1650" b="1">
                          <a:solidFill>
                            <a:srgbClr val="FFFFFF"/>
                          </a:solidFill>
                          <a:latin typeface="Arial"/>
                          <a:ea typeface="Arial"/>
                          <a:cs typeface="Arial"/>
                        </a:rPr>
                        <a:t>Rows excluded at this step</a:t>
                      </a:r>
                    </a:p>
                  </a:txBody>
                  <a:tcPr marL="114300" marR="114300" marT="47625" marB="47625" anchor="ctr">
                    <a:lnR w="6668">
                      <a:solidFill>
                        <a:srgbClr val="DCE3DA"/>
                      </a:solidFill>
                      <a:prstDash val="solid"/>
                    </a:lnR>
                    <a:lnT w="6668">
                      <a:solidFill>
                        <a:srgbClr val="DCE3DA"/>
                      </a:solidFill>
                      <a:prstDash val="solid"/>
                    </a:lnT>
                    <a:lnB w="6668">
                      <a:solidFill>
                        <a:srgbClr val="DCE3DA"/>
                      </a:solidFill>
                      <a:prstDash val="solid"/>
                    </a:lnB>
                    <a:solidFill>
                      <a:srgbClr val="39725C"/>
                    </a:solidFill>
                  </a:tcPr>
                </a:tc>
                <a:tc>
                  <a:txBody>
                    <a:bodyPr wrap="square">
                      <a:noAutofit/>
                    </a:bodyPr>
                    <a:lstStyle/>
                    <a:p>
                      <a:r>
                        <a:rPr sz="1650" b="1">
                          <a:solidFill>
                            <a:srgbClr val="FFFFFF"/>
                          </a:solidFill>
                          <a:latin typeface="Arial"/>
                          <a:ea typeface="Arial"/>
                          <a:cs typeface="Arial"/>
                        </a:rPr>
                        <a:t>Rows remaining</a:t>
                      </a:r>
                    </a:p>
                  </a:txBody>
                  <a:tcPr marL="114300" marR="114300" marT="47625" marB="47625" anchor="ctr">
                    <a:lnR w="6668">
                      <a:solidFill>
                        <a:srgbClr val="DCE3DA"/>
                      </a:solidFill>
                      <a:prstDash val="solid"/>
                    </a:lnR>
                    <a:lnT w="6668">
                      <a:solidFill>
                        <a:srgbClr val="DCE3DA"/>
                      </a:solidFill>
                      <a:prstDash val="solid"/>
                    </a:lnT>
                    <a:lnB w="6668">
                      <a:solidFill>
                        <a:srgbClr val="DCE3DA"/>
                      </a:solidFill>
                      <a:prstDash val="solid"/>
                    </a:lnB>
                    <a:solidFill>
                      <a:srgbClr val="39725C"/>
                    </a:solidFill>
                  </a:tcPr>
                </a:tc>
              </a:tr>
              <a:tr h="657225">
                <a:tc>
                  <a:txBody>
                    <a:bodyPr wrap="square">
                      <a:noAutofit/>
                    </a:bodyPr>
                    <a:lstStyle/>
                    <a:p>
                      <a:r>
                        <a:rPr sz="1725" b="1">
                          <a:solidFill>
                            <a:srgbClr val="26332E"/>
                          </a:solidFill>
                          <a:latin typeface="Arial"/>
                          <a:ea typeface="Arial"/>
                          <a:cs typeface="Arial"/>
                        </a:rPr>
                        <a:t>Original review source</a:t>
                      </a:r>
                    </a:p>
                  </a:txBody>
                  <a:tcPr marL="114300" marR="114300" marT="47625" marB="47625" anchor="ctr">
                    <a:lnL w="6668">
                      <a:solidFill>
                        <a:srgbClr val="DCE3DA"/>
                      </a:solidFill>
                      <a:prstDash val="solid"/>
                    </a:lnL>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0</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67,986</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r>
              <a:tr h="657225">
                <a:tc>
                  <a:txBody>
                    <a:bodyPr wrap="square">
                      <a:noAutofit/>
                    </a:bodyPr>
                    <a:lstStyle/>
                    <a:p>
                      <a:r>
                        <a:rPr sz="1725" b="1">
                          <a:solidFill>
                            <a:srgbClr val="26332E"/>
                          </a:solidFill>
                          <a:latin typeface="Arial"/>
                          <a:ea typeface="Arial"/>
                          <a:cs typeface="Arial"/>
                        </a:rPr>
                        <a:t>Outside the 12-listing selection</a:t>
                      </a:r>
                    </a:p>
                  </a:txBody>
                  <a:tcPr marL="114300" marR="114300" marT="47625" marB="47625" anchor="ctr">
                    <a:lnL w="6668">
                      <a:solidFill>
                        <a:srgbClr val="DCE3DA"/>
                      </a:solidFill>
                      <a:prstDash val="solid"/>
                    </a:lnL>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61,982</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6,004</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r>
              <a:tr h="657225">
                <a:tc>
                  <a:txBody>
                    <a:bodyPr wrap="square">
                      <a:noAutofit/>
                    </a:bodyPr>
                    <a:lstStyle/>
                    <a:p>
                      <a:r>
                        <a:rPr sz="1725" b="1">
                          <a:solidFill>
                            <a:srgbClr val="26332E"/>
                          </a:solidFill>
                          <a:latin typeface="Arial"/>
                          <a:ea typeface="Arial"/>
                          <a:cs typeface="Arial"/>
                        </a:rPr>
                        <a:t>Detected non-English text</a:t>
                      </a:r>
                    </a:p>
                  </a:txBody>
                  <a:tcPr marL="114300" marR="114300" marT="47625" marB="47625" anchor="ctr">
                    <a:lnL w="6668">
                      <a:solidFill>
                        <a:srgbClr val="DCE3DA"/>
                      </a:solidFill>
                      <a:prstDash val="solid"/>
                    </a:lnL>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281</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5,723</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r>
              <a:tr h="657225">
                <a:tc>
                  <a:txBody>
                    <a:bodyPr wrap="square">
                      <a:noAutofit/>
                    </a:bodyPr>
                    <a:lstStyle/>
                    <a:p>
                      <a:r>
                        <a:rPr sz="1725" b="1">
                          <a:solidFill>
                            <a:srgbClr val="26332E"/>
                          </a:solidFill>
                          <a:latin typeface="Arial"/>
                          <a:ea typeface="Arial"/>
                          <a:cs typeface="Arial"/>
                        </a:rPr>
                        <a:t>Repeated listing and normalised body</a:t>
                      </a:r>
                    </a:p>
                  </a:txBody>
                  <a:tcPr marL="114300" marR="114300" marT="47625" marB="47625" anchor="ctr">
                    <a:lnL w="6668">
                      <a:solidFill>
                        <a:srgbClr val="DCE3DA"/>
                      </a:solidFill>
                      <a:prstDash val="solid"/>
                    </a:lnL>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83</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5,640</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r>
              <a:tr h="657225">
                <a:tc>
                  <a:txBody>
                    <a:bodyPr wrap="square">
                      <a:noAutofit/>
                    </a:bodyPr>
                    <a:lstStyle/>
                    <a:p>
                      <a:r>
                        <a:rPr sz="1725" b="1">
                          <a:solidFill>
                            <a:srgbClr val="26332E"/>
                          </a:solidFill>
                          <a:latin typeface="Arial"/>
                          <a:ea typeface="Arial"/>
                          <a:cs typeface="Arial"/>
                        </a:rPr>
                        <a:t>Per-listing cap</a:t>
                      </a:r>
                    </a:p>
                  </a:txBody>
                  <a:tcPr marL="114300" marR="114300" marT="47625" marB="47625" anchor="ctr">
                    <a:lnL w="6668">
                      <a:solidFill>
                        <a:srgbClr val="DCE3DA"/>
                      </a:solidFill>
                      <a:prstDash val="solid"/>
                    </a:lnL>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1,294</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4,346</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r>
            </a:tbl>
          </a:graphicData>
        </a:graphic>
      </p:graphicFrame>
    </p:spTree>
    <p:extLst>
      <p:ext uri="{BB962C8B-B14F-4D97-AF65-F5344CB8AC3E}">
        <p14:creationId xmlns:p14="http://schemas.microsoft.com/office/powerpoint/2010/main" val="1294763669"/>
      </p:ext>
    </p:extLst>
  </p:cSld>
</p:sld>
</file>

<file path=ppt/slides/slide11.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6" name="chapter">
            <a:extLst xmlns:a="http://schemas.openxmlformats.org/drawingml/2006/main">
              <a:ext uri="{FF2B5EF4-FFF2-40B4-BE49-F238E27FC236}">
                <a16:creationId xmlns:a16="http://schemas.microsoft.com/office/drawing/2014/main" id="{CC2161A1-64DF-42D0-9F06-D2CE0D70F736}"/>
              </a:ext>
            </a:extLst>
          </p:cNvPr>
          <p:cNvSpPr>
            <a:spLocks xmlns:a="http://schemas.openxmlformats.org/drawingml/2006/main" noGrp="1"/>
          </p:cNvSpPr>
          <p:nvPr/>
        </p:nvSpPr>
        <p:spPr>
          <a:xfrm xmlns:a="http://schemas.openxmlformats.org/drawingml/2006/main">
            <a:off x="685800" y="381000"/>
            <a:ext cx="933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39725C"/>
                </a:solidFill>
                <a:latin typeface="Arial"/>
                <a:ea typeface="Arial"/>
                <a:cs typeface="Arial"/>
              </a:defRPr>
            </a:defPPr>
          </a:lstStyle>
          <a:p xmlns:a="http://schemas.openxmlformats.org/drawingml/2006/main">
            <a:pPr algn="l">
              <a:defRPr sz="1200" b="1">
                <a:solidFill>
                  <a:srgbClr val="39725C"/>
                </a:solidFill>
                <a:latin typeface="Arial"/>
                <a:ea typeface="Arial"/>
                <a:cs typeface="Arial"/>
              </a:defRPr>
            </a:pPr>
            <a:r>
              <a:rPr sz="1200" b="1">
                <a:solidFill>
                  <a:srgbClr val="39725C"/>
                </a:solidFill>
                <a:latin typeface="Arial"/>
                <a:ea typeface="Arial"/>
                <a:cs typeface="Arial"/>
              </a:rPr>
              <a:t>THE DATASET</a:t>
            </a:r>
          </a:p>
        </p:txBody>
      </p:sp>
      <p:sp>
        <p:nvSpPr>
          <p:cNvPr id="2" name="primary-heading">
            <a:extLst xmlns:a="http://schemas.openxmlformats.org/drawingml/2006/main">
              <a:ext uri="{FF2B5EF4-FFF2-40B4-BE49-F238E27FC236}">
                <a16:creationId xmlns:a16="http://schemas.microsoft.com/office/drawing/2014/main" id="{1F93551A-2BAD-4D5F-BD2A-6A340567F2DC}"/>
              </a:ext>
            </a:extLst>
          </p:cNvPr>
          <p:cNvSpPr>
            <a:spLocks xmlns:a="http://schemas.openxmlformats.org/drawingml/2006/main" noGrp="1"/>
          </p:cNvSpPr>
          <p:nvPr/>
        </p:nvSpPr>
        <p:spPr>
          <a:xfrm xmlns:a="http://schemas.openxmlformats.org/drawingml/2006/main">
            <a:off x="685800" y="83820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6332E"/>
                </a:solidFill>
                <a:latin typeface="Arial"/>
                <a:ea typeface="Arial"/>
                <a:cs typeface="Arial"/>
              </a:defRPr>
            </a:defPPr>
          </a:lstStyle>
          <a:p xmlns:a="http://schemas.openxmlformats.org/drawingml/2006/main">
            <a:pPr algn="l">
              <a:defRPr sz="3300" b="1">
                <a:solidFill>
                  <a:srgbClr val="26332E"/>
                </a:solidFill>
                <a:latin typeface="Arial"/>
                <a:ea typeface="Arial"/>
                <a:cs typeface="Arial"/>
              </a:defRPr>
            </a:pPr>
            <a:r>
              <a:rPr sz="3300" b="1">
                <a:solidFill>
                  <a:srgbClr val="26332E"/>
                </a:solidFill>
                <a:latin typeface="Arial"/>
                <a:ea typeface="Arial"/>
                <a:cs typeface="Arial"/>
              </a:rPr>
              <a:t>Language and coverage need context</a:t>
            </a:r>
          </a:p>
        </p:txBody>
      </p:sp>
      <p:sp>
        <p:nvSpPr>
          <p:cNvPr id="3" name="footer-label">
            <a:extLst xmlns:a="http://schemas.openxmlformats.org/drawingml/2006/main">
              <a:ext uri="{FF2B5EF4-FFF2-40B4-BE49-F238E27FC236}">
                <a16:creationId xmlns:a16="http://schemas.microsoft.com/office/drawing/2014/main" id="{2EFB2D24-C5FF-49F7-A172-1152A9DF1402}"/>
              </a:ext>
            </a:extLst>
          </p:cNvPr>
          <p:cNvSpPr>
            <a:spLocks xmlns:a="http://schemas.openxmlformats.org/drawingml/2006/main" noGrp="1"/>
          </p:cNvSpPr>
          <p:nvPr/>
        </p:nvSpPr>
        <p:spPr>
          <a:xfrm xmlns:a="http://schemas.openxmlformats.org/drawingml/2006/main">
            <a:off x="685800" y="6505575"/>
            <a:ext cx="952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0">
                <a:solidFill>
                  <a:srgbClr val="66736C"/>
                </a:solidFill>
                <a:latin typeface="Arial"/>
                <a:ea typeface="Arial"/>
                <a:cs typeface="Arial"/>
              </a:defRPr>
            </a:defPPr>
          </a:lstStyle>
          <a:p xmlns:a="http://schemas.openxmlformats.org/drawingml/2006/main">
            <a:pPr algn="l">
              <a:defRPr sz="900" b="0">
                <a:solidFill>
                  <a:srgbClr val="66736C"/>
                </a:solidFill>
                <a:latin typeface="Arial"/>
                <a:ea typeface="Arial"/>
                <a:cs typeface="Arial"/>
              </a:defRPr>
            </a:pPr>
            <a:r>
              <a:rPr sz="900" b="0">
                <a:solidFill>
                  <a:srgbClr val="66736C"/>
                </a:solidFill>
                <a:latin typeface="Arial"/>
                <a:ea typeface="Arial"/>
                <a:cs typeface="Arial"/>
              </a:rPr>
              <a:t>ASPECT  /  PROJECT REFERENCE  /  1.0.0</a:t>
            </a:r>
          </a:p>
        </p:txBody>
      </p:sp>
      <p:sp>
        <p:nvSpPr>
          <p:cNvPr id="4" name="page-number">
            <a:extLst xmlns:a="http://schemas.openxmlformats.org/drawingml/2006/main">
              <a:ext uri="{FF2B5EF4-FFF2-40B4-BE49-F238E27FC236}">
                <a16:creationId xmlns:a16="http://schemas.microsoft.com/office/drawing/2014/main" id="{67A900D0-724C-4953-AFC3-21B6A37DF143}"/>
              </a:ext>
            </a:extLst>
          </p:cNvPr>
          <p:cNvSpPr>
            <a:spLocks xmlns:a="http://schemas.openxmlformats.org/drawingml/2006/main" noGrp="1"/>
          </p:cNvSpPr>
          <p:nvPr/>
        </p:nvSpPr>
        <p:spPr>
          <a:xfrm xmlns:a="http://schemas.openxmlformats.org/drawingml/2006/main">
            <a:off x="10620375" y="6505575"/>
            <a:ext cx="8858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a:solidFill>
                  <a:srgbClr val="66736C"/>
                </a:solidFill>
                <a:latin typeface="Arial"/>
                <a:ea typeface="Arial"/>
                <a:cs typeface="Arial"/>
              </a:defRPr>
            </a:defPPr>
          </a:lstStyle>
          <a:p xmlns:a="http://schemas.openxmlformats.org/drawingml/2006/main">
            <a:pPr algn="r">
              <a:defRPr sz="900" b="0">
                <a:solidFill>
                  <a:srgbClr val="66736C"/>
                </a:solidFill>
                <a:latin typeface="Arial"/>
                <a:ea typeface="Arial"/>
                <a:cs typeface="Arial"/>
              </a:defRPr>
            </a:pPr>
            <a:r>
              <a:rPr sz="900" b="0">
                <a:solidFill>
                  <a:srgbClr val="66736C"/>
                </a:solidFill>
                <a:latin typeface="Arial"/>
                <a:ea typeface="Arial"/>
                <a:cs typeface="Arial"/>
              </a:rPr>
              <a:t>11 / 52</a:t>
            </a:r>
          </a:p>
        </p:txBody>
      </p:sp>
      <p:graphicFrame>
        <p:nvGraphicFramePr>
          <p:cNvPr id="5" name="">
            <a:extLst xmlns:a="http://schemas.openxmlformats.org/drawingml/2006/main">
              <a:ext uri="{FF2B5EF4-FFF2-40B4-BE49-F238E27FC236}">
                <a16:creationId xmlns:a16="http://schemas.microsoft.com/office/drawing/2014/main" id="{4552E9C8-4017-4468-BE49-85F1D6C995BA}"/>
              </a:ext>
            </a:extLst>
          </p:cNvPr>
          <p:cNvGraphicFramePr/>
          <p:nvPr/>
        </p:nvGraphicFramePr>
        <p:xfrm>
          <a:off xmlns:a="http://schemas.openxmlformats.org/drawingml/2006/main" x="685800" y="1714500"/>
          <a:ext xmlns:a="http://schemas.openxmlformats.org/drawingml/2006/main" cx="10820400" cy="3752850"/>
        </p:xfrm>
        <a:graphic xmlns:a="http://schemas.openxmlformats.org/drawingml/2006/main">
          <a:graphicData uri="http://schemas.openxmlformats.org/drawingml/2006/table">
            <a:tbl>
              <a:tblPr firstRow="1" firstCol="0" lastCol="0" bandRow="0"/>
              <a:tblGrid>
                <a:gridCol w="3143250"/>
                <a:gridCol w="2667000"/>
                <a:gridCol w="5010150"/>
              </a:tblGrid>
              <a:tr h="419100">
                <a:tc>
                  <a:txBody>
                    <a:bodyPr wrap="square">
                      <a:noAutofit/>
                    </a:bodyPr>
                    <a:lstStyle/>
                    <a:p>
                      <a:r>
                        <a:rPr sz="1650" b="1">
                          <a:solidFill>
                            <a:srgbClr val="FFFFFF"/>
                          </a:solidFill>
                          <a:latin typeface="Arial"/>
                          <a:ea typeface="Arial"/>
                          <a:cs typeface="Arial"/>
                        </a:rPr>
                        <a:t>Property</a:t>
                      </a:r>
                    </a:p>
                  </a:txBody>
                  <a:tcPr marL="114300" marR="114300" marT="47625" marB="47625" anchor="ctr">
                    <a:lnL w="6668">
                      <a:solidFill>
                        <a:srgbClr val="DCE3DA"/>
                      </a:solidFill>
                      <a:prstDash val="solid"/>
                    </a:lnL>
                    <a:lnR w="6668">
                      <a:solidFill>
                        <a:srgbClr val="DCE3DA"/>
                      </a:solidFill>
                      <a:prstDash val="solid"/>
                    </a:lnR>
                    <a:lnT w="6668">
                      <a:solidFill>
                        <a:srgbClr val="DCE3DA"/>
                      </a:solidFill>
                      <a:prstDash val="solid"/>
                    </a:lnT>
                    <a:lnB w="6668">
                      <a:solidFill>
                        <a:srgbClr val="DCE3DA"/>
                      </a:solidFill>
                      <a:prstDash val="solid"/>
                    </a:lnB>
                    <a:solidFill>
                      <a:srgbClr val="39725C"/>
                    </a:solidFill>
                  </a:tcPr>
                </a:tc>
                <a:tc>
                  <a:txBody>
                    <a:bodyPr wrap="square">
                      <a:noAutofit/>
                    </a:bodyPr>
                    <a:lstStyle/>
                    <a:p>
                      <a:r>
                        <a:rPr sz="1650" b="1">
                          <a:solidFill>
                            <a:srgbClr val="FFFFFF"/>
                          </a:solidFill>
                          <a:latin typeface="Arial"/>
                          <a:ea typeface="Arial"/>
                          <a:cs typeface="Arial"/>
                        </a:rPr>
                        <a:t>Recorded value</a:t>
                      </a:r>
                    </a:p>
                  </a:txBody>
                  <a:tcPr marL="114300" marR="114300" marT="47625" marB="47625" anchor="ctr">
                    <a:lnR w="6668">
                      <a:solidFill>
                        <a:srgbClr val="DCE3DA"/>
                      </a:solidFill>
                      <a:prstDash val="solid"/>
                    </a:lnR>
                    <a:lnT w="6668">
                      <a:solidFill>
                        <a:srgbClr val="DCE3DA"/>
                      </a:solidFill>
                      <a:prstDash val="solid"/>
                    </a:lnT>
                    <a:lnB w="6668">
                      <a:solidFill>
                        <a:srgbClr val="DCE3DA"/>
                      </a:solidFill>
                      <a:prstDash val="solid"/>
                    </a:lnB>
                    <a:solidFill>
                      <a:srgbClr val="39725C"/>
                    </a:solidFill>
                  </a:tcPr>
                </a:tc>
                <a:tc>
                  <a:txBody>
                    <a:bodyPr wrap="square">
                      <a:noAutofit/>
                    </a:bodyPr>
                    <a:lstStyle/>
                    <a:p>
                      <a:r>
                        <a:rPr sz="1650" b="1">
                          <a:solidFill>
                            <a:srgbClr val="FFFFFF"/>
                          </a:solidFill>
                          <a:latin typeface="Arial"/>
                          <a:ea typeface="Arial"/>
                          <a:cs typeface="Arial"/>
                        </a:rPr>
                        <a:t>Interpretation</a:t>
                      </a:r>
                    </a:p>
                  </a:txBody>
                  <a:tcPr marL="114300" marR="114300" marT="47625" marB="47625" anchor="ctr">
                    <a:lnR w="6668">
                      <a:solidFill>
                        <a:srgbClr val="DCE3DA"/>
                      </a:solidFill>
                      <a:prstDash val="solid"/>
                    </a:lnR>
                    <a:lnT w="6668">
                      <a:solidFill>
                        <a:srgbClr val="DCE3DA"/>
                      </a:solidFill>
                      <a:prstDash val="solid"/>
                    </a:lnT>
                    <a:lnB w="6668">
                      <a:solidFill>
                        <a:srgbClr val="DCE3DA"/>
                      </a:solidFill>
                      <a:prstDash val="solid"/>
                    </a:lnB>
                    <a:solidFill>
                      <a:srgbClr val="39725C"/>
                    </a:solidFill>
                  </a:tcPr>
                </a:tc>
              </a:tr>
              <a:tr h="666750">
                <a:tc>
                  <a:txBody>
                    <a:bodyPr wrap="square">
                      <a:noAutofit/>
                    </a:bodyPr>
                    <a:lstStyle/>
                    <a:p>
                      <a:r>
                        <a:rPr sz="1725" b="1">
                          <a:solidFill>
                            <a:srgbClr val="26332E"/>
                          </a:solidFill>
                          <a:latin typeface="Arial"/>
                          <a:ea typeface="Arial"/>
                          <a:cs typeface="Arial"/>
                        </a:rPr>
                        <a:t>Detected English</a:t>
                      </a:r>
                    </a:p>
                  </a:txBody>
                  <a:tcPr marL="114300" marR="114300" marT="47625" marB="47625" anchor="ctr">
                    <a:lnL w="6668">
                      <a:solidFill>
                        <a:srgbClr val="DCE3DA"/>
                      </a:solidFill>
                      <a:prstDash val="solid"/>
                    </a:lnL>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3,819 reviews</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Eligible for the English annotation study.</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r>
              <a:tr h="666750">
                <a:tc>
                  <a:txBody>
                    <a:bodyPr wrap="square">
                      <a:noAutofit/>
                    </a:bodyPr>
                    <a:lstStyle/>
                    <a:p>
                      <a:r>
                        <a:rPr sz="1725" b="1">
                          <a:solidFill>
                            <a:srgbClr val="26332E"/>
                          </a:solidFill>
                          <a:latin typeface="Arial"/>
                          <a:ea typeface="Arial"/>
                          <a:cs typeface="Arial"/>
                        </a:rPr>
                        <a:t>Short or undetermined language</a:t>
                      </a:r>
                    </a:p>
                  </a:txBody>
                  <a:tcPr marL="114300" marR="114300" marT="47625" marB="47625" anchor="ctr">
                    <a:lnL w="6668">
                      <a:solidFill>
                        <a:srgbClr val="DCE3DA"/>
                      </a:solidFill>
                      <a:prstDash val="solid"/>
                    </a:lnL>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527 reviews</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Retained provisionally with an uncertainty warning.</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r>
              <a:tr h="666750">
                <a:tc>
                  <a:txBody>
                    <a:bodyPr wrap="square">
                      <a:noAutofit/>
                    </a:bodyPr>
                    <a:lstStyle/>
                    <a:p>
                      <a:r>
                        <a:rPr sz="1725" b="1">
                          <a:solidFill>
                            <a:srgbClr val="26332E"/>
                          </a:solidFill>
                          <a:latin typeface="Arial"/>
                          <a:ea typeface="Arial"/>
                          <a:cs typeface="Arial"/>
                        </a:rPr>
                        <a:t>Prepared review count</a:t>
                      </a:r>
                    </a:p>
                  </a:txBody>
                  <a:tcPr marL="114300" marR="114300" marT="47625" marB="47625" anchor="ctr">
                    <a:lnL w="6668">
                      <a:solidFill>
                        <a:srgbClr val="DCE3DA"/>
                      </a:solidFill>
                      <a:prstDash val="solid"/>
                    </a:lnL>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4,346</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English plus undetermined records.</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r>
              <a:tr h="666750">
                <a:tc>
                  <a:txBody>
                    <a:bodyPr wrap="square">
                      <a:noAutofit/>
                    </a:bodyPr>
                    <a:lstStyle/>
                    <a:p>
                      <a:r>
                        <a:rPr sz="1725" b="1">
                          <a:solidFill>
                            <a:srgbClr val="26332E"/>
                          </a:solidFill>
                          <a:latin typeface="Arial"/>
                          <a:ea typeface="Arial"/>
                          <a:cs typeface="Arial"/>
                        </a:rPr>
                        <a:t>Selected listing count</a:t>
                      </a:r>
                    </a:p>
                  </a:txBody>
                  <a:tcPr marL="114300" marR="114300" marT="47625" marB="47625" anchor="ctr">
                    <a:lnL w="6668">
                      <a:solidFill>
                        <a:srgbClr val="DCE3DA"/>
                      </a:solidFill>
                      <a:prstDash val="solid"/>
                    </a:lnL>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12</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Product conditions and variants remain distinct.</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r>
              <a:tr h="666750">
                <a:tc>
                  <a:txBody>
                    <a:bodyPr wrap="square">
                      <a:noAutofit/>
                    </a:bodyPr>
                    <a:lstStyle/>
                    <a:p>
                      <a:r>
                        <a:rPr sz="1725" b="1">
                          <a:solidFill>
                            <a:srgbClr val="26332E"/>
                          </a:solidFill>
                          <a:latin typeface="Arial"/>
                          <a:ea typeface="Arial"/>
                          <a:cs typeface="Arial"/>
                        </a:rPr>
                        <a:t>Selected date range</a:t>
                      </a:r>
                    </a:p>
                  </a:txBody>
                  <a:tcPr marL="114300" marR="114300" marT="47625" marB="47625" anchor="ctr">
                    <a:lnL w="6668">
                      <a:solidFill>
                        <a:srgbClr val="DCE3DA"/>
                      </a:solidFill>
                      <a:prstDash val="solid"/>
                    </a:lnL>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July 2016–December 2019</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Historical coverage, not a current market ranking.</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r>
            </a:tbl>
          </a:graphicData>
        </a:graphic>
      </p:graphicFrame>
    </p:spTree>
    <p:extLst>
      <p:ext uri="{BB962C8B-B14F-4D97-AF65-F5344CB8AC3E}">
        <p14:creationId xmlns:p14="http://schemas.microsoft.com/office/powerpoint/2010/main" val="2128672115"/>
      </p:ext>
    </p:extLst>
  </p:cSld>
</p:sld>
</file>

<file path=ppt/slides/slide12.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10" name="chapter">
            <a:extLst xmlns:a="http://schemas.openxmlformats.org/drawingml/2006/main">
              <a:ext uri="{FF2B5EF4-FFF2-40B4-BE49-F238E27FC236}">
                <a16:creationId xmlns:a16="http://schemas.microsoft.com/office/drawing/2014/main" id="{E08352E4-42B9-411E-A1F5-903943D084D7}"/>
              </a:ext>
            </a:extLst>
          </p:cNvPr>
          <p:cNvSpPr>
            <a:spLocks xmlns:a="http://schemas.openxmlformats.org/drawingml/2006/main" noGrp="1"/>
          </p:cNvSpPr>
          <p:nvPr/>
        </p:nvSpPr>
        <p:spPr>
          <a:xfrm xmlns:a="http://schemas.openxmlformats.org/drawingml/2006/main">
            <a:off x="685800" y="381000"/>
            <a:ext cx="933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39725C"/>
                </a:solidFill>
                <a:latin typeface="Arial"/>
                <a:ea typeface="Arial"/>
                <a:cs typeface="Arial"/>
              </a:defRPr>
            </a:defPPr>
          </a:lstStyle>
          <a:p xmlns:a="http://schemas.openxmlformats.org/drawingml/2006/main">
            <a:pPr algn="l">
              <a:defRPr sz="1200" b="1">
                <a:solidFill>
                  <a:srgbClr val="39725C"/>
                </a:solidFill>
                <a:latin typeface="Arial"/>
                <a:ea typeface="Arial"/>
                <a:cs typeface="Arial"/>
              </a:defRPr>
            </a:pPr>
            <a:r>
              <a:rPr sz="1200" b="1">
                <a:solidFill>
                  <a:srgbClr val="39725C"/>
                </a:solidFill>
                <a:latin typeface="Arial"/>
                <a:ea typeface="Arial"/>
                <a:cs typeface="Arial"/>
              </a:rPr>
              <a:t>THE LABELS</a:t>
            </a:r>
          </a:p>
        </p:txBody>
      </p:sp>
      <p:sp>
        <p:nvSpPr>
          <p:cNvPr id="2" name="primary-heading">
            <a:extLst xmlns:a="http://schemas.openxmlformats.org/drawingml/2006/main">
              <a:ext uri="{FF2B5EF4-FFF2-40B4-BE49-F238E27FC236}">
                <a16:creationId xmlns:a16="http://schemas.microsoft.com/office/drawing/2014/main" id="{9BBCF4E4-74C1-4B89-92E6-E0AB0A4CA45C}"/>
              </a:ext>
            </a:extLst>
          </p:cNvPr>
          <p:cNvSpPr>
            <a:spLocks xmlns:a="http://schemas.openxmlformats.org/drawingml/2006/main" noGrp="1"/>
          </p:cNvSpPr>
          <p:nvPr/>
        </p:nvSpPr>
        <p:spPr>
          <a:xfrm xmlns:a="http://schemas.openxmlformats.org/drawingml/2006/main">
            <a:off x="685800" y="83820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6332E"/>
                </a:solidFill>
                <a:latin typeface="Arial"/>
                <a:ea typeface="Arial"/>
                <a:cs typeface="Arial"/>
              </a:defRPr>
            </a:defPPr>
          </a:lstStyle>
          <a:p xmlns:a="http://schemas.openxmlformats.org/drawingml/2006/main">
            <a:pPr algn="l">
              <a:defRPr sz="3300" b="1">
                <a:solidFill>
                  <a:srgbClr val="26332E"/>
                </a:solidFill>
                <a:latin typeface="Arial"/>
                <a:ea typeface="Arial"/>
                <a:cs typeface="Arial"/>
              </a:defRPr>
            </a:pPr>
            <a:r>
              <a:rPr sz="3300" b="1">
                <a:solidFill>
                  <a:srgbClr val="26332E"/>
                </a:solidFill>
                <a:latin typeface="Arial"/>
                <a:ea typeface="Arial"/>
                <a:cs typeface="Arial"/>
              </a:rPr>
              <a:t>Review ratings do not provide aspect labels</a:t>
            </a:r>
          </a:p>
        </p:txBody>
      </p:sp>
      <p:sp>
        <p:nvSpPr>
          <p:cNvPr id="3" name="footer-label">
            <a:extLst xmlns:a="http://schemas.openxmlformats.org/drawingml/2006/main">
              <a:ext uri="{FF2B5EF4-FFF2-40B4-BE49-F238E27FC236}">
                <a16:creationId xmlns:a16="http://schemas.microsoft.com/office/drawing/2014/main" id="{F50CBCD4-321C-468B-98B3-779A6B3CD6AE}"/>
              </a:ext>
            </a:extLst>
          </p:cNvPr>
          <p:cNvSpPr>
            <a:spLocks xmlns:a="http://schemas.openxmlformats.org/drawingml/2006/main" noGrp="1"/>
          </p:cNvSpPr>
          <p:nvPr/>
        </p:nvSpPr>
        <p:spPr>
          <a:xfrm xmlns:a="http://schemas.openxmlformats.org/drawingml/2006/main">
            <a:off x="685800" y="6505575"/>
            <a:ext cx="952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0">
                <a:solidFill>
                  <a:srgbClr val="66736C"/>
                </a:solidFill>
                <a:latin typeface="Arial"/>
                <a:ea typeface="Arial"/>
                <a:cs typeface="Arial"/>
              </a:defRPr>
            </a:defPPr>
          </a:lstStyle>
          <a:p xmlns:a="http://schemas.openxmlformats.org/drawingml/2006/main">
            <a:pPr algn="l">
              <a:defRPr sz="900" b="0">
                <a:solidFill>
                  <a:srgbClr val="66736C"/>
                </a:solidFill>
                <a:latin typeface="Arial"/>
                <a:ea typeface="Arial"/>
                <a:cs typeface="Arial"/>
              </a:defRPr>
            </a:pPr>
            <a:r>
              <a:rPr sz="900" b="0">
                <a:solidFill>
                  <a:srgbClr val="66736C"/>
                </a:solidFill>
                <a:latin typeface="Arial"/>
                <a:ea typeface="Arial"/>
                <a:cs typeface="Arial"/>
              </a:rPr>
              <a:t>ASPECT  /  PROJECT REFERENCE  /  1.0.0</a:t>
            </a:r>
          </a:p>
        </p:txBody>
      </p:sp>
      <p:sp>
        <p:nvSpPr>
          <p:cNvPr id="4" name="page-number">
            <a:extLst xmlns:a="http://schemas.openxmlformats.org/drawingml/2006/main">
              <a:ext uri="{FF2B5EF4-FFF2-40B4-BE49-F238E27FC236}">
                <a16:creationId xmlns:a16="http://schemas.microsoft.com/office/drawing/2014/main" id="{246318A1-2AD2-4B41-9872-80EC632690BE}"/>
              </a:ext>
            </a:extLst>
          </p:cNvPr>
          <p:cNvSpPr>
            <a:spLocks xmlns:a="http://schemas.openxmlformats.org/drawingml/2006/main" noGrp="1"/>
          </p:cNvSpPr>
          <p:nvPr/>
        </p:nvSpPr>
        <p:spPr>
          <a:xfrm xmlns:a="http://schemas.openxmlformats.org/drawingml/2006/main">
            <a:off x="10620375" y="6505575"/>
            <a:ext cx="8858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a:solidFill>
                  <a:srgbClr val="66736C"/>
                </a:solidFill>
                <a:latin typeface="Arial"/>
                <a:ea typeface="Arial"/>
                <a:cs typeface="Arial"/>
              </a:defRPr>
            </a:defPPr>
          </a:lstStyle>
          <a:p xmlns:a="http://schemas.openxmlformats.org/drawingml/2006/main">
            <a:pPr algn="r">
              <a:defRPr sz="900" b="0">
                <a:solidFill>
                  <a:srgbClr val="66736C"/>
                </a:solidFill>
                <a:latin typeface="Arial"/>
                <a:ea typeface="Arial"/>
                <a:cs typeface="Arial"/>
              </a:defRPr>
            </a:pPr>
            <a:r>
              <a:rPr sz="900" b="0">
                <a:solidFill>
                  <a:srgbClr val="66736C"/>
                </a:solidFill>
                <a:latin typeface="Arial"/>
                <a:ea typeface="Arial"/>
                <a:cs typeface="Arial"/>
              </a:rPr>
              <a:t>12 / 52</a:t>
            </a:r>
          </a:p>
        </p:txBody>
      </p:sp>
      <p:sp>
        <p:nvSpPr>
          <p:cNvPr id="5" name="context-note">
            <a:extLst xmlns:a="http://schemas.openxmlformats.org/drawingml/2006/main">
              <a:ext uri="{FF2B5EF4-FFF2-40B4-BE49-F238E27FC236}">
                <a16:creationId xmlns:a16="http://schemas.microsoft.com/office/drawing/2014/main" id="{A9A17C16-DE04-4593-B63A-9530CB067EF7}"/>
              </a:ext>
            </a:extLst>
          </p:cNvPr>
          <p:cNvSpPr>
            <a:spLocks xmlns:a="http://schemas.openxmlformats.org/drawingml/2006/main" noGrp="1"/>
          </p:cNvSpPr>
          <p:nvPr/>
        </p:nvSpPr>
        <p:spPr>
          <a:xfrm xmlns:a="http://schemas.openxmlformats.org/drawingml/2006/main">
            <a:off x="685800" y="5924550"/>
            <a:ext cx="108204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39725C"/>
                </a:solidFill>
                <a:latin typeface="Arial"/>
                <a:ea typeface="Arial"/>
                <a:cs typeface="Arial"/>
              </a:defRPr>
            </a:defPPr>
          </a:lstStyle>
          <a:p xmlns:a="http://schemas.openxmlformats.org/drawingml/2006/main">
            <a:pPr algn="l">
              <a:defRPr sz="1725" b="0">
                <a:solidFill>
                  <a:srgbClr val="39725C"/>
                </a:solidFill>
                <a:latin typeface="Arial"/>
                <a:ea typeface="Arial"/>
                <a:cs typeface="Arial"/>
              </a:defRPr>
            </a:pPr>
            <a:r>
              <a:rPr sz="1725" b="0">
                <a:solidFill>
                  <a:srgbClr val="39725C"/>
                </a:solidFill>
                <a:latin typeface="Arial"/>
                <a:ea typeface="Arial"/>
                <a:cs typeface="Arial"/>
              </a:rPr>
              <a:t>The project stores human decisions and AI-assisted labels as different origins.</a:t>
            </a:r>
          </a:p>
        </p:txBody>
      </p:sp>
      <p:sp>
        <p:nvSpPr>
          <p:cNvPr id="6" name="column-label-0">
            <a:extLst xmlns:a="http://schemas.openxmlformats.org/drawingml/2006/main">
              <a:ext uri="{FF2B5EF4-FFF2-40B4-BE49-F238E27FC236}">
                <a16:creationId xmlns:a16="http://schemas.microsoft.com/office/drawing/2014/main" id="{7371C1C1-7263-4FA2-AC66-B2954A23D8BB}"/>
              </a:ext>
            </a:extLst>
          </p:cNvPr>
          <p:cNvSpPr>
            <a:spLocks xmlns:a="http://schemas.openxmlformats.org/drawingml/2006/main" noGrp="1"/>
          </p:cNvSpPr>
          <p:nvPr/>
        </p:nvSpPr>
        <p:spPr>
          <a:xfrm xmlns:a="http://schemas.openxmlformats.org/drawingml/2006/main">
            <a:off x="685800" y="1905000"/>
            <a:ext cx="52006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39725C"/>
                </a:solidFill>
                <a:latin typeface="Arial"/>
                <a:ea typeface="Arial"/>
                <a:cs typeface="Arial"/>
              </a:defRPr>
            </a:defPPr>
          </a:lstStyle>
          <a:p xmlns:a="http://schemas.openxmlformats.org/drawingml/2006/main">
            <a:pPr algn="l">
              <a:defRPr sz="2175" b="1">
                <a:solidFill>
                  <a:srgbClr val="39725C"/>
                </a:solidFill>
                <a:latin typeface="Arial"/>
                <a:ea typeface="Arial"/>
                <a:cs typeface="Arial"/>
              </a:defRPr>
            </a:pPr>
            <a:r>
              <a:rPr sz="2175" b="1">
                <a:solidFill>
                  <a:srgbClr val="39725C"/>
                </a:solidFill>
                <a:latin typeface="Arial"/>
                <a:ea typeface="Arial"/>
                <a:cs typeface="Arial"/>
              </a:rPr>
              <a:t>Source metadata</a:t>
            </a:r>
          </a:p>
        </p:txBody>
      </p:sp>
      <p:sp>
        <p:nvSpPr>
          <p:cNvPr id="7" name="column-copy-0">
            <a:extLst xmlns:a="http://schemas.openxmlformats.org/drawingml/2006/main">
              <a:ext uri="{FF2B5EF4-FFF2-40B4-BE49-F238E27FC236}">
                <a16:creationId xmlns:a16="http://schemas.microsoft.com/office/drawing/2014/main" id="{D31BFF8F-DAC7-46F4-85A4-428E9FD8E2BD}"/>
              </a:ext>
            </a:extLst>
          </p:cNvPr>
          <p:cNvSpPr>
            <a:spLocks xmlns:a="http://schemas.openxmlformats.org/drawingml/2006/main" noGrp="1"/>
          </p:cNvSpPr>
          <p:nvPr/>
        </p:nvSpPr>
        <p:spPr>
          <a:xfrm xmlns:a="http://schemas.openxmlformats.org/drawingml/2006/main">
            <a:off x="685800" y="2552700"/>
            <a:ext cx="520065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26332E"/>
                </a:solidFill>
                <a:latin typeface="Arial"/>
                <a:ea typeface="Arial"/>
                <a:cs typeface="Arial"/>
              </a:defRPr>
            </a:defPPr>
          </a:lstStyle>
          <a:p xmlns:a="http://schemas.openxmlformats.org/drawingml/2006/main">
            <a:pPr algn="l">
              <a:defRPr sz="2175" b="0">
                <a:solidFill>
                  <a:srgbClr val="26332E"/>
                </a:solidFill>
                <a:latin typeface="Arial"/>
                <a:ea typeface="Arial"/>
                <a:cs typeface="Arial"/>
              </a:defRPr>
            </a:pPr>
            <a:r>
              <a:rPr sz="2175" b="0">
                <a:solidFill>
                  <a:srgbClr val="26332E"/>
                </a:solidFill>
                <a:latin typeface="Arial"/>
                <a:ea typeface="Arial"/>
                <a:cs typeface="Arial"/>
              </a:rPr>
              <a:t>A star rating describes the overall review. It cannot identify which feature caused the opinion.</a:t>
            </a:r>
          </a:p>
        </p:txBody>
      </p:sp>
      <p:sp>
        <p:nvSpPr>
          <p:cNvPr id="8" name="column-label-1">
            <a:extLst xmlns:a="http://schemas.openxmlformats.org/drawingml/2006/main">
              <a:ext uri="{FF2B5EF4-FFF2-40B4-BE49-F238E27FC236}">
                <a16:creationId xmlns:a16="http://schemas.microsoft.com/office/drawing/2014/main" id="{7764D485-DD5E-4780-82C2-26F4BCEF9665}"/>
              </a:ext>
            </a:extLst>
          </p:cNvPr>
          <p:cNvSpPr>
            <a:spLocks xmlns:a="http://schemas.openxmlformats.org/drawingml/2006/main" noGrp="1"/>
          </p:cNvSpPr>
          <p:nvPr/>
        </p:nvSpPr>
        <p:spPr>
          <a:xfrm xmlns:a="http://schemas.openxmlformats.org/drawingml/2006/main">
            <a:off x="6305550" y="1905000"/>
            <a:ext cx="52006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39725C"/>
                </a:solidFill>
                <a:latin typeface="Arial"/>
                <a:ea typeface="Arial"/>
                <a:cs typeface="Arial"/>
              </a:defRPr>
            </a:defPPr>
          </a:lstStyle>
          <a:p xmlns:a="http://schemas.openxmlformats.org/drawingml/2006/main">
            <a:pPr algn="l">
              <a:defRPr sz="2175" b="1">
                <a:solidFill>
                  <a:srgbClr val="39725C"/>
                </a:solidFill>
                <a:latin typeface="Arial"/>
                <a:ea typeface="Arial"/>
                <a:cs typeface="Arial"/>
              </a:defRPr>
            </a:pPr>
            <a:r>
              <a:rPr sz="2175" b="1">
                <a:solidFill>
                  <a:srgbClr val="39725C"/>
                </a:solidFill>
                <a:latin typeface="Arial"/>
                <a:ea typeface="Arial"/>
                <a:cs typeface="Arial"/>
              </a:rPr>
              <a:t>Research annotations</a:t>
            </a:r>
          </a:p>
        </p:txBody>
      </p:sp>
      <p:sp>
        <p:nvSpPr>
          <p:cNvPr id="9" name="column-copy-1">
            <a:extLst xmlns:a="http://schemas.openxmlformats.org/drawingml/2006/main">
              <a:ext uri="{FF2B5EF4-FFF2-40B4-BE49-F238E27FC236}">
                <a16:creationId xmlns:a16="http://schemas.microsoft.com/office/drawing/2014/main" id="{CC8FF076-9C5D-4512-B86D-9CA5FF8FA1F4}"/>
              </a:ext>
            </a:extLst>
          </p:cNvPr>
          <p:cNvSpPr>
            <a:spLocks xmlns:a="http://schemas.openxmlformats.org/drawingml/2006/main" noGrp="1"/>
          </p:cNvSpPr>
          <p:nvPr/>
        </p:nvSpPr>
        <p:spPr>
          <a:xfrm xmlns:a="http://schemas.openxmlformats.org/drawingml/2006/main">
            <a:off x="6305550" y="2552700"/>
            <a:ext cx="520065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26332E"/>
                </a:solidFill>
                <a:latin typeface="Arial"/>
                <a:ea typeface="Arial"/>
                <a:cs typeface="Arial"/>
              </a:defRPr>
            </a:defPPr>
          </a:lstStyle>
          <a:p xmlns:a="http://schemas.openxmlformats.org/drawingml/2006/main">
            <a:pPr algn="l">
              <a:defRPr sz="2175" b="0">
                <a:solidFill>
                  <a:srgbClr val="26332E"/>
                </a:solidFill>
                <a:latin typeface="Arial"/>
                <a:ea typeface="Arial"/>
                <a:cs typeface="Arial"/>
              </a:defRPr>
            </a:pPr>
            <a:r>
              <a:rPr sz="2175" b="0">
                <a:solidFill>
                  <a:srgbClr val="26332E"/>
                </a:solidFill>
                <a:latin typeface="Arial"/>
                <a:ea typeface="Arial"/>
                <a:cs typeface="Arial"/>
              </a:rPr>
              <a:t>Each sentence receives a state for every category, with origin, reference type and annotation history.</a:t>
            </a:r>
          </a:p>
        </p:txBody>
      </p:sp>
    </p:spTree>
    <p:extLst>
      <p:ext uri="{BB962C8B-B14F-4D97-AF65-F5344CB8AC3E}">
        <p14:creationId xmlns:p14="http://schemas.microsoft.com/office/powerpoint/2010/main" val="389224265"/>
      </p:ext>
    </p:extLst>
  </p:cSld>
</p:sld>
</file>

<file path=ppt/slides/slide13.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8" name="chapter">
            <a:extLst xmlns:a="http://schemas.openxmlformats.org/drawingml/2006/main">
              <a:ext uri="{FF2B5EF4-FFF2-40B4-BE49-F238E27FC236}">
                <a16:creationId xmlns:a16="http://schemas.microsoft.com/office/drawing/2014/main" id="{F524757F-933A-4991-93D1-03B8871234FB}"/>
              </a:ext>
            </a:extLst>
          </p:cNvPr>
          <p:cNvSpPr>
            <a:spLocks xmlns:a="http://schemas.openxmlformats.org/drawingml/2006/main" noGrp="1"/>
          </p:cNvSpPr>
          <p:nvPr/>
        </p:nvSpPr>
        <p:spPr>
          <a:xfrm xmlns:a="http://schemas.openxmlformats.org/drawingml/2006/main">
            <a:off x="685800" y="381000"/>
            <a:ext cx="933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39725C"/>
                </a:solidFill>
                <a:latin typeface="Arial"/>
                <a:ea typeface="Arial"/>
                <a:cs typeface="Arial"/>
              </a:defRPr>
            </a:defPPr>
          </a:lstStyle>
          <a:p xmlns:a="http://schemas.openxmlformats.org/drawingml/2006/main">
            <a:pPr algn="l">
              <a:defRPr sz="1200" b="1">
                <a:solidFill>
                  <a:srgbClr val="39725C"/>
                </a:solidFill>
                <a:latin typeface="Arial"/>
                <a:ea typeface="Arial"/>
                <a:cs typeface="Arial"/>
              </a:defRPr>
            </a:pPr>
            <a:r>
              <a:rPr sz="1200" b="1">
                <a:solidFill>
                  <a:srgbClr val="39725C"/>
                </a:solidFill>
                <a:latin typeface="Arial"/>
                <a:ea typeface="Arial"/>
                <a:cs typeface="Arial"/>
              </a:rPr>
              <a:t>THE LABELS</a:t>
            </a:r>
          </a:p>
        </p:txBody>
      </p:sp>
      <p:sp>
        <p:nvSpPr>
          <p:cNvPr id="2" name="primary-heading">
            <a:extLst xmlns:a="http://schemas.openxmlformats.org/drawingml/2006/main">
              <a:ext uri="{FF2B5EF4-FFF2-40B4-BE49-F238E27FC236}">
                <a16:creationId xmlns:a16="http://schemas.microsoft.com/office/drawing/2014/main" id="{07AD8DD8-FBED-4839-8BE7-5A7A585F79B7}"/>
              </a:ext>
            </a:extLst>
          </p:cNvPr>
          <p:cNvSpPr>
            <a:spLocks xmlns:a="http://schemas.openxmlformats.org/drawingml/2006/main" noGrp="1"/>
          </p:cNvSpPr>
          <p:nvPr/>
        </p:nvSpPr>
        <p:spPr>
          <a:xfrm xmlns:a="http://schemas.openxmlformats.org/drawingml/2006/main">
            <a:off x="685800" y="83820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6332E"/>
                </a:solidFill>
                <a:latin typeface="Arial"/>
                <a:ea typeface="Arial"/>
                <a:cs typeface="Arial"/>
              </a:defRPr>
            </a:defPPr>
          </a:lstStyle>
          <a:p xmlns:a="http://schemas.openxmlformats.org/drawingml/2006/main">
            <a:pPr algn="l">
              <a:defRPr sz="3300" b="1">
                <a:solidFill>
                  <a:srgbClr val="26332E"/>
                </a:solidFill>
                <a:latin typeface="Arial"/>
                <a:ea typeface="Arial"/>
                <a:cs typeface="Arial"/>
              </a:defRPr>
            </a:pPr>
            <a:r>
              <a:rPr sz="3300" b="1">
                <a:solidFill>
                  <a:srgbClr val="26332E"/>
                </a:solidFill>
                <a:latin typeface="Arial"/>
                <a:ea typeface="Arial"/>
                <a:cs typeface="Arial"/>
              </a:rPr>
              <a:t>A frozen study keeps review groups together</a:t>
            </a:r>
          </a:p>
        </p:txBody>
      </p:sp>
      <p:sp>
        <p:nvSpPr>
          <p:cNvPr id="3" name="footer-label">
            <a:extLst xmlns:a="http://schemas.openxmlformats.org/drawingml/2006/main">
              <a:ext uri="{FF2B5EF4-FFF2-40B4-BE49-F238E27FC236}">
                <a16:creationId xmlns:a16="http://schemas.microsoft.com/office/drawing/2014/main" id="{07F15797-5E91-42ED-8DF4-6AAE392D0225}"/>
              </a:ext>
            </a:extLst>
          </p:cNvPr>
          <p:cNvSpPr>
            <a:spLocks xmlns:a="http://schemas.openxmlformats.org/drawingml/2006/main" noGrp="1"/>
          </p:cNvSpPr>
          <p:nvPr/>
        </p:nvSpPr>
        <p:spPr>
          <a:xfrm xmlns:a="http://schemas.openxmlformats.org/drawingml/2006/main">
            <a:off x="685800" y="6505575"/>
            <a:ext cx="952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0">
                <a:solidFill>
                  <a:srgbClr val="66736C"/>
                </a:solidFill>
                <a:latin typeface="Arial"/>
                <a:ea typeface="Arial"/>
                <a:cs typeface="Arial"/>
              </a:defRPr>
            </a:defPPr>
          </a:lstStyle>
          <a:p xmlns:a="http://schemas.openxmlformats.org/drawingml/2006/main">
            <a:pPr algn="l">
              <a:defRPr sz="900" b="0">
                <a:solidFill>
                  <a:srgbClr val="66736C"/>
                </a:solidFill>
                <a:latin typeface="Arial"/>
                <a:ea typeface="Arial"/>
                <a:cs typeface="Arial"/>
              </a:defRPr>
            </a:pPr>
            <a:r>
              <a:rPr sz="900" b="0">
                <a:solidFill>
                  <a:srgbClr val="66736C"/>
                </a:solidFill>
                <a:latin typeface="Arial"/>
                <a:ea typeface="Arial"/>
                <a:cs typeface="Arial"/>
              </a:rPr>
              <a:t>ASPECT  /  PROJECT REFERENCE  /  1.0.0</a:t>
            </a:r>
          </a:p>
        </p:txBody>
      </p:sp>
      <p:sp>
        <p:nvSpPr>
          <p:cNvPr id="4" name="page-number">
            <a:extLst xmlns:a="http://schemas.openxmlformats.org/drawingml/2006/main">
              <a:ext uri="{FF2B5EF4-FFF2-40B4-BE49-F238E27FC236}">
                <a16:creationId xmlns:a16="http://schemas.microsoft.com/office/drawing/2014/main" id="{3EB9E438-E8DA-4E07-BFD3-5EF1BB41F2AA}"/>
              </a:ext>
            </a:extLst>
          </p:cNvPr>
          <p:cNvSpPr>
            <a:spLocks xmlns:a="http://schemas.openxmlformats.org/drawingml/2006/main" noGrp="1"/>
          </p:cNvSpPr>
          <p:nvPr/>
        </p:nvSpPr>
        <p:spPr>
          <a:xfrm xmlns:a="http://schemas.openxmlformats.org/drawingml/2006/main">
            <a:off x="10620375" y="6505575"/>
            <a:ext cx="8858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a:solidFill>
                  <a:srgbClr val="66736C"/>
                </a:solidFill>
                <a:latin typeface="Arial"/>
                <a:ea typeface="Arial"/>
                <a:cs typeface="Arial"/>
              </a:defRPr>
            </a:defPPr>
          </a:lstStyle>
          <a:p xmlns:a="http://schemas.openxmlformats.org/drawingml/2006/main">
            <a:pPr algn="r">
              <a:defRPr sz="900" b="0">
                <a:solidFill>
                  <a:srgbClr val="66736C"/>
                </a:solidFill>
                <a:latin typeface="Arial"/>
                <a:ea typeface="Arial"/>
                <a:cs typeface="Arial"/>
              </a:defRPr>
            </a:pPr>
            <a:r>
              <a:rPr sz="900" b="0">
                <a:solidFill>
                  <a:srgbClr val="66736C"/>
                </a:solidFill>
                <a:latin typeface="Arial"/>
                <a:ea typeface="Arial"/>
                <a:cs typeface="Arial"/>
              </a:rPr>
              <a:t>13 / 52</a:t>
            </a:r>
          </a:p>
        </p:txBody>
      </p:sp>
      <p:sp>
        <p:nvSpPr>
          <p:cNvPr id="5" name="lead">
            <a:extLst xmlns:a="http://schemas.openxmlformats.org/drawingml/2006/main">
              <a:ext uri="{FF2B5EF4-FFF2-40B4-BE49-F238E27FC236}">
                <a16:creationId xmlns:a16="http://schemas.microsoft.com/office/drawing/2014/main" id="{821C2FB3-4A4E-402E-8890-80498FE86B18}"/>
              </a:ext>
            </a:extLst>
          </p:cNvPr>
          <p:cNvSpPr>
            <a:spLocks xmlns:a="http://schemas.openxmlformats.org/drawingml/2006/main" noGrp="1"/>
          </p:cNvSpPr>
          <p:nvPr/>
        </p:nvSpPr>
        <p:spPr>
          <a:xfrm xmlns:a="http://schemas.openxmlformats.org/drawingml/2006/main">
            <a:off x="685800" y="1524000"/>
            <a:ext cx="10820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66736C"/>
                </a:solidFill>
                <a:latin typeface="Arial"/>
                <a:ea typeface="Arial"/>
                <a:cs typeface="Arial"/>
              </a:defRPr>
            </a:defPPr>
          </a:lstStyle>
          <a:p xmlns:a="http://schemas.openxmlformats.org/drawingml/2006/main">
            <a:pPr algn="l">
              <a:defRPr sz="1800" b="0">
                <a:solidFill>
                  <a:srgbClr val="66736C"/>
                </a:solidFill>
                <a:latin typeface="Arial"/>
                <a:ea typeface="Arial"/>
                <a:cs typeface="Arial"/>
              </a:defRPr>
            </a:pPr>
            <a:r>
              <a:rPr sz="1800" b="0">
                <a:solidFill>
                  <a:srgbClr val="66736C"/>
                </a:solidFill>
                <a:latin typeface="Arial"/>
                <a:ea typeface="Arial"/>
                <a:cs typeface="Arial"/>
              </a:rPr>
              <a:t>303 sentences from 64 complete reviews, with a fixed split seed of 42.</a:t>
            </a:r>
          </a:p>
        </p:txBody>
      </p:sp>
      <p:sp>
        <p:nvSpPr>
          <p:cNvPr id="6" name="context-note">
            <a:extLst xmlns:a="http://schemas.openxmlformats.org/drawingml/2006/main">
              <a:ext uri="{FF2B5EF4-FFF2-40B4-BE49-F238E27FC236}">
                <a16:creationId xmlns:a16="http://schemas.microsoft.com/office/drawing/2014/main" id="{D0663483-43FD-4B16-B111-0B8772285271}"/>
              </a:ext>
            </a:extLst>
          </p:cNvPr>
          <p:cNvSpPr>
            <a:spLocks xmlns:a="http://schemas.openxmlformats.org/drawingml/2006/main" noGrp="1"/>
          </p:cNvSpPr>
          <p:nvPr/>
        </p:nvSpPr>
        <p:spPr>
          <a:xfrm xmlns:a="http://schemas.openxmlformats.org/drawingml/2006/main">
            <a:off x="685800" y="5924550"/>
            <a:ext cx="108204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39725C"/>
                </a:solidFill>
                <a:latin typeface="Arial"/>
                <a:ea typeface="Arial"/>
                <a:cs typeface="Arial"/>
              </a:defRPr>
            </a:defPPr>
          </a:lstStyle>
          <a:p xmlns:a="http://schemas.openxmlformats.org/drawingml/2006/main">
            <a:pPr algn="l">
              <a:defRPr sz="1725" b="0">
                <a:solidFill>
                  <a:srgbClr val="39725C"/>
                </a:solidFill>
                <a:latin typeface="Arial"/>
                <a:ea typeface="Arial"/>
                <a:cs typeface="Arial"/>
              </a:defRPr>
            </a:pPr>
            <a:r>
              <a:rPr sz="1725" b="0">
                <a:solidFill>
                  <a:srgbClr val="39725C"/>
                </a:solidFill>
                <a:latin typeface="Arial"/>
                <a:ea typeface="Arial"/>
                <a:cs typeface="Arial"/>
              </a:rPr>
              <a:t>The separate 101-sentence pilot overlaps the training pool. It is training-only.</a:t>
            </a:r>
          </a:p>
        </p:txBody>
      </p:sp>
      <p:graphicFrame>
        <p:nvGraphicFramePr>
          <p:cNvPr id="7" name="Chart">
            <a:extLst xmlns:a="http://schemas.openxmlformats.org/drawingml/2006/main">
              <a:ext uri="{FF2B5EF4-FFF2-40B4-BE49-F238E27FC236}">
                <a16:creationId xmlns:a16="http://schemas.microsoft.com/office/drawing/2014/main" id="{7C822E06-EBCC-4937-B9A6-D55B226DB87A}"/>
              </a:ext>
            </a:extLst>
          </p:cNvPr>
          <p:cNvGraphicFramePr/>
          <p:nvPr/>
        </p:nvGraphicFramePr>
        <p:xfrm>
          <a:off xmlns:a="http://schemas.openxmlformats.org/drawingml/2006/main" x="685800" y="2152650"/>
          <a:ext xmlns:a="http://schemas.openxmlformats.org/drawingml/2006/main" cx="10820400" cy="3429000"/>
        </p:xfrm>
        <a:graphic xmlns:a="http://schemas.openxmlformats.org/drawingml/2006/main">
          <a:graphicData uri="http://schemas.openxmlformats.org/drawingml/2006/chart">
            <c:chart xmlns:r="http://schemas.openxmlformats.org/officeDocument/2006/relationships" xmlns:c="http://schemas.openxmlformats.org/drawingml/2006/chart" r:id="R340fcfafc887404e"/>
          </a:graphicData>
        </a:graphic>
      </p:graphicFrame>
    </p:spTree>
    <p:extLst>
      <p:ext uri="{BB962C8B-B14F-4D97-AF65-F5344CB8AC3E}">
        <p14:creationId xmlns:p14="http://schemas.microsoft.com/office/powerpoint/2010/main" val="1634830864"/>
      </p:ext>
    </p:extLst>
  </p:cSld>
</p:sld>
</file>

<file path=ppt/slides/slide14.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7" name="chapter">
            <a:extLst xmlns:a="http://schemas.openxmlformats.org/drawingml/2006/main">
              <a:ext uri="{FF2B5EF4-FFF2-40B4-BE49-F238E27FC236}">
                <a16:creationId xmlns:a16="http://schemas.microsoft.com/office/drawing/2014/main" id="{0A1D5CB0-61BD-4592-8E9E-86F60445082F}"/>
              </a:ext>
            </a:extLst>
          </p:cNvPr>
          <p:cNvSpPr>
            <a:spLocks xmlns:a="http://schemas.openxmlformats.org/drawingml/2006/main" noGrp="1"/>
          </p:cNvSpPr>
          <p:nvPr/>
        </p:nvSpPr>
        <p:spPr>
          <a:xfrm xmlns:a="http://schemas.openxmlformats.org/drawingml/2006/main">
            <a:off x="685800" y="381000"/>
            <a:ext cx="933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39725C"/>
                </a:solidFill>
                <a:latin typeface="Arial"/>
                <a:ea typeface="Arial"/>
                <a:cs typeface="Arial"/>
              </a:defRPr>
            </a:defPPr>
          </a:lstStyle>
          <a:p xmlns:a="http://schemas.openxmlformats.org/drawingml/2006/main">
            <a:pPr algn="l">
              <a:defRPr sz="1200" b="1">
                <a:solidFill>
                  <a:srgbClr val="39725C"/>
                </a:solidFill>
                <a:latin typeface="Arial"/>
                <a:ea typeface="Arial"/>
                <a:cs typeface="Arial"/>
              </a:defRPr>
            </a:pPr>
            <a:r>
              <a:rPr sz="1200" b="1">
                <a:solidFill>
                  <a:srgbClr val="39725C"/>
                </a:solidFill>
                <a:latin typeface="Arial"/>
                <a:ea typeface="Arial"/>
                <a:cs typeface="Arial"/>
              </a:rPr>
              <a:t>THE LABELS</a:t>
            </a:r>
          </a:p>
        </p:txBody>
      </p:sp>
      <p:sp>
        <p:nvSpPr>
          <p:cNvPr id="2" name="primary-heading">
            <a:extLst xmlns:a="http://schemas.openxmlformats.org/drawingml/2006/main">
              <a:ext uri="{FF2B5EF4-FFF2-40B4-BE49-F238E27FC236}">
                <a16:creationId xmlns:a16="http://schemas.microsoft.com/office/drawing/2014/main" id="{2AC5E046-1171-4970-9F7A-10C1345AFC72}"/>
              </a:ext>
            </a:extLst>
          </p:cNvPr>
          <p:cNvSpPr>
            <a:spLocks xmlns:a="http://schemas.openxmlformats.org/drawingml/2006/main" noGrp="1"/>
          </p:cNvSpPr>
          <p:nvPr/>
        </p:nvSpPr>
        <p:spPr>
          <a:xfrm xmlns:a="http://schemas.openxmlformats.org/drawingml/2006/main">
            <a:off x="685800" y="83820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6332E"/>
                </a:solidFill>
                <a:latin typeface="Arial"/>
                <a:ea typeface="Arial"/>
                <a:cs typeface="Arial"/>
              </a:defRPr>
            </a:defPPr>
          </a:lstStyle>
          <a:p xmlns:a="http://schemas.openxmlformats.org/drawingml/2006/main">
            <a:pPr algn="l">
              <a:defRPr sz="3300" b="1">
                <a:solidFill>
                  <a:srgbClr val="26332E"/>
                </a:solidFill>
                <a:latin typeface="Arial"/>
                <a:ea typeface="Arial"/>
                <a:cs typeface="Arial"/>
              </a:defRPr>
            </a:pPr>
            <a:r>
              <a:rPr sz="3300" b="1">
                <a:solidFill>
                  <a:srgbClr val="26332E"/>
                </a:solidFill>
                <a:latin typeface="Arial"/>
                <a:ea typeface="Arial"/>
                <a:cs typeface="Arial"/>
              </a:rPr>
              <a:t>The recorded labels have different origins</a:t>
            </a:r>
          </a:p>
        </p:txBody>
      </p:sp>
      <p:sp>
        <p:nvSpPr>
          <p:cNvPr id="3" name="footer-label">
            <a:extLst xmlns:a="http://schemas.openxmlformats.org/drawingml/2006/main">
              <a:ext uri="{FF2B5EF4-FFF2-40B4-BE49-F238E27FC236}">
                <a16:creationId xmlns:a16="http://schemas.microsoft.com/office/drawing/2014/main" id="{FBFE4107-8763-4E6F-A3DC-AAEFF812D316}"/>
              </a:ext>
            </a:extLst>
          </p:cNvPr>
          <p:cNvSpPr>
            <a:spLocks xmlns:a="http://schemas.openxmlformats.org/drawingml/2006/main" noGrp="1"/>
          </p:cNvSpPr>
          <p:nvPr/>
        </p:nvSpPr>
        <p:spPr>
          <a:xfrm xmlns:a="http://schemas.openxmlformats.org/drawingml/2006/main">
            <a:off x="685800" y="6505575"/>
            <a:ext cx="952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0">
                <a:solidFill>
                  <a:srgbClr val="66736C"/>
                </a:solidFill>
                <a:latin typeface="Arial"/>
                <a:ea typeface="Arial"/>
                <a:cs typeface="Arial"/>
              </a:defRPr>
            </a:defPPr>
          </a:lstStyle>
          <a:p xmlns:a="http://schemas.openxmlformats.org/drawingml/2006/main">
            <a:pPr algn="l">
              <a:defRPr sz="900" b="0">
                <a:solidFill>
                  <a:srgbClr val="66736C"/>
                </a:solidFill>
                <a:latin typeface="Arial"/>
                <a:ea typeface="Arial"/>
                <a:cs typeface="Arial"/>
              </a:defRPr>
            </a:pPr>
            <a:r>
              <a:rPr sz="900" b="0">
                <a:solidFill>
                  <a:srgbClr val="66736C"/>
                </a:solidFill>
                <a:latin typeface="Arial"/>
                <a:ea typeface="Arial"/>
                <a:cs typeface="Arial"/>
              </a:rPr>
              <a:t>ASPECT  /  PROJECT REFERENCE  /  1.0.0</a:t>
            </a:r>
          </a:p>
        </p:txBody>
      </p:sp>
      <p:sp>
        <p:nvSpPr>
          <p:cNvPr id="4" name="page-number">
            <a:extLst xmlns:a="http://schemas.openxmlformats.org/drawingml/2006/main">
              <a:ext uri="{FF2B5EF4-FFF2-40B4-BE49-F238E27FC236}">
                <a16:creationId xmlns:a16="http://schemas.microsoft.com/office/drawing/2014/main" id="{CD662D47-2E45-4D6C-9511-149AC8A79D42}"/>
              </a:ext>
            </a:extLst>
          </p:cNvPr>
          <p:cNvSpPr>
            <a:spLocks xmlns:a="http://schemas.openxmlformats.org/drawingml/2006/main" noGrp="1"/>
          </p:cNvSpPr>
          <p:nvPr/>
        </p:nvSpPr>
        <p:spPr>
          <a:xfrm xmlns:a="http://schemas.openxmlformats.org/drawingml/2006/main">
            <a:off x="10620375" y="6505575"/>
            <a:ext cx="8858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a:solidFill>
                  <a:srgbClr val="66736C"/>
                </a:solidFill>
                <a:latin typeface="Arial"/>
                <a:ea typeface="Arial"/>
                <a:cs typeface="Arial"/>
              </a:defRPr>
            </a:defPPr>
          </a:lstStyle>
          <a:p xmlns:a="http://schemas.openxmlformats.org/drawingml/2006/main">
            <a:pPr algn="r">
              <a:defRPr sz="900" b="0">
                <a:solidFill>
                  <a:srgbClr val="66736C"/>
                </a:solidFill>
                <a:latin typeface="Arial"/>
                <a:ea typeface="Arial"/>
                <a:cs typeface="Arial"/>
              </a:defRPr>
            </a:pPr>
            <a:r>
              <a:rPr sz="900" b="0">
                <a:solidFill>
                  <a:srgbClr val="66736C"/>
                </a:solidFill>
                <a:latin typeface="Arial"/>
                <a:ea typeface="Arial"/>
                <a:cs typeface="Arial"/>
              </a:rPr>
              <a:t>14 / 52</a:t>
            </a:r>
          </a:p>
        </p:txBody>
      </p:sp>
      <p:sp>
        <p:nvSpPr>
          <p:cNvPr id="5" name="context-note">
            <a:extLst xmlns:a="http://schemas.openxmlformats.org/drawingml/2006/main">
              <a:ext uri="{FF2B5EF4-FFF2-40B4-BE49-F238E27FC236}">
                <a16:creationId xmlns:a16="http://schemas.microsoft.com/office/drawing/2014/main" id="{D6FDDEAB-4C05-4D3C-9EF8-B7D55083BFE2}"/>
              </a:ext>
            </a:extLst>
          </p:cNvPr>
          <p:cNvSpPr>
            <a:spLocks xmlns:a="http://schemas.openxmlformats.org/drawingml/2006/main" noGrp="1"/>
          </p:cNvSpPr>
          <p:nvPr/>
        </p:nvSpPr>
        <p:spPr>
          <a:xfrm xmlns:a="http://schemas.openxmlformats.org/drawingml/2006/main">
            <a:off x="685800" y="5924550"/>
            <a:ext cx="108204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39725C"/>
                </a:solidFill>
                <a:latin typeface="Arial"/>
                <a:ea typeface="Arial"/>
                <a:cs typeface="Arial"/>
              </a:defRPr>
            </a:defPPr>
          </a:lstStyle>
          <a:p xmlns:a="http://schemas.openxmlformats.org/drawingml/2006/main">
            <a:pPr algn="l">
              <a:defRPr sz="1725" b="0">
                <a:solidFill>
                  <a:srgbClr val="39725C"/>
                </a:solidFill>
                <a:latin typeface="Arial"/>
                <a:ea typeface="Arial"/>
                <a:cs typeface="Arial"/>
              </a:defRPr>
            </a:pPr>
            <a:r>
              <a:rPr sz="1725" b="0">
                <a:solidFill>
                  <a:srgbClr val="39725C"/>
                </a:solidFill>
                <a:latin typeface="Arial"/>
                <a:ea typeface="Arial"/>
                <a:cs typeface="Arial"/>
              </a:rPr>
              <a:t>The revised models used inspected validation errors. Their scores measure development agreement.</a:t>
            </a:r>
          </a:p>
        </p:txBody>
      </p:sp>
      <p:graphicFrame>
        <p:nvGraphicFramePr>
          <p:cNvPr id="6" name="">
            <a:extLst xmlns:a="http://schemas.openxmlformats.org/drawingml/2006/main">
              <a:ext uri="{FF2B5EF4-FFF2-40B4-BE49-F238E27FC236}">
                <a16:creationId xmlns:a16="http://schemas.microsoft.com/office/drawing/2014/main" id="{D58C07EE-973C-4C57-918D-743318515BE5}"/>
              </a:ext>
            </a:extLst>
          </p:cNvPr>
          <p:cNvGraphicFramePr/>
          <p:nvPr/>
        </p:nvGraphicFramePr>
        <p:xfrm>
          <a:off xmlns:a="http://schemas.openxmlformats.org/drawingml/2006/main" x="685800" y="1714500"/>
          <a:ext xmlns:a="http://schemas.openxmlformats.org/drawingml/2006/main" cx="10820400" cy="3276600"/>
        </p:xfrm>
        <a:graphic xmlns:a="http://schemas.openxmlformats.org/drawingml/2006/main">
          <a:graphicData uri="http://schemas.openxmlformats.org/drawingml/2006/table">
            <a:tbl>
              <a:tblPr firstRow="1" firstCol="0" lastCol="0" bandRow="0"/>
              <a:tblGrid>
                <a:gridCol w="2286000"/>
                <a:gridCol w="1714500"/>
                <a:gridCol w="6819900"/>
              </a:tblGrid>
              <a:tr h="419100">
                <a:tc>
                  <a:txBody>
                    <a:bodyPr wrap="square">
                      <a:noAutofit/>
                    </a:bodyPr>
                    <a:lstStyle/>
                    <a:p>
                      <a:r>
                        <a:rPr sz="1650" b="1">
                          <a:solidFill>
                            <a:srgbClr val="FFFFFF"/>
                          </a:solidFill>
                          <a:latin typeface="Arial"/>
                          <a:ea typeface="Arial"/>
                          <a:cs typeface="Arial"/>
                        </a:rPr>
                        <a:t>Partition</a:t>
                      </a:r>
                    </a:p>
                  </a:txBody>
                  <a:tcPr marL="114300" marR="114300" marT="47625" marB="47625" anchor="ctr">
                    <a:lnL w="6668">
                      <a:solidFill>
                        <a:srgbClr val="DCE3DA"/>
                      </a:solidFill>
                      <a:prstDash val="solid"/>
                    </a:lnL>
                    <a:lnR w="6668">
                      <a:solidFill>
                        <a:srgbClr val="DCE3DA"/>
                      </a:solidFill>
                      <a:prstDash val="solid"/>
                    </a:lnR>
                    <a:lnT w="6668">
                      <a:solidFill>
                        <a:srgbClr val="DCE3DA"/>
                      </a:solidFill>
                      <a:prstDash val="solid"/>
                    </a:lnT>
                    <a:lnB w="6668">
                      <a:solidFill>
                        <a:srgbClr val="DCE3DA"/>
                      </a:solidFill>
                      <a:prstDash val="solid"/>
                    </a:lnB>
                    <a:solidFill>
                      <a:srgbClr val="39725C"/>
                    </a:solidFill>
                  </a:tcPr>
                </a:tc>
                <a:tc>
                  <a:txBody>
                    <a:bodyPr wrap="square">
                      <a:noAutofit/>
                    </a:bodyPr>
                    <a:lstStyle/>
                    <a:p>
                      <a:r>
                        <a:rPr sz="1650" b="1">
                          <a:solidFill>
                            <a:srgbClr val="FFFFFF"/>
                          </a:solidFill>
                          <a:latin typeface="Arial"/>
                          <a:ea typeface="Arial"/>
                          <a:cs typeface="Arial"/>
                        </a:rPr>
                        <a:t>Sentences</a:t>
                      </a:r>
                    </a:p>
                  </a:txBody>
                  <a:tcPr marL="114300" marR="114300" marT="47625" marB="47625" anchor="ctr">
                    <a:lnR w="6668">
                      <a:solidFill>
                        <a:srgbClr val="DCE3DA"/>
                      </a:solidFill>
                      <a:prstDash val="solid"/>
                    </a:lnR>
                    <a:lnT w="6668">
                      <a:solidFill>
                        <a:srgbClr val="DCE3DA"/>
                      </a:solidFill>
                      <a:prstDash val="solid"/>
                    </a:lnT>
                    <a:lnB w="6668">
                      <a:solidFill>
                        <a:srgbClr val="DCE3DA"/>
                      </a:solidFill>
                      <a:prstDash val="solid"/>
                    </a:lnB>
                    <a:solidFill>
                      <a:srgbClr val="39725C"/>
                    </a:solidFill>
                  </a:tcPr>
                </a:tc>
                <a:tc>
                  <a:txBody>
                    <a:bodyPr wrap="square">
                      <a:noAutofit/>
                    </a:bodyPr>
                    <a:lstStyle/>
                    <a:p>
                      <a:r>
                        <a:rPr sz="1650" b="1">
                          <a:solidFill>
                            <a:srgbClr val="FFFFFF"/>
                          </a:solidFill>
                          <a:latin typeface="Arial"/>
                          <a:ea typeface="Arial"/>
                          <a:cs typeface="Arial"/>
                        </a:rPr>
                        <a:t>Label origin and use</a:t>
                      </a:r>
                    </a:p>
                  </a:txBody>
                  <a:tcPr marL="114300" marR="114300" marT="47625" marB="47625" anchor="ctr">
                    <a:lnR w="6668">
                      <a:solidFill>
                        <a:srgbClr val="DCE3DA"/>
                      </a:solidFill>
                      <a:prstDash val="solid"/>
                    </a:lnR>
                    <a:lnT w="6668">
                      <a:solidFill>
                        <a:srgbClr val="DCE3DA"/>
                      </a:solidFill>
                      <a:prstDash val="solid"/>
                    </a:lnT>
                    <a:lnB w="6668">
                      <a:solidFill>
                        <a:srgbClr val="DCE3DA"/>
                      </a:solidFill>
                      <a:prstDash val="solid"/>
                    </a:lnB>
                    <a:solidFill>
                      <a:srgbClr val="39725C"/>
                    </a:solidFill>
                  </a:tcPr>
                </a:tc>
              </a:tr>
              <a:tr h="952500">
                <a:tc>
                  <a:txBody>
                    <a:bodyPr wrap="square">
                      <a:noAutofit/>
                    </a:bodyPr>
                    <a:lstStyle/>
                    <a:p>
                      <a:r>
                        <a:rPr sz="1725" b="1">
                          <a:solidFill>
                            <a:srgbClr val="26332E"/>
                          </a:solidFill>
                          <a:latin typeface="Arial"/>
                          <a:ea typeface="Arial"/>
                          <a:cs typeface="Arial"/>
                        </a:rPr>
                        <a:t>Training</a:t>
                      </a:r>
                    </a:p>
                  </a:txBody>
                  <a:tcPr marL="114300" marR="114300" marT="47625" marB="47625" anchor="ctr">
                    <a:lnL w="6668">
                      <a:solidFill>
                        <a:srgbClr val="DCE3DA"/>
                      </a:solidFill>
                      <a:prstDash val="solid"/>
                    </a:lnL>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199</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1 human sentence and 198 checkpoint-pseudo-labelled sentences.</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r>
              <a:tr h="952500">
                <a:tc>
                  <a:txBody>
                    <a:bodyPr wrap="square">
                      <a:noAutofit/>
                    </a:bodyPr>
                    <a:lstStyle/>
                    <a:p>
                      <a:r>
                        <a:rPr sz="1725" b="1">
                          <a:solidFill>
                            <a:srgbClr val="26332E"/>
                          </a:solidFill>
                          <a:latin typeface="Arial"/>
                          <a:ea typeface="Arial"/>
                          <a:cs typeface="Arial"/>
                        </a:rPr>
                        <a:t>Validation</a:t>
                      </a:r>
                    </a:p>
                  </a:txBody>
                  <a:tcPr marL="114300" marR="114300" marT="47625" marB="47625" anchor="ctr">
                    <a:lnL w="6668">
                      <a:solidFill>
                        <a:srgbClr val="DCE3DA"/>
                      </a:solidFill>
                      <a:prstDash val="solid"/>
                    </a:lnL>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35</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1 human sentence and 34 AI-assisted sentence reviews.</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r>
              <a:tr h="952500">
                <a:tc>
                  <a:txBody>
                    <a:bodyPr wrap="square">
                      <a:noAutofit/>
                    </a:bodyPr>
                    <a:lstStyle/>
                    <a:p>
                      <a:r>
                        <a:rPr sz="1725" b="1">
                          <a:solidFill>
                            <a:srgbClr val="26332E"/>
                          </a:solidFill>
                          <a:latin typeface="Arial"/>
                          <a:ea typeface="Arial"/>
                          <a:cs typeface="Arial"/>
                        </a:rPr>
                        <a:t>Test</a:t>
                      </a:r>
                    </a:p>
                  </a:txBody>
                  <a:tcPr marL="114300" marR="114300" marT="47625" marB="47625" anchor="ctr">
                    <a:lnL w="6668">
                      <a:solidFill>
                        <a:srgbClr val="DCE3DA"/>
                      </a:solidFill>
                      <a:prstDash val="solid"/>
                    </a:lnL>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69</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Unlabelled. Reserved for independent human annotation.</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r>
            </a:tbl>
          </a:graphicData>
        </a:graphic>
      </p:graphicFrame>
    </p:spTree>
    <p:extLst>
      <p:ext uri="{BB962C8B-B14F-4D97-AF65-F5344CB8AC3E}">
        <p14:creationId xmlns:p14="http://schemas.microsoft.com/office/powerpoint/2010/main" val="410824412"/>
      </p:ext>
    </p:extLst>
  </p:cSld>
</p:sld>
</file>

<file path=ppt/slides/slide15.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6" name="chapter">
            <a:extLst xmlns:a="http://schemas.openxmlformats.org/drawingml/2006/main">
              <a:ext uri="{FF2B5EF4-FFF2-40B4-BE49-F238E27FC236}">
                <a16:creationId xmlns:a16="http://schemas.microsoft.com/office/drawing/2014/main" id="{ED31A20C-3D63-45A9-B871-BDEA75B76184}"/>
              </a:ext>
            </a:extLst>
          </p:cNvPr>
          <p:cNvSpPr>
            <a:spLocks xmlns:a="http://schemas.openxmlformats.org/drawingml/2006/main" noGrp="1"/>
          </p:cNvSpPr>
          <p:nvPr/>
        </p:nvSpPr>
        <p:spPr>
          <a:xfrm xmlns:a="http://schemas.openxmlformats.org/drawingml/2006/main">
            <a:off x="685800" y="381000"/>
            <a:ext cx="933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39725C"/>
                </a:solidFill>
                <a:latin typeface="Arial"/>
                <a:ea typeface="Arial"/>
                <a:cs typeface="Arial"/>
              </a:defRPr>
            </a:defPPr>
          </a:lstStyle>
          <a:p xmlns:a="http://schemas.openxmlformats.org/drawingml/2006/main">
            <a:pPr algn="l">
              <a:defRPr sz="1200" b="1">
                <a:solidFill>
                  <a:srgbClr val="39725C"/>
                </a:solidFill>
                <a:latin typeface="Arial"/>
                <a:ea typeface="Arial"/>
                <a:cs typeface="Arial"/>
              </a:defRPr>
            </a:pPr>
            <a:r>
              <a:rPr sz="1200" b="1">
                <a:solidFill>
                  <a:srgbClr val="39725C"/>
                </a:solidFill>
                <a:latin typeface="Arial"/>
                <a:ea typeface="Arial"/>
                <a:cs typeface="Arial"/>
              </a:rPr>
              <a:t>ARCHITECTURE</a:t>
            </a:r>
          </a:p>
        </p:txBody>
      </p:sp>
      <p:sp>
        <p:nvSpPr>
          <p:cNvPr id="2" name="primary-heading">
            <a:extLst xmlns:a="http://schemas.openxmlformats.org/drawingml/2006/main">
              <a:ext uri="{FF2B5EF4-FFF2-40B4-BE49-F238E27FC236}">
                <a16:creationId xmlns:a16="http://schemas.microsoft.com/office/drawing/2014/main" id="{97ED6528-9FE1-4452-ADB6-4F7A49B3702B}"/>
              </a:ext>
            </a:extLst>
          </p:cNvPr>
          <p:cNvSpPr>
            <a:spLocks xmlns:a="http://schemas.openxmlformats.org/drawingml/2006/main" noGrp="1"/>
          </p:cNvSpPr>
          <p:nvPr/>
        </p:nvSpPr>
        <p:spPr>
          <a:xfrm xmlns:a="http://schemas.openxmlformats.org/drawingml/2006/main">
            <a:off x="685800" y="83820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6332E"/>
                </a:solidFill>
                <a:latin typeface="Arial"/>
                <a:ea typeface="Arial"/>
                <a:cs typeface="Arial"/>
              </a:defRPr>
            </a:defPPr>
          </a:lstStyle>
          <a:p xmlns:a="http://schemas.openxmlformats.org/drawingml/2006/main">
            <a:pPr algn="l">
              <a:defRPr sz="3300" b="1">
                <a:solidFill>
                  <a:srgbClr val="26332E"/>
                </a:solidFill>
                <a:latin typeface="Arial"/>
                <a:ea typeface="Arial"/>
                <a:cs typeface="Arial"/>
              </a:defRPr>
            </a:pPr>
            <a:r>
              <a:rPr sz="3300" b="1">
                <a:solidFill>
                  <a:srgbClr val="26332E"/>
                </a:solidFill>
                <a:latin typeface="Arial"/>
                <a:ea typeface="Arial"/>
                <a:cs typeface="Arial"/>
              </a:rPr>
              <a:t>A review passes through six processing steps</a:t>
            </a:r>
          </a:p>
        </p:txBody>
      </p:sp>
      <p:sp>
        <p:nvSpPr>
          <p:cNvPr id="3" name="footer-label">
            <a:extLst xmlns:a="http://schemas.openxmlformats.org/drawingml/2006/main">
              <a:ext uri="{FF2B5EF4-FFF2-40B4-BE49-F238E27FC236}">
                <a16:creationId xmlns:a16="http://schemas.microsoft.com/office/drawing/2014/main" id="{38B507B2-5B38-4B85-A2E3-1947A77868EE}"/>
              </a:ext>
            </a:extLst>
          </p:cNvPr>
          <p:cNvSpPr>
            <a:spLocks xmlns:a="http://schemas.openxmlformats.org/drawingml/2006/main" noGrp="1"/>
          </p:cNvSpPr>
          <p:nvPr/>
        </p:nvSpPr>
        <p:spPr>
          <a:xfrm xmlns:a="http://schemas.openxmlformats.org/drawingml/2006/main">
            <a:off x="685800" y="6505575"/>
            <a:ext cx="952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0">
                <a:solidFill>
                  <a:srgbClr val="66736C"/>
                </a:solidFill>
                <a:latin typeface="Arial"/>
                <a:ea typeface="Arial"/>
                <a:cs typeface="Arial"/>
              </a:defRPr>
            </a:defPPr>
          </a:lstStyle>
          <a:p xmlns:a="http://schemas.openxmlformats.org/drawingml/2006/main">
            <a:pPr algn="l">
              <a:defRPr sz="900" b="0">
                <a:solidFill>
                  <a:srgbClr val="66736C"/>
                </a:solidFill>
                <a:latin typeface="Arial"/>
                <a:ea typeface="Arial"/>
                <a:cs typeface="Arial"/>
              </a:defRPr>
            </a:pPr>
            <a:r>
              <a:rPr sz="900" b="0">
                <a:solidFill>
                  <a:srgbClr val="66736C"/>
                </a:solidFill>
                <a:latin typeface="Arial"/>
                <a:ea typeface="Arial"/>
                <a:cs typeface="Arial"/>
              </a:rPr>
              <a:t>ASPECT  /  PROJECT REFERENCE  /  1.0.0</a:t>
            </a:r>
          </a:p>
        </p:txBody>
      </p:sp>
      <p:sp>
        <p:nvSpPr>
          <p:cNvPr id="4" name="page-number">
            <a:extLst xmlns:a="http://schemas.openxmlformats.org/drawingml/2006/main">
              <a:ext uri="{FF2B5EF4-FFF2-40B4-BE49-F238E27FC236}">
                <a16:creationId xmlns:a16="http://schemas.microsoft.com/office/drawing/2014/main" id="{4D883EA0-81A4-45A5-9CF0-36F5285E392B}"/>
              </a:ext>
            </a:extLst>
          </p:cNvPr>
          <p:cNvSpPr>
            <a:spLocks xmlns:a="http://schemas.openxmlformats.org/drawingml/2006/main" noGrp="1"/>
          </p:cNvSpPr>
          <p:nvPr/>
        </p:nvSpPr>
        <p:spPr>
          <a:xfrm xmlns:a="http://schemas.openxmlformats.org/drawingml/2006/main">
            <a:off x="10620375" y="6505575"/>
            <a:ext cx="8858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a:solidFill>
                  <a:srgbClr val="66736C"/>
                </a:solidFill>
                <a:latin typeface="Arial"/>
                <a:ea typeface="Arial"/>
                <a:cs typeface="Arial"/>
              </a:defRPr>
            </a:defPPr>
          </a:lstStyle>
          <a:p xmlns:a="http://schemas.openxmlformats.org/drawingml/2006/main">
            <a:pPr algn="r">
              <a:defRPr sz="900" b="0">
                <a:solidFill>
                  <a:srgbClr val="66736C"/>
                </a:solidFill>
                <a:latin typeface="Arial"/>
                <a:ea typeface="Arial"/>
                <a:cs typeface="Arial"/>
              </a:defRPr>
            </a:pPr>
            <a:r>
              <a:rPr sz="900" b="0">
                <a:solidFill>
                  <a:srgbClr val="66736C"/>
                </a:solidFill>
                <a:latin typeface="Arial"/>
                <a:ea typeface="Arial"/>
                <a:cs typeface="Arial"/>
              </a:rPr>
              <a:t>15 / 52</a:t>
            </a:r>
          </a:p>
        </p:txBody>
      </p:sp>
      <p:graphicFrame>
        <p:nvGraphicFramePr>
          <p:cNvPr id="5" name="">
            <a:extLst xmlns:a="http://schemas.openxmlformats.org/drawingml/2006/main">
              <a:ext uri="{FF2B5EF4-FFF2-40B4-BE49-F238E27FC236}">
                <a16:creationId xmlns:a16="http://schemas.microsoft.com/office/drawing/2014/main" id="{207EFF75-5CA1-40C2-B476-B2ECF7014F07}"/>
              </a:ext>
            </a:extLst>
          </p:cNvPr>
          <p:cNvGraphicFramePr/>
          <p:nvPr/>
        </p:nvGraphicFramePr>
        <p:xfrm>
          <a:off xmlns:a="http://schemas.openxmlformats.org/drawingml/2006/main" x="685800" y="1714500"/>
          <a:ext xmlns:a="http://schemas.openxmlformats.org/drawingml/2006/main" cx="10820400" cy="4076700"/>
        </p:xfrm>
        <a:graphic xmlns:a="http://schemas.openxmlformats.org/drawingml/2006/main">
          <a:graphicData uri="http://schemas.openxmlformats.org/drawingml/2006/table">
            <a:tbl>
              <a:tblPr firstRow="1" firstCol="0" lastCol="0" bandRow="0"/>
              <a:tblGrid>
                <a:gridCol w="1619250"/>
                <a:gridCol w="5238750"/>
                <a:gridCol w="3962400"/>
              </a:tblGrid>
              <a:tr h="419100">
                <a:tc>
                  <a:txBody>
                    <a:bodyPr wrap="square">
                      <a:noAutofit/>
                    </a:bodyPr>
                    <a:lstStyle/>
                    <a:p>
                      <a:r>
                        <a:rPr sz="1650" b="1">
                          <a:solidFill>
                            <a:srgbClr val="FFFFFF"/>
                          </a:solidFill>
                          <a:latin typeface="Arial"/>
                          <a:ea typeface="Arial"/>
                          <a:cs typeface="Arial"/>
                        </a:rPr>
                        <a:t>Step</a:t>
                      </a:r>
                    </a:p>
                  </a:txBody>
                  <a:tcPr marL="114300" marR="114300" marT="47625" marB="47625" anchor="ctr">
                    <a:lnL w="6668">
                      <a:solidFill>
                        <a:srgbClr val="DCE3DA"/>
                      </a:solidFill>
                      <a:prstDash val="solid"/>
                    </a:lnL>
                    <a:lnR w="6668">
                      <a:solidFill>
                        <a:srgbClr val="DCE3DA"/>
                      </a:solidFill>
                      <a:prstDash val="solid"/>
                    </a:lnR>
                    <a:lnT w="6668">
                      <a:solidFill>
                        <a:srgbClr val="DCE3DA"/>
                      </a:solidFill>
                      <a:prstDash val="solid"/>
                    </a:lnT>
                    <a:lnB w="6668">
                      <a:solidFill>
                        <a:srgbClr val="DCE3DA"/>
                      </a:solidFill>
                      <a:prstDash val="solid"/>
                    </a:lnB>
                    <a:solidFill>
                      <a:srgbClr val="39725C"/>
                    </a:solidFill>
                  </a:tcPr>
                </a:tc>
                <a:tc>
                  <a:txBody>
                    <a:bodyPr wrap="square">
                      <a:noAutofit/>
                    </a:bodyPr>
                    <a:lstStyle/>
                    <a:p>
                      <a:r>
                        <a:rPr sz="1650" b="1">
                          <a:solidFill>
                            <a:srgbClr val="FFFFFF"/>
                          </a:solidFill>
                          <a:latin typeface="Arial"/>
                          <a:ea typeface="Arial"/>
                          <a:cs typeface="Arial"/>
                        </a:rPr>
                        <a:t>Operation</a:t>
                      </a:r>
                    </a:p>
                  </a:txBody>
                  <a:tcPr marL="114300" marR="114300" marT="47625" marB="47625" anchor="ctr">
                    <a:lnR w="6668">
                      <a:solidFill>
                        <a:srgbClr val="DCE3DA"/>
                      </a:solidFill>
                      <a:prstDash val="solid"/>
                    </a:lnR>
                    <a:lnT w="6668">
                      <a:solidFill>
                        <a:srgbClr val="DCE3DA"/>
                      </a:solidFill>
                      <a:prstDash val="solid"/>
                    </a:lnT>
                    <a:lnB w="6668">
                      <a:solidFill>
                        <a:srgbClr val="DCE3DA"/>
                      </a:solidFill>
                      <a:prstDash val="solid"/>
                    </a:lnB>
                    <a:solidFill>
                      <a:srgbClr val="39725C"/>
                    </a:solidFill>
                  </a:tcPr>
                </a:tc>
                <a:tc>
                  <a:txBody>
                    <a:bodyPr wrap="square">
                      <a:noAutofit/>
                    </a:bodyPr>
                    <a:lstStyle/>
                    <a:p>
                      <a:r>
                        <a:rPr sz="1650" b="1">
                          <a:solidFill>
                            <a:srgbClr val="FFFFFF"/>
                          </a:solidFill>
                          <a:latin typeface="Arial"/>
                          <a:ea typeface="Arial"/>
                          <a:cs typeface="Arial"/>
                        </a:rPr>
                        <a:t>Saved or returned result</a:t>
                      </a:r>
                    </a:p>
                  </a:txBody>
                  <a:tcPr marL="114300" marR="114300" marT="47625" marB="47625" anchor="ctr">
                    <a:lnR w="6668">
                      <a:solidFill>
                        <a:srgbClr val="DCE3DA"/>
                      </a:solidFill>
                      <a:prstDash val="solid"/>
                    </a:lnR>
                    <a:lnT w="6668">
                      <a:solidFill>
                        <a:srgbClr val="DCE3DA"/>
                      </a:solidFill>
                      <a:prstDash val="solid"/>
                    </a:lnT>
                    <a:lnB w="6668">
                      <a:solidFill>
                        <a:srgbClr val="DCE3DA"/>
                      </a:solidFill>
                      <a:prstDash val="solid"/>
                    </a:lnB>
                    <a:solidFill>
                      <a:srgbClr val="39725C"/>
                    </a:solidFill>
                  </a:tcPr>
                </a:tc>
              </a:tr>
              <a:tr h="609600">
                <a:tc>
                  <a:txBody>
                    <a:bodyPr wrap="square">
                      <a:noAutofit/>
                    </a:bodyPr>
                    <a:lstStyle/>
                    <a:p>
                      <a:r>
                        <a:rPr sz="1725" b="1">
                          <a:solidFill>
                            <a:srgbClr val="26332E"/>
                          </a:solidFill>
                          <a:latin typeface="Arial"/>
                          <a:ea typeface="Arial"/>
                          <a:cs typeface="Arial"/>
                        </a:rPr>
                        <a:t>1. Import</a:t>
                      </a:r>
                    </a:p>
                  </a:txBody>
                  <a:tcPr marL="114300" marR="114300" marT="47625" marB="47625" anchor="ctr">
                    <a:lnL w="6668">
                      <a:solidFill>
                        <a:srgbClr val="DCE3DA"/>
                      </a:solidFill>
                      <a:prstDash val="solid"/>
                    </a:lnL>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Validate CSV columns, metadata and duplicate identities.</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Dataset and preparation manifest</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r>
              <a:tr h="609600">
                <a:tc>
                  <a:txBody>
                    <a:bodyPr wrap="square">
                      <a:noAutofit/>
                    </a:bodyPr>
                    <a:lstStyle/>
                    <a:p>
                      <a:r>
                        <a:rPr sz="1725" b="1">
                          <a:solidFill>
                            <a:srgbClr val="26332E"/>
                          </a:solidFill>
                          <a:latin typeface="Arial"/>
                          <a:ea typeface="Arial"/>
                          <a:cs typeface="Arial"/>
                        </a:rPr>
                        <a:t>2. Prepare</a:t>
                      </a:r>
                    </a:p>
                  </a:txBody>
                  <a:tcPr marL="114300" marR="114300" marT="47625" marB="47625" anchor="ctr">
                    <a:lnL w="6668">
                      <a:solidFill>
                        <a:srgbClr val="DCE3DA"/>
                      </a:solidFill>
                      <a:prstDash val="solid"/>
                    </a:lnL>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Detect language and split the original text.</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Sentences with character offsets</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r>
              <a:tr h="609600">
                <a:tc>
                  <a:txBody>
                    <a:bodyPr wrap="square">
                      <a:noAutofit/>
                    </a:bodyPr>
                    <a:lstStyle/>
                    <a:p>
                      <a:r>
                        <a:rPr sz="1725" b="1">
                          <a:solidFill>
                            <a:srgbClr val="26332E"/>
                          </a:solidFill>
                          <a:latin typeface="Arial"/>
                          <a:ea typeface="Arial"/>
                          <a:cs typeface="Arial"/>
                        </a:rPr>
                        <a:t>3. Predict</a:t>
                      </a:r>
                    </a:p>
                  </a:txBody>
                  <a:tcPr marL="114300" marR="114300" marT="47625" marB="47625" anchor="ctr">
                    <a:lnL w="6668">
                      <a:solidFill>
                        <a:srgbClr val="DCE3DA"/>
                      </a:solidFill>
                      <a:prstDash val="solid"/>
                    </a:lnL>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Run the selected aspect/sentiment analyzer.</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Category states and evidence</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r>
              <a:tr h="609600">
                <a:tc>
                  <a:txBody>
                    <a:bodyPr wrap="square">
                      <a:noAutofit/>
                    </a:bodyPr>
                    <a:lstStyle/>
                    <a:p>
                      <a:r>
                        <a:rPr sz="1725" b="1">
                          <a:solidFill>
                            <a:srgbClr val="26332E"/>
                          </a:solidFill>
                          <a:latin typeface="Arial"/>
                          <a:ea typeface="Arial"/>
                          <a:cs typeface="Arial"/>
                        </a:rPr>
                        <a:t>4. Aggregate</a:t>
                      </a:r>
                    </a:p>
                  </a:txBody>
                  <a:tcPr marL="114300" marR="114300" marT="47625" marB="47625" anchor="ctr">
                    <a:lnL w="6668">
                      <a:solidFill>
                        <a:srgbClr val="DCE3DA"/>
                      </a:solidFill>
                      <a:prstDash val="solid"/>
                    </a:lnL>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Combine sentence opinions once per review/category.</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Review-level aspect results</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r>
              <a:tr h="609600">
                <a:tc>
                  <a:txBody>
                    <a:bodyPr wrap="square">
                      <a:noAutofit/>
                    </a:bodyPr>
                    <a:lstStyle/>
                    <a:p>
                      <a:r>
                        <a:rPr sz="1725" b="1">
                          <a:solidFill>
                            <a:srgbClr val="26332E"/>
                          </a:solidFill>
                          <a:latin typeface="Arial"/>
                          <a:ea typeface="Arial"/>
                          <a:cs typeface="Arial"/>
                        </a:rPr>
                        <a:t>5. Persist</a:t>
                      </a:r>
                    </a:p>
                  </a:txBody>
                  <a:tcPr marL="114300" marR="114300" marT="47625" marB="47625" anchor="ctr">
                    <a:lnL w="6668">
                      <a:solidFill>
                        <a:srgbClr val="DCE3DA"/>
                      </a:solidFill>
                      <a:prstDash val="solid"/>
                    </a:lnL>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Commit the result under its model and taxonomy IDs.</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SQLite records and resumable jobs</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r>
              <a:tr h="609600">
                <a:tc>
                  <a:txBody>
                    <a:bodyPr wrap="square">
                      <a:noAutofit/>
                    </a:bodyPr>
                    <a:lstStyle/>
                    <a:p>
                      <a:r>
                        <a:rPr sz="1725" b="1">
                          <a:solidFill>
                            <a:srgbClr val="26332E"/>
                          </a:solidFill>
                          <a:latin typeface="Arial"/>
                          <a:ea typeface="Arial"/>
                          <a:cs typeface="Arial"/>
                        </a:rPr>
                        <a:t>6. Inspect</a:t>
                      </a:r>
                    </a:p>
                  </a:txBody>
                  <a:tcPr marL="114300" marR="114300" marT="47625" marB="47625" anchor="ctr">
                    <a:lnL w="6668">
                      <a:solidFill>
                        <a:srgbClr val="DCE3DA"/>
                      </a:solidFill>
                      <a:prstDash val="solid"/>
                    </a:lnL>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Apply filters and build views or exports.</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Traceable analytics and original reviews</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r>
            </a:tbl>
          </a:graphicData>
        </a:graphic>
      </p:graphicFrame>
    </p:spTree>
    <p:extLst>
      <p:ext uri="{BB962C8B-B14F-4D97-AF65-F5344CB8AC3E}">
        <p14:creationId xmlns:p14="http://schemas.microsoft.com/office/powerpoint/2010/main" val="966806144"/>
      </p:ext>
    </p:extLst>
  </p:cSld>
</p:sld>
</file>

<file path=ppt/slides/slide16.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6" name="chapter">
            <a:extLst xmlns:a="http://schemas.openxmlformats.org/drawingml/2006/main">
              <a:ext uri="{FF2B5EF4-FFF2-40B4-BE49-F238E27FC236}">
                <a16:creationId xmlns:a16="http://schemas.microsoft.com/office/drawing/2014/main" id="{43D7CC50-D49B-421C-A4BB-6E5AB6E470CA}"/>
              </a:ext>
            </a:extLst>
          </p:cNvPr>
          <p:cNvSpPr>
            <a:spLocks xmlns:a="http://schemas.openxmlformats.org/drawingml/2006/main" noGrp="1"/>
          </p:cNvSpPr>
          <p:nvPr/>
        </p:nvSpPr>
        <p:spPr>
          <a:xfrm xmlns:a="http://schemas.openxmlformats.org/drawingml/2006/main">
            <a:off x="685800" y="381000"/>
            <a:ext cx="933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39725C"/>
                </a:solidFill>
                <a:latin typeface="Arial"/>
                <a:ea typeface="Arial"/>
                <a:cs typeface="Arial"/>
              </a:defRPr>
            </a:defPPr>
          </a:lstStyle>
          <a:p xmlns:a="http://schemas.openxmlformats.org/drawingml/2006/main">
            <a:pPr algn="l">
              <a:defRPr sz="1200" b="1">
                <a:solidFill>
                  <a:srgbClr val="39725C"/>
                </a:solidFill>
                <a:latin typeface="Arial"/>
                <a:ea typeface="Arial"/>
                <a:cs typeface="Arial"/>
              </a:defRPr>
            </a:pPr>
            <a:r>
              <a:rPr sz="1200" b="1">
                <a:solidFill>
                  <a:srgbClr val="39725C"/>
                </a:solidFill>
                <a:latin typeface="Arial"/>
                <a:ea typeface="Arial"/>
                <a:cs typeface="Arial"/>
              </a:rPr>
              <a:t>ARCHITECTURE</a:t>
            </a:r>
          </a:p>
        </p:txBody>
      </p:sp>
      <p:sp>
        <p:nvSpPr>
          <p:cNvPr id="2" name="primary-heading">
            <a:extLst xmlns:a="http://schemas.openxmlformats.org/drawingml/2006/main">
              <a:ext uri="{FF2B5EF4-FFF2-40B4-BE49-F238E27FC236}">
                <a16:creationId xmlns:a16="http://schemas.microsoft.com/office/drawing/2014/main" id="{5EC3311D-140B-4F21-80A1-954B8F0AAB8F}"/>
              </a:ext>
            </a:extLst>
          </p:cNvPr>
          <p:cNvSpPr>
            <a:spLocks xmlns:a="http://schemas.openxmlformats.org/drawingml/2006/main" noGrp="1"/>
          </p:cNvSpPr>
          <p:nvPr/>
        </p:nvSpPr>
        <p:spPr>
          <a:xfrm xmlns:a="http://schemas.openxmlformats.org/drawingml/2006/main">
            <a:off x="685800" y="83820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6332E"/>
                </a:solidFill>
                <a:latin typeface="Arial"/>
                <a:ea typeface="Arial"/>
                <a:cs typeface="Arial"/>
              </a:defRPr>
            </a:defPPr>
          </a:lstStyle>
          <a:p xmlns:a="http://schemas.openxmlformats.org/drawingml/2006/main">
            <a:pPr algn="l">
              <a:defRPr sz="3300" b="1">
                <a:solidFill>
                  <a:srgbClr val="26332E"/>
                </a:solidFill>
                <a:latin typeface="Arial"/>
                <a:ea typeface="Arial"/>
                <a:cs typeface="Arial"/>
              </a:defRPr>
            </a:pPr>
            <a:r>
              <a:rPr sz="3300" b="1">
                <a:solidFill>
                  <a:srgbClr val="26332E"/>
                </a:solidFill>
                <a:latin typeface="Arial"/>
                <a:ea typeface="Arial"/>
                <a:cs typeface="Arial"/>
              </a:rPr>
              <a:t>The technology stack</a:t>
            </a:r>
          </a:p>
        </p:txBody>
      </p:sp>
      <p:sp>
        <p:nvSpPr>
          <p:cNvPr id="3" name="footer-label">
            <a:extLst xmlns:a="http://schemas.openxmlformats.org/drawingml/2006/main">
              <a:ext uri="{FF2B5EF4-FFF2-40B4-BE49-F238E27FC236}">
                <a16:creationId xmlns:a16="http://schemas.microsoft.com/office/drawing/2014/main" id="{7D1E0935-2F56-4D18-82E4-DD9CB42B8268}"/>
              </a:ext>
            </a:extLst>
          </p:cNvPr>
          <p:cNvSpPr>
            <a:spLocks xmlns:a="http://schemas.openxmlformats.org/drawingml/2006/main" noGrp="1"/>
          </p:cNvSpPr>
          <p:nvPr/>
        </p:nvSpPr>
        <p:spPr>
          <a:xfrm xmlns:a="http://schemas.openxmlformats.org/drawingml/2006/main">
            <a:off x="685800" y="6505575"/>
            <a:ext cx="952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0">
                <a:solidFill>
                  <a:srgbClr val="66736C"/>
                </a:solidFill>
                <a:latin typeface="Arial"/>
                <a:ea typeface="Arial"/>
                <a:cs typeface="Arial"/>
              </a:defRPr>
            </a:defPPr>
          </a:lstStyle>
          <a:p xmlns:a="http://schemas.openxmlformats.org/drawingml/2006/main">
            <a:pPr algn="l">
              <a:defRPr sz="900" b="0">
                <a:solidFill>
                  <a:srgbClr val="66736C"/>
                </a:solidFill>
                <a:latin typeface="Arial"/>
                <a:ea typeface="Arial"/>
                <a:cs typeface="Arial"/>
              </a:defRPr>
            </a:pPr>
            <a:r>
              <a:rPr sz="900" b="0">
                <a:solidFill>
                  <a:srgbClr val="66736C"/>
                </a:solidFill>
                <a:latin typeface="Arial"/>
                <a:ea typeface="Arial"/>
                <a:cs typeface="Arial"/>
              </a:rPr>
              <a:t>ASPECT  /  PROJECT REFERENCE  /  1.0.0</a:t>
            </a:r>
          </a:p>
        </p:txBody>
      </p:sp>
      <p:sp>
        <p:nvSpPr>
          <p:cNvPr id="4" name="page-number">
            <a:extLst xmlns:a="http://schemas.openxmlformats.org/drawingml/2006/main">
              <a:ext uri="{FF2B5EF4-FFF2-40B4-BE49-F238E27FC236}">
                <a16:creationId xmlns:a16="http://schemas.microsoft.com/office/drawing/2014/main" id="{C9396218-9D21-4F7A-9B59-F4D22823946E}"/>
              </a:ext>
            </a:extLst>
          </p:cNvPr>
          <p:cNvSpPr>
            <a:spLocks xmlns:a="http://schemas.openxmlformats.org/drawingml/2006/main" noGrp="1"/>
          </p:cNvSpPr>
          <p:nvPr/>
        </p:nvSpPr>
        <p:spPr>
          <a:xfrm xmlns:a="http://schemas.openxmlformats.org/drawingml/2006/main">
            <a:off x="10620375" y="6505575"/>
            <a:ext cx="8858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a:solidFill>
                  <a:srgbClr val="66736C"/>
                </a:solidFill>
                <a:latin typeface="Arial"/>
                <a:ea typeface="Arial"/>
                <a:cs typeface="Arial"/>
              </a:defRPr>
            </a:defPPr>
          </a:lstStyle>
          <a:p xmlns:a="http://schemas.openxmlformats.org/drawingml/2006/main">
            <a:pPr algn="r">
              <a:defRPr sz="900" b="0">
                <a:solidFill>
                  <a:srgbClr val="66736C"/>
                </a:solidFill>
                <a:latin typeface="Arial"/>
                <a:ea typeface="Arial"/>
                <a:cs typeface="Arial"/>
              </a:defRPr>
            </a:pPr>
            <a:r>
              <a:rPr sz="900" b="0">
                <a:solidFill>
                  <a:srgbClr val="66736C"/>
                </a:solidFill>
                <a:latin typeface="Arial"/>
                <a:ea typeface="Arial"/>
                <a:cs typeface="Arial"/>
              </a:rPr>
              <a:t>16 / 52</a:t>
            </a:r>
          </a:p>
        </p:txBody>
      </p:sp>
      <p:graphicFrame>
        <p:nvGraphicFramePr>
          <p:cNvPr id="5" name="">
            <a:extLst xmlns:a="http://schemas.openxmlformats.org/drawingml/2006/main">
              <a:ext uri="{FF2B5EF4-FFF2-40B4-BE49-F238E27FC236}">
                <a16:creationId xmlns:a16="http://schemas.microsoft.com/office/drawing/2014/main" id="{7F068849-F68F-49A3-8ED0-79309B480944}"/>
              </a:ext>
            </a:extLst>
          </p:cNvPr>
          <p:cNvGraphicFramePr/>
          <p:nvPr/>
        </p:nvGraphicFramePr>
        <p:xfrm>
          <a:off xmlns:a="http://schemas.openxmlformats.org/drawingml/2006/main" x="685800" y="1714500"/>
          <a:ext xmlns:a="http://schemas.openxmlformats.org/drawingml/2006/main" cx="10820400" cy="4315206"/>
        </p:xfrm>
        <a:graphic xmlns:a="http://schemas.openxmlformats.org/drawingml/2006/main">
          <a:graphicData uri="http://schemas.openxmlformats.org/drawingml/2006/table">
            <a:tbl>
              <a:tblPr firstRow="1" firstCol="0" lastCol="0" bandRow="0"/>
              <a:tblGrid>
                <a:gridCol w="2095500"/>
                <a:gridCol w="3238500"/>
                <a:gridCol w="5486400"/>
              </a:tblGrid>
              <a:tr h="419100">
                <a:tc>
                  <a:txBody>
                    <a:bodyPr wrap="square">
                      <a:noAutofit/>
                    </a:bodyPr>
                    <a:lstStyle/>
                    <a:p>
                      <a:r>
                        <a:rPr sz="1650" b="1">
                          <a:solidFill>
                            <a:srgbClr val="FFFFFF"/>
                          </a:solidFill>
                          <a:latin typeface="Arial"/>
                          <a:ea typeface="Arial"/>
                          <a:cs typeface="Arial"/>
                        </a:rPr>
                        <a:t>Layer</a:t>
                      </a:r>
                    </a:p>
                  </a:txBody>
                  <a:tcPr marL="114300" marR="114300" marT="47625" marB="47625" anchor="ctr">
                    <a:lnL w="6668">
                      <a:solidFill>
                        <a:srgbClr val="DCE3DA"/>
                      </a:solidFill>
                      <a:prstDash val="solid"/>
                    </a:lnL>
                    <a:lnR w="6668">
                      <a:solidFill>
                        <a:srgbClr val="DCE3DA"/>
                      </a:solidFill>
                      <a:prstDash val="solid"/>
                    </a:lnR>
                    <a:lnT w="6668">
                      <a:solidFill>
                        <a:srgbClr val="DCE3DA"/>
                      </a:solidFill>
                      <a:prstDash val="solid"/>
                    </a:lnT>
                    <a:lnB w="6668">
                      <a:solidFill>
                        <a:srgbClr val="DCE3DA"/>
                      </a:solidFill>
                      <a:prstDash val="solid"/>
                    </a:lnB>
                    <a:solidFill>
                      <a:srgbClr val="39725C"/>
                    </a:solidFill>
                  </a:tcPr>
                </a:tc>
                <a:tc>
                  <a:txBody>
                    <a:bodyPr wrap="square">
                      <a:noAutofit/>
                    </a:bodyPr>
                    <a:lstStyle/>
                    <a:p>
                      <a:r>
                        <a:rPr sz="1650" b="1">
                          <a:solidFill>
                            <a:srgbClr val="FFFFFF"/>
                          </a:solidFill>
                          <a:latin typeface="Arial"/>
                          <a:ea typeface="Arial"/>
                          <a:cs typeface="Arial"/>
                        </a:rPr>
                        <a:t>Technology</a:t>
                      </a:r>
                    </a:p>
                  </a:txBody>
                  <a:tcPr marL="114300" marR="114300" marT="47625" marB="47625" anchor="ctr">
                    <a:lnR w="6668">
                      <a:solidFill>
                        <a:srgbClr val="DCE3DA"/>
                      </a:solidFill>
                      <a:prstDash val="solid"/>
                    </a:lnR>
                    <a:lnT w="6668">
                      <a:solidFill>
                        <a:srgbClr val="DCE3DA"/>
                      </a:solidFill>
                      <a:prstDash val="solid"/>
                    </a:lnT>
                    <a:lnB w="6668">
                      <a:solidFill>
                        <a:srgbClr val="DCE3DA"/>
                      </a:solidFill>
                      <a:prstDash val="solid"/>
                    </a:lnB>
                    <a:solidFill>
                      <a:srgbClr val="39725C"/>
                    </a:solidFill>
                  </a:tcPr>
                </a:tc>
                <a:tc>
                  <a:txBody>
                    <a:bodyPr wrap="square">
                      <a:noAutofit/>
                    </a:bodyPr>
                    <a:lstStyle/>
                    <a:p>
                      <a:r>
                        <a:rPr sz="1650" b="1">
                          <a:solidFill>
                            <a:srgbClr val="FFFFFF"/>
                          </a:solidFill>
                          <a:latin typeface="Arial"/>
                          <a:ea typeface="Arial"/>
                          <a:cs typeface="Arial"/>
                        </a:rPr>
                        <a:t>Role</a:t>
                      </a:r>
                    </a:p>
                  </a:txBody>
                  <a:tcPr marL="114300" marR="114300" marT="47625" marB="47625" anchor="ctr">
                    <a:lnR w="6668">
                      <a:solidFill>
                        <a:srgbClr val="DCE3DA"/>
                      </a:solidFill>
                      <a:prstDash val="solid"/>
                    </a:lnR>
                    <a:lnT w="6668">
                      <a:solidFill>
                        <a:srgbClr val="DCE3DA"/>
                      </a:solidFill>
                      <a:prstDash val="solid"/>
                    </a:lnT>
                    <a:lnB w="6668">
                      <a:solidFill>
                        <a:srgbClr val="DCE3DA"/>
                      </a:solidFill>
                      <a:prstDash val="solid"/>
                    </a:lnB>
                    <a:solidFill>
                      <a:srgbClr val="39725C"/>
                    </a:solidFill>
                  </a:tcPr>
                </a:tc>
              </a:tr>
              <a:tr h="533400">
                <a:tc>
                  <a:txBody>
                    <a:bodyPr wrap="square">
                      <a:noAutofit/>
                    </a:bodyPr>
                    <a:lstStyle/>
                    <a:p>
                      <a:r>
                        <a:rPr sz="1725" b="1">
                          <a:solidFill>
                            <a:srgbClr val="26332E"/>
                          </a:solidFill>
                          <a:latin typeface="Arial"/>
                          <a:ea typeface="Arial"/>
                          <a:cs typeface="Arial"/>
                        </a:rPr>
                        <a:t>Interface</a:t>
                      </a:r>
                    </a:p>
                  </a:txBody>
                  <a:tcPr marL="114300" marR="114300" marT="47625" marB="47625" anchor="ctr">
                    <a:lnL w="6668">
                      <a:solidFill>
                        <a:srgbClr val="DCE3DA"/>
                      </a:solidFill>
                      <a:prstDash val="solid"/>
                    </a:lnL>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React, TypeScript, Vite</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Views, forms, typed API data and production bundle</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r>
              <a:tr h="533400">
                <a:tc>
                  <a:txBody>
                    <a:bodyPr wrap="square">
                      <a:noAutofit/>
                    </a:bodyPr>
                    <a:lstStyle/>
                    <a:p>
                      <a:r>
                        <a:rPr sz="1725" b="1">
                          <a:solidFill>
                            <a:srgbClr val="26332E"/>
                          </a:solidFill>
                          <a:latin typeface="Arial"/>
                          <a:ea typeface="Arial"/>
                          <a:cs typeface="Arial"/>
                        </a:rPr>
                        <a:t>Visuals</a:t>
                      </a:r>
                    </a:p>
                  </a:txBody>
                  <a:tcPr marL="114300" marR="114300" marT="47625" marB="47625" anchor="ctr">
                    <a:lnL w="6668">
                      <a:solidFill>
                        <a:srgbClr val="DCE3DA"/>
                      </a:solidFill>
                      <a:prstDash val="solid"/>
                    </a:lnL>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Recharts, Lucide</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Sentiment charts and interface icons</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r>
              <a:tr h="587502">
                <a:tc>
                  <a:txBody>
                    <a:bodyPr wrap="square">
                      <a:noAutofit/>
                    </a:bodyPr>
                    <a:lstStyle/>
                    <a:p>
                      <a:r>
                        <a:rPr sz="1725" b="1">
                          <a:solidFill>
                            <a:srgbClr val="26332E"/>
                          </a:solidFill>
                          <a:latin typeface="Arial"/>
                          <a:ea typeface="Arial"/>
                          <a:cs typeface="Arial"/>
                        </a:rPr>
                        <a:t>Service</a:t>
                      </a:r>
                    </a:p>
                  </a:txBody>
                  <a:tcPr marL="114300" marR="114300" marT="47625" marB="47625" anchor="ctr">
                    <a:lnL w="6668">
                      <a:solidFill>
                        <a:srgbClr val="DCE3DA"/>
                      </a:solidFill>
                      <a:prstDash val="solid"/>
                    </a:lnL>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Python, FastAPI, Pydantic</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HTTP routes, validation and local workflow coordination</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r>
              <a:tr h="533400">
                <a:tc>
                  <a:txBody>
                    <a:bodyPr wrap="square">
                      <a:noAutofit/>
                    </a:bodyPr>
                    <a:lstStyle/>
                    <a:p>
                      <a:r>
                        <a:rPr sz="1725" b="1">
                          <a:solidFill>
                            <a:srgbClr val="26332E"/>
                          </a:solidFill>
                          <a:latin typeface="Arial"/>
                          <a:ea typeface="Arial"/>
                          <a:cs typeface="Arial"/>
                        </a:rPr>
                        <a:t>Storage</a:t>
                      </a:r>
                    </a:p>
                  </a:txBody>
                  <a:tcPr marL="114300" marR="114300" marT="47625" marB="47625" anchor="ctr">
                    <a:lnL w="6668">
                      <a:solidFill>
                        <a:srgbClr val="DCE3DA"/>
                      </a:solidFill>
                      <a:prstDash val="solid"/>
                    </a:lnL>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SQLite with WAL</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Reviews, model outputs, jobs and annotation history</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r>
              <a:tr h="587502">
                <a:tc>
                  <a:txBody>
                    <a:bodyPr wrap="square">
                      <a:noAutofit/>
                    </a:bodyPr>
                    <a:lstStyle/>
                    <a:p>
                      <a:r>
                        <a:rPr sz="1725" b="1">
                          <a:solidFill>
                            <a:srgbClr val="26332E"/>
                          </a:solidFill>
                          <a:latin typeface="Arial"/>
                          <a:ea typeface="Arial"/>
                          <a:cs typeface="Arial"/>
                        </a:rPr>
                        <a:t>Text processing</a:t>
                      </a:r>
                    </a:p>
                  </a:txBody>
                  <a:tcPr marL="114300" marR="114300" marT="47625" marB="47625" anchor="ctr">
                    <a:lnL w="6668">
                      <a:solidFill>
                        <a:srgbClr val="DCE3DA"/>
                      </a:solidFill>
                      <a:prstDash val="solid"/>
                    </a:lnL>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pysbd, langdetect, VADER</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Sentence boundaries, language checks and baseline sentiment</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r>
              <a:tr h="533400">
                <a:tc>
                  <a:txBody>
                    <a:bodyPr wrap="square">
                      <a:noAutofit/>
                    </a:bodyPr>
                    <a:lstStyle/>
                    <a:p>
                      <a:r>
                        <a:rPr sz="1725" b="1">
                          <a:solidFill>
                            <a:srgbClr val="26332E"/>
                          </a:solidFill>
                          <a:latin typeface="Arial"/>
                          <a:ea typeface="Arial"/>
                          <a:cs typeface="Arial"/>
                        </a:rPr>
                        <a:t>Classical models</a:t>
                      </a:r>
                    </a:p>
                  </a:txBody>
                  <a:tcPr marL="114300" marR="114300" marT="47625" marB="47625" anchor="ctr">
                    <a:lnL w="6668">
                      <a:solidFill>
                        <a:srgbClr val="DCE3DA"/>
                      </a:solidFill>
                      <a:prstDash val="solid"/>
                    </a:lnL>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scikit-learn, TF-IDF, joblib</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Local training, features, metrics and trusted artifacts</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r>
              <a:tr h="587502">
                <a:tc>
                  <a:txBody>
                    <a:bodyPr wrap="square">
                      <a:noAutofit/>
                    </a:bodyPr>
                    <a:lstStyle/>
                    <a:p>
                      <a:r>
                        <a:rPr sz="1725" b="1">
                          <a:solidFill>
                            <a:srgbClr val="26332E"/>
                          </a:solidFill>
                          <a:latin typeface="Arial"/>
                          <a:ea typeface="Arial"/>
                          <a:cs typeface="Arial"/>
                        </a:rPr>
                        <a:t>Neural inference</a:t>
                      </a:r>
                    </a:p>
                  </a:txBody>
                  <a:tcPr marL="114300" marR="114300" marT="47625" marB="47625" anchor="ctr">
                    <a:lnL w="6668">
                      <a:solidFill>
                        <a:srgbClr val="DCE3DA"/>
                      </a:solidFill>
                      <a:prstDash val="solid"/>
                    </a:lnL>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PyTorch, Transformers, SentencePiece</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Pinned checkpoint loading and sentence/aspect classification</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r>
            </a:tbl>
          </a:graphicData>
        </a:graphic>
      </p:graphicFrame>
    </p:spTree>
    <p:extLst>
      <p:ext uri="{BB962C8B-B14F-4D97-AF65-F5344CB8AC3E}">
        <p14:creationId xmlns:p14="http://schemas.microsoft.com/office/powerpoint/2010/main" val="648988547"/>
      </p:ext>
    </p:extLst>
  </p:cSld>
</p:sld>
</file>

<file path=ppt/slides/slide17.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10" name="chapter">
            <a:extLst xmlns:a="http://schemas.openxmlformats.org/drawingml/2006/main">
              <a:ext uri="{FF2B5EF4-FFF2-40B4-BE49-F238E27FC236}">
                <a16:creationId xmlns:a16="http://schemas.microsoft.com/office/drawing/2014/main" id="{19805ED0-C020-4AD4-BBA9-DF88C9C41F12}"/>
              </a:ext>
            </a:extLst>
          </p:cNvPr>
          <p:cNvSpPr>
            <a:spLocks xmlns:a="http://schemas.openxmlformats.org/drawingml/2006/main" noGrp="1"/>
          </p:cNvSpPr>
          <p:nvPr/>
        </p:nvSpPr>
        <p:spPr>
          <a:xfrm xmlns:a="http://schemas.openxmlformats.org/drawingml/2006/main">
            <a:off x="685800" y="381000"/>
            <a:ext cx="933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39725C"/>
                </a:solidFill>
                <a:latin typeface="Arial"/>
                <a:ea typeface="Arial"/>
                <a:cs typeface="Arial"/>
              </a:defRPr>
            </a:defPPr>
          </a:lstStyle>
          <a:p xmlns:a="http://schemas.openxmlformats.org/drawingml/2006/main">
            <a:pPr algn="l">
              <a:defRPr sz="1200" b="1">
                <a:solidFill>
                  <a:srgbClr val="39725C"/>
                </a:solidFill>
                <a:latin typeface="Arial"/>
                <a:ea typeface="Arial"/>
                <a:cs typeface="Arial"/>
              </a:defRPr>
            </a:pPr>
            <a:r>
              <a:rPr sz="1200" b="1">
                <a:solidFill>
                  <a:srgbClr val="39725C"/>
                </a:solidFill>
                <a:latin typeface="Arial"/>
                <a:ea typeface="Arial"/>
                <a:cs typeface="Arial"/>
              </a:rPr>
              <a:t>ARCHITECTURE</a:t>
            </a:r>
          </a:p>
        </p:txBody>
      </p:sp>
      <p:sp>
        <p:nvSpPr>
          <p:cNvPr id="2" name="primary-heading">
            <a:extLst xmlns:a="http://schemas.openxmlformats.org/drawingml/2006/main">
              <a:ext uri="{FF2B5EF4-FFF2-40B4-BE49-F238E27FC236}">
                <a16:creationId xmlns:a16="http://schemas.microsoft.com/office/drawing/2014/main" id="{D9674161-8081-4EE1-AC19-A61B1CEDB146}"/>
              </a:ext>
            </a:extLst>
          </p:cNvPr>
          <p:cNvSpPr>
            <a:spLocks xmlns:a="http://schemas.openxmlformats.org/drawingml/2006/main" noGrp="1"/>
          </p:cNvSpPr>
          <p:nvPr/>
        </p:nvSpPr>
        <p:spPr>
          <a:xfrm xmlns:a="http://schemas.openxmlformats.org/drawingml/2006/main">
            <a:off x="685800" y="83820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6332E"/>
                </a:solidFill>
                <a:latin typeface="Arial"/>
                <a:ea typeface="Arial"/>
                <a:cs typeface="Arial"/>
              </a:defRPr>
            </a:defPPr>
          </a:lstStyle>
          <a:p xmlns:a="http://schemas.openxmlformats.org/drawingml/2006/main">
            <a:pPr algn="l">
              <a:defRPr sz="3300" b="1">
                <a:solidFill>
                  <a:srgbClr val="26332E"/>
                </a:solidFill>
                <a:latin typeface="Arial"/>
                <a:ea typeface="Arial"/>
                <a:cs typeface="Arial"/>
              </a:defRPr>
            </a:pPr>
            <a:r>
              <a:rPr sz="3300" b="1">
                <a:solidFill>
                  <a:srgbClr val="26332E"/>
                </a:solidFill>
                <a:latin typeface="Arial"/>
                <a:ea typeface="Arial"/>
                <a:cs typeface="Arial"/>
              </a:rPr>
              <a:t>The API validates each operation</a:t>
            </a:r>
          </a:p>
        </p:txBody>
      </p:sp>
      <p:sp>
        <p:nvSpPr>
          <p:cNvPr id="3" name="footer-label">
            <a:extLst xmlns:a="http://schemas.openxmlformats.org/drawingml/2006/main">
              <a:ext uri="{FF2B5EF4-FFF2-40B4-BE49-F238E27FC236}">
                <a16:creationId xmlns:a16="http://schemas.microsoft.com/office/drawing/2014/main" id="{5253A970-194F-47F1-863E-2A5965490287}"/>
              </a:ext>
            </a:extLst>
          </p:cNvPr>
          <p:cNvSpPr>
            <a:spLocks xmlns:a="http://schemas.openxmlformats.org/drawingml/2006/main" noGrp="1"/>
          </p:cNvSpPr>
          <p:nvPr/>
        </p:nvSpPr>
        <p:spPr>
          <a:xfrm xmlns:a="http://schemas.openxmlformats.org/drawingml/2006/main">
            <a:off x="685800" y="6505575"/>
            <a:ext cx="952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0">
                <a:solidFill>
                  <a:srgbClr val="66736C"/>
                </a:solidFill>
                <a:latin typeface="Arial"/>
                <a:ea typeface="Arial"/>
                <a:cs typeface="Arial"/>
              </a:defRPr>
            </a:defPPr>
          </a:lstStyle>
          <a:p xmlns:a="http://schemas.openxmlformats.org/drawingml/2006/main">
            <a:pPr algn="l">
              <a:defRPr sz="900" b="0">
                <a:solidFill>
                  <a:srgbClr val="66736C"/>
                </a:solidFill>
                <a:latin typeface="Arial"/>
                <a:ea typeface="Arial"/>
                <a:cs typeface="Arial"/>
              </a:defRPr>
            </a:pPr>
            <a:r>
              <a:rPr sz="900" b="0">
                <a:solidFill>
                  <a:srgbClr val="66736C"/>
                </a:solidFill>
                <a:latin typeface="Arial"/>
                <a:ea typeface="Arial"/>
                <a:cs typeface="Arial"/>
              </a:rPr>
              <a:t>ASPECT  /  PROJECT REFERENCE  /  1.0.0</a:t>
            </a:r>
          </a:p>
        </p:txBody>
      </p:sp>
      <p:sp>
        <p:nvSpPr>
          <p:cNvPr id="4" name="page-number">
            <a:extLst xmlns:a="http://schemas.openxmlformats.org/drawingml/2006/main">
              <a:ext uri="{FF2B5EF4-FFF2-40B4-BE49-F238E27FC236}">
                <a16:creationId xmlns:a16="http://schemas.microsoft.com/office/drawing/2014/main" id="{14F9152A-2FEA-4E98-959D-6486F41456DC}"/>
              </a:ext>
            </a:extLst>
          </p:cNvPr>
          <p:cNvSpPr>
            <a:spLocks xmlns:a="http://schemas.openxmlformats.org/drawingml/2006/main" noGrp="1"/>
          </p:cNvSpPr>
          <p:nvPr/>
        </p:nvSpPr>
        <p:spPr>
          <a:xfrm xmlns:a="http://schemas.openxmlformats.org/drawingml/2006/main">
            <a:off x="10620375" y="6505575"/>
            <a:ext cx="8858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a:solidFill>
                  <a:srgbClr val="66736C"/>
                </a:solidFill>
                <a:latin typeface="Arial"/>
                <a:ea typeface="Arial"/>
                <a:cs typeface="Arial"/>
              </a:defRPr>
            </a:defPPr>
          </a:lstStyle>
          <a:p xmlns:a="http://schemas.openxmlformats.org/drawingml/2006/main">
            <a:pPr algn="r">
              <a:defRPr sz="900" b="0">
                <a:solidFill>
                  <a:srgbClr val="66736C"/>
                </a:solidFill>
                <a:latin typeface="Arial"/>
                <a:ea typeface="Arial"/>
                <a:cs typeface="Arial"/>
              </a:defRPr>
            </a:pPr>
            <a:r>
              <a:rPr sz="900" b="0">
                <a:solidFill>
                  <a:srgbClr val="66736C"/>
                </a:solidFill>
                <a:latin typeface="Arial"/>
                <a:ea typeface="Arial"/>
                <a:cs typeface="Arial"/>
              </a:rPr>
              <a:t>17 / 52</a:t>
            </a:r>
          </a:p>
        </p:txBody>
      </p:sp>
      <p:sp>
        <p:nvSpPr>
          <p:cNvPr id="5" name="context-note">
            <a:extLst xmlns:a="http://schemas.openxmlformats.org/drawingml/2006/main">
              <a:ext uri="{FF2B5EF4-FFF2-40B4-BE49-F238E27FC236}">
                <a16:creationId xmlns:a16="http://schemas.microsoft.com/office/drawing/2014/main" id="{D3C262CD-F6A8-460E-AC10-0AC048A3A204}"/>
              </a:ext>
            </a:extLst>
          </p:cNvPr>
          <p:cNvSpPr>
            <a:spLocks xmlns:a="http://schemas.openxmlformats.org/drawingml/2006/main" noGrp="1"/>
          </p:cNvSpPr>
          <p:nvPr/>
        </p:nvSpPr>
        <p:spPr>
          <a:xfrm xmlns:a="http://schemas.openxmlformats.org/drawingml/2006/main">
            <a:off x="685800" y="5924550"/>
            <a:ext cx="108204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39725C"/>
                </a:solidFill>
                <a:latin typeface="Arial"/>
                <a:ea typeface="Arial"/>
                <a:cs typeface="Arial"/>
              </a:defRPr>
            </a:defPPr>
          </a:lstStyle>
          <a:p xmlns:a="http://schemas.openxmlformats.org/drawingml/2006/main">
            <a:pPr algn="l">
              <a:defRPr sz="1725" b="0">
                <a:solidFill>
                  <a:srgbClr val="39725C"/>
                </a:solidFill>
                <a:latin typeface="Arial"/>
                <a:ea typeface="Arial"/>
                <a:cs typeface="Arial"/>
              </a:defRPr>
            </a:pPr>
            <a:r>
              <a:rPr sz="1725" b="0">
                <a:solidFill>
                  <a:srgbClr val="39725C"/>
                </a:solidFill>
                <a:latin typeface="Arial"/>
                <a:ea typeface="Arial"/>
                <a:cs typeface="Arial"/>
              </a:rPr>
              <a:t>Input errors use 422, stale annotation edits use 409, and unavailable models use 503.</a:t>
            </a:r>
          </a:p>
        </p:txBody>
      </p:sp>
      <p:sp>
        <p:nvSpPr>
          <p:cNvPr id="6" name="column-label-0">
            <a:extLst xmlns:a="http://schemas.openxmlformats.org/drawingml/2006/main">
              <a:ext uri="{FF2B5EF4-FFF2-40B4-BE49-F238E27FC236}">
                <a16:creationId xmlns:a16="http://schemas.microsoft.com/office/drawing/2014/main" id="{EBF0C5A1-2FBA-4565-B1A3-D74A5D2D82FD}"/>
              </a:ext>
            </a:extLst>
          </p:cNvPr>
          <p:cNvSpPr>
            <a:spLocks xmlns:a="http://schemas.openxmlformats.org/drawingml/2006/main" noGrp="1"/>
          </p:cNvSpPr>
          <p:nvPr/>
        </p:nvSpPr>
        <p:spPr>
          <a:xfrm xmlns:a="http://schemas.openxmlformats.org/drawingml/2006/main">
            <a:off x="685800" y="1905000"/>
            <a:ext cx="52006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39725C"/>
                </a:solidFill>
                <a:latin typeface="Arial"/>
                <a:ea typeface="Arial"/>
                <a:cs typeface="Arial"/>
              </a:defRPr>
            </a:defPPr>
          </a:lstStyle>
          <a:p xmlns:a="http://schemas.openxmlformats.org/drawingml/2006/main">
            <a:pPr algn="l">
              <a:defRPr sz="2175" b="1">
                <a:solidFill>
                  <a:srgbClr val="39725C"/>
                </a:solidFill>
                <a:latin typeface="Arial"/>
                <a:ea typeface="Arial"/>
                <a:cs typeface="Arial"/>
              </a:defRPr>
            </a:pPr>
            <a:r>
              <a:rPr sz="2175" b="1">
                <a:solidFill>
                  <a:srgbClr val="39725C"/>
                </a:solidFill>
                <a:latin typeface="Arial"/>
                <a:ea typeface="Arial"/>
                <a:cs typeface="Arial"/>
              </a:rPr>
              <a:t>Requests</a:t>
            </a:r>
          </a:p>
        </p:txBody>
      </p:sp>
      <p:sp>
        <p:nvSpPr>
          <p:cNvPr id="7" name="column-copy-0">
            <a:extLst xmlns:a="http://schemas.openxmlformats.org/drawingml/2006/main">
              <a:ext uri="{FF2B5EF4-FFF2-40B4-BE49-F238E27FC236}">
                <a16:creationId xmlns:a16="http://schemas.microsoft.com/office/drawing/2014/main" id="{CA008091-B5B4-4951-AB87-12D883BCC08C}"/>
              </a:ext>
            </a:extLst>
          </p:cNvPr>
          <p:cNvSpPr>
            <a:spLocks xmlns:a="http://schemas.openxmlformats.org/drawingml/2006/main" noGrp="1"/>
          </p:cNvSpPr>
          <p:nvPr/>
        </p:nvSpPr>
        <p:spPr>
          <a:xfrm xmlns:a="http://schemas.openxmlformats.org/drawingml/2006/main">
            <a:off x="685800" y="2552700"/>
            <a:ext cx="520065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26332E"/>
                </a:solidFill>
                <a:latin typeface="Arial"/>
                <a:ea typeface="Arial"/>
                <a:cs typeface="Arial"/>
              </a:defRPr>
            </a:defPPr>
          </a:lstStyle>
          <a:p xmlns:a="http://schemas.openxmlformats.org/drawingml/2006/main">
            <a:pPr algn="l">
              <a:defRPr sz="2175" b="0">
                <a:solidFill>
                  <a:srgbClr val="26332E"/>
                </a:solidFill>
                <a:latin typeface="Arial"/>
                <a:ea typeface="Arial"/>
                <a:cs typeface="Arial"/>
              </a:defRPr>
            </a:pPr>
            <a:r>
              <a:rPr sz="2175" b="0">
                <a:solidFill>
                  <a:srgbClr val="26332E"/>
                </a:solidFill>
                <a:latin typeface="Arial"/>
                <a:ea typeface="Arial"/>
                <a:cs typeface="Arial"/>
              </a:rPr>
              <a:t>The browser sends JSON or multipart CSV uploads. Pydantic and route checks reject invalid categories, models and task edits.</a:t>
            </a:r>
          </a:p>
        </p:txBody>
      </p:sp>
      <p:sp>
        <p:nvSpPr>
          <p:cNvPr id="8" name="column-label-1">
            <a:extLst xmlns:a="http://schemas.openxmlformats.org/drawingml/2006/main">
              <a:ext uri="{FF2B5EF4-FFF2-40B4-BE49-F238E27FC236}">
                <a16:creationId xmlns:a16="http://schemas.microsoft.com/office/drawing/2014/main" id="{269A3D96-D469-4CE7-A7A7-14E8F67700C9}"/>
              </a:ext>
            </a:extLst>
          </p:cNvPr>
          <p:cNvSpPr>
            <a:spLocks xmlns:a="http://schemas.openxmlformats.org/drawingml/2006/main" noGrp="1"/>
          </p:cNvSpPr>
          <p:nvPr/>
        </p:nvSpPr>
        <p:spPr>
          <a:xfrm xmlns:a="http://schemas.openxmlformats.org/drawingml/2006/main">
            <a:off x="6305550" y="1905000"/>
            <a:ext cx="52006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39725C"/>
                </a:solidFill>
                <a:latin typeface="Arial"/>
                <a:ea typeface="Arial"/>
                <a:cs typeface="Arial"/>
              </a:defRPr>
            </a:defPPr>
          </a:lstStyle>
          <a:p xmlns:a="http://schemas.openxmlformats.org/drawingml/2006/main">
            <a:pPr algn="l">
              <a:defRPr sz="2175" b="1">
                <a:solidFill>
                  <a:srgbClr val="39725C"/>
                </a:solidFill>
                <a:latin typeface="Arial"/>
                <a:ea typeface="Arial"/>
                <a:cs typeface="Arial"/>
              </a:defRPr>
            </a:pPr>
            <a:r>
              <a:rPr sz="2175" b="1">
                <a:solidFill>
                  <a:srgbClr val="39725C"/>
                </a:solidFill>
                <a:latin typeface="Arial"/>
                <a:ea typeface="Arial"/>
                <a:cs typeface="Arial"/>
              </a:rPr>
              <a:t>Responses</a:t>
            </a:r>
          </a:p>
        </p:txBody>
      </p:sp>
      <p:sp>
        <p:nvSpPr>
          <p:cNvPr id="9" name="column-copy-1">
            <a:extLst xmlns:a="http://schemas.openxmlformats.org/drawingml/2006/main">
              <a:ext uri="{FF2B5EF4-FFF2-40B4-BE49-F238E27FC236}">
                <a16:creationId xmlns:a16="http://schemas.microsoft.com/office/drawing/2014/main" id="{092B925E-857F-4ABA-B340-EF84DDE71CCC}"/>
              </a:ext>
            </a:extLst>
          </p:cNvPr>
          <p:cNvSpPr>
            <a:spLocks xmlns:a="http://schemas.openxmlformats.org/drawingml/2006/main" noGrp="1"/>
          </p:cNvSpPr>
          <p:nvPr/>
        </p:nvSpPr>
        <p:spPr>
          <a:xfrm xmlns:a="http://schemas.openxmlformats.org/drawingml/2006/main">
            <a:off x="6305550" y="2552700"/>
            <a:ext cx="520065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26332E"/>
                </a:solidFill>
                <a:latin typeface="Arial"/>
                <a:ea typeface="Arial"/>
                <a:cs typeface="Arial"/>
              </a:defRPr>
            </a:defPPr>
          </a:lstStyle>
          <a:p xmlns:a="http://schemas.openxmlformats.org/drawingml/2006/main">
            <a:pPr algn="l">
              <a:defRPr sz="2175" b="0">
                <a:solidFill>
                  <a:srgbClr val="26332E"/>
                </a:solidFill>
                <a:latin typeface="Arial"/>
                <a:ea typeface="Arial"/>
                <a:cs typeface="Arial"/>
              </a:defRPr>
            </a:pPr>
            <a:r>
              <a:rPr sz="2175" b="0">
                <a:solidFill>
                  <a:srgbClr val="26332E"/>
                </a:solidFill>
                <a:latin typeface="Arial"/>
                <a:ea typeface="Arial"/>
                <a:cs typeface="Arial"/>
              </a:rPr>
              <a:t>Analysis returns aspects and evidence. Dataset routes return counts, reviews or exports. Research routes return job and report records.</a:t>
            </a:r>
          </a:p>
        </p:txBody>
      </p:sp>
    </p:spTree>
    <p:extLst>
      <p:ext uri="{BB962C8B-B14F-4D97-AF65-F5344CB8AC3E}">
        <p14:creationId xmlns:p14="http://schemas.microsoft.com/office/powerpoint/2010/main" val="1628220261"/>
      </p:ext>
    </p:extLst>
  </p:cSld>
</p:sld>
</file>

<file path=ppt/slides/slide18.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6" name="chapter">
            <a:extLst xmlns:a="http://schemas.openxmlformats.org/drawingml/2006/main">
              <a:ext uri="{FF2B5EF4-FFF2-40B4-BE49-F238E27FC236}">
                <a16:creationId xmlns:a16="http://schemas.microsoft.com/office/drawing/2014/main" id="{0469D939-726F-4297-AE77-C259CF725FF0}"/>
              </a:ext>
            </a:extLst>
          </p:cNvPr>
          <p:cNvSpPr>
            <a:spLocks xmlns:a="http://schemas.openxmlformats.org/drawingml/2006/main" noGrp="1"/>
          </p:cNvSpPr>
          <p:nvPr/>
        </p:nvSpPr>
        <p:spPr>
          <a:xfrm xmlns:a="http://schemas.openxmlformats.org/drawingml/2006/main">
            <a:off x="685800" y="381000"/>
            <a:ext cx="933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39725C"/>
                </a:solidFill>
                <a:latin typeface="Arial"/>
                <a:ea typeface="Arial"/>
                <a:cs typeface="Arial"/>
              </a:defRPr>
            </a:defPPr>
          </a:lstStyle>
          <a:p xmlns:a="http://schemas.openxmlformats.org/drawingml/2006/main">
            <a:pPr algn="l">
              <a:defRPr sz="1200" b="1">
                <a:solidFill>
                  <a:srgbClr val="39725C"/>
                </a:solidFill>
                <a:latin typeface="Arial"/>
                <a:ea typeface="Arial"/>
                <a:cs typeface="Arial"/>
              </a:defRPr>
            </a:pPr>
            <a:r>
              <a:rPr sz="1200" b="1">
                <a:solidFill>
                  <a:srgbClr val="39725C"/>
                </a:solidFill>
                <a:latin typeface="Arial"/>
                <a:ea typeface="Arial"/>
                <a:cs typeface="Arial"/>
              </a:rPr>
              <a:t>ARCHITECTURE</a:t>
            </a:r>
          </a:p>
        </p:txBody>
      </p:sp>
      <p:sp>
        <p:nvSpPr>
          <p:cNvPr id="2" name="primary-heading">
            <a:extLst xmlns:a="http://schemas.openxmlformats.org/drawingml/2006/main">
              <a:ext uri="{FF2B5EF4-FFF2-40B4-BE49-F238E27FC236}">
                <a16:creationId xmlns:a16="http://schemas.microsoft.com/office/drawing/2014/main" id="{249321D3-B62F-437F-B77B-A4D04CEBE6FB}"/>
              </a:ext>
            </a:extLst>
          </p:cNvPr>
          <p:cNvSpPr>
            <a:spLocks xmlns:a="http://schemas.openxmlformats.org/drawingml/2006/main" noGrp="1"/>
          </p:cNvSpPr>
          <p:nvPr/>
        </p:nvSpPr>
        <p:spPr>
          <a:xfrm xmlns:a="http://schemas.openxmlformats.org/drawingml/2006/main">
            <a:off x="685800" y="83820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6332E"/>
                </a:solidFill>
                <a:latin typeface="Arial"/>
                <a:ea typeface="Arial"/>
                <a:cs typeface="Arial"/>
              </a:defRPr>
            </a:defPPr>
          </a:lstStyle>
          <a:p xmlns:a="http://schemas.openxmlformats.org/drawingml/2006/main">
            <a:pPr algn="l">
              <a:defRPr sz="3300" b="1">
                <a:solidFill>
                  <a:srgbClr val="26332E"/>
                </a:solidFill>
                <a:latin typeface="Arial"/>
                <a:ea typeface="Arial"/>
                <a:cs typeface="Arial"/>
              </a:defRPr>
            </a:pPr>
            <a:r>
              <a:rPr sz="3300" b="1">
                <a:solidFill>
                  <a:srgbClr val="26332E"/>
                </a:solidFill>
                <a:latin typeface="Arial"/>
                <a:ea typeface="Arial"/>
                <a:cs typeface="Arial"/>
              </a:rPr>
              <a:t>SQLite separates data, predictions and annotations</a:t>
            </a:r>
          </a:p>
        </p:txBody>
      </p:sp>
      <p:sp>
        <p:nvSpPr>
          <p:cNvPr id="3" name="footer-label">
            <a:extLst xmlns:a="http://schemas.openxmlformats.org/drawingml/2006/main">
              <a:ext uri="{FF2B5EF4-FFF2-40B4-BE49-F238E27FC236}">
                <a16:creationId xmlns:a16="http://schemas.microsoft.com/office/drawing/2014/main" id="{BC99834B-BC21-4825-89E6-0A4BBF9049A1}"/>
              </a:ext>
            </a:extLst>
          </p:cNvPr>
          <p:cNvSpPr>
            <a:spLocks xmlns:a="http://schemas.openxmlformats.org/drawingml/2006/main" noGrp="1"/>
          </p:cNvSpPr>
          <p:nvPr/>
        </p:nvSpPr>
        <p:spPr>
          <a:xfrm xmlns:a="http://schemas.openxmlformats.org/drawingml/2006/main">
            <a:off x="685800" y="6505575"/>
            <a:ext cx="952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0">
                <a:solidFill>
                  <a:srgbClr val="66736C"/>
                </a:solidFill>
                <a:latin typeface="Arial"/>
                <a:ea typeface="Arial"/>
                <a:cs typeface="Arial"/>
              </a:defRPr>
            </a:defPPr>
          </a:lstStyle>
          <a:p xmlns:a="http://schemas.openxmlformats.org/drawingml/2006/main">
            <a:pPr algn="l">
              <a:defRPr sz="900" b="0">
                <a:solidFill>
                  <a:srgbClr val="66736C"/>
                </a:solidFill>
                <a:latin typeface="Arial"/>
                <a:ea typeface="Arial"/>
                <a:cs typeface="Arial"/>
              </a:defRPr>
            </a:pPr>
            <a:r>
              <a:rPr sz="900" b="0">
                <a:solidFill>
                  <a:srgbClr val="66736C"/>
                </a:solidFill>
                <a:latin typeface="Arial"/>
                <a:ea typeface="Arial"/>
                <a:cs typeface="Arial"/>
              </a:rPr>
              <a:t>ASPECT  /  PROJECT REFERENCE  /  1.0.0</a:t>
            </a:r>
          </a:p>
        </p:txBody>
      </p:sp>
      <p:sp>
        <p:nvSpPr>
          <p:cNvPr id="4" name="page-number">
            <a:extLst xmlns:a="http://schemas.openxmlformats.org/drawingml/2006/main">
              <a:ext uri="{FF2B5EF4-FFF2-40B4-BE49-F238E27FC236}">
                <a16:creationId xmlns:a16="http://schemas.microsoft.com/office/drawing/2014/main" id="{F62A0982-931A-4478-997E-8FA1E26BA642}"/>
              </a:ext>
            </a:extLst>
          </p:cNvPr>
          <p:cNvSpPr>
            <a:spLocks xmlns:a="http://schemas.openxmlformats.org/drawingml/2006/main" noGrp="1"/>
          </p:cNvSpPr>
          <p:nvPr/>
        </p:nvSpPr>
        <p:spPr>
          <a:xfrm xmlns:a="http://schemas.openxmlformats.org/drawingml/2006/main">
            <a:off x="10620375" y="6505575"/>
            <a:ext cx="8858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a:solidFill>
                  <a:srgbClr val="66736C"/>
                </a:solidFill>
                <a:latin typeface="Arial"/>
                <a:ea typeface="Arial"/>
                <a:cs typeface="Arial"/>
              </a:defRPr>
            </a:defPPr>
          </a:lstStyle>
          <a:p xmlns:a="http://schemas.openxmlformats.org/drawingml/2006/main">
            <a:pPr algn="r">
              <a:defRPr sz="900" b="0">
                <a:solidFill>
                  <a:srgbClr val="66736C"/>
                </a:solidFill>
                <a:latin typeface="Arial"/>
                <a:ea typeface="Arial"/>
                <a:cs typeface="Arial"/>
              </a:defRPr>
            </a:pPr>
            <a:r>
              <a:rPr sz="900" b="0">
                <a:solidFill>
                  <a:srgbClr val="66736C"/>
                </a:solidFill>
                <a:latin typeface="Arial"/>
                <a:ea typeface="Arial"/>
                <a:cs typeface="Arial"/>
              </a:rPr>
              <a:t>18 / 52</a:t>
            </a:r>
          </a:p>
        </p:txBody>
      </p:sp>
      <p:graphicFrame>
        <p:nvGraphicFramePr>
          <p:cNvPr id="5" name="">
            <a:extLst xmlns:a="http://schemas.openxmlformats.org/drawingml/2006/main">
              <a:ext uri="{FF2B5EF4-FFF2-40B4-BE49-F238E27FC236}">
                <a16:creationId xmlns:a16="http://schemas.microsoft.com/office/drawing/2014/main" id="{7688F0B3-C7C6-4283-94B3-85D33AFFFA2B}"/>
              </a:ext>
            </a:extLst>
          </p:cNvPr>
          <p:cNvGraphicFramePr/>
          <p:nvPr/>
        </p:nvGraphicFramePr>
        <p:xfrm>
          <a:off xmlns:a="http://schemas.openxmlformats.org/drawingml/2006/main" x="685800" y="1714500"/>
          <a:ext xmlns:a="http://schemas.openxmlformats.org/drawingml/2006/main" cx="10820400" cy="4264152"/>
        </p:xfrm>
        <a:graphic xmlns:a="http://schemas.openxmlformats.org/drawingml/2006/main">
          <a:graphicData uri="http://schemas.openxmlformats.org/drawingml/2006/table">
            <a:tbl>
              <a:tblPr firstRow="1" firstCol="0" lastCol="0" bandRow="0"/>
              <a:tblGrid>
                <a:gridCol w="4476750"/>
                <a:gridCol w="6343650"/>
              </a:tblGrid>
              <a:tr h="419100">
                <a:tc>
                  <a:txBody>
                    <a:bodyPr wrap="square">
                      <a:noAutofit/>
                    </a:bodyPr>
                    <a:lstStyle/>
                    <a:p>
                      <a:r>
                        <a:rPr sz="1650" b="1">
                          <a:solidFill>
                            <a:srgbClr val="FFFFFF"/>
                          </a:solidFill>
                          <a:latin typeface="Arial"/>
                          <a:ea typeface="Arial"/>
                          <a:cs typeface="Arial"/>
                        </a:rPr>
                        <a:t>Tables</a:t>
                      </a:r>
                    </a:p>
                  </a:txBody>
                  <a:tcPr marL="114300" marR="114300" marT="47625" marB="47625" anchor="ctr">
                    <a:lnL w="6668">
                      <a:solidFill>
                        <a:srgbClr val="DCE3DA"/>
                      </a:solidFill>
                      <a:prstDash val="solid"/>
                    </a:lnL>
                    <a:lnR w="6668">
                      <a:solidFill>
                        <a:srgbClr val="DCE3DA"/>
                      </a:solidFill>
                      <a:prstDash val="solid"/>
                    </a:lnR>
                    <a:lnT w="6668">
                      <a:solidFill>
                        <a:srgbClr val="DCE3DA"/>
                      </a:solidFill>
                      <a:prstDash val="solid"/>
                    </a:lnT>
                    <a:lnB w="6668">
                      <a:solidFill>
                        <a:srgbClr val="DCE3DA"/>
                      </a:solidFill>
                      <a:prstDash val="solid"/>
                    </a:lnB>
                    <a:solidFill>
                      <a:srgbClr val="39725C"/>
                    </a:solidFill>
                  </a:tcPr>
                </a:tc>
                <a:tc>
                  <a:txBody>
                    <a:bodyPr wrap="square">
                      <a:noAutofit/>
                    </a:bodyPr>
                    <a:lstStyle/>
                    <a:p>
                      <a:r>
                        <a:rPr sz="1650" b="1">
                          <a:solidFill>
                            <a:srgbClr val="FFFFFF"/>
                          </a:solidFill>
                          <a:latin typeface="Arial"/>
                          <a:ea typeface="Arial"/>
                          <a:cs typeface="Arial"/>
                        </a:rPr>
                        <a:t>What they preserve</a:t>
                      </a:r>
                    </a:p>
                  </a:txBody>
                  <a:tcPr marL="114300" marR="114300" marT="47625" marB="47625" anchor="ctr">
                    <a:lnR w="6668">
                      <a:solidFill>
                        <a:srgbClr val="DCE3DA"/>
                      </a:solidFill>
                      <a:prstDash val="solid"/>
                    </a:lnR>
                    <a:lnT w="6668">
                      <a:solidFill>
                        <a:srgbClr val="DCE3DA"/>
                      </a:solidFill>
                      <a:prstDash val="solid"/>
                    </a:lnT>
                    <a:lnB w="6668">
                      <a:solidFill>
                        <a:srgbClr val="DCE3DA"/>
                      </a:solidFill>
                      <a:prstDash val="solid"/>
                    </a:lnB>
                    <a:solidFill>
                      <a:srgbClr val="39725C"/>
                    </a:solidFill>
                  </a:tcPr>
                </a:tc>
              </a:tr>
              <a:tr h="587502">
                <a:tc>
                  <a:txBody>
                    <a:bodyPr wrap="square">
                      <a:noAutofit/>
                    </a:bodyPr>
                    <a:lstStyle/>
                    <a:p>
                      <a:r>
                        <a:rPr sz="1725" b="1">
                          <a:solidFill>
                            <a:srgbClr val="26332E"/>
                          </a:solidFill>
                          <a:latin typeface="Arial"/>
                          <a:ea typeface="Arial"/>
                          <a:cs typeface="Arial"/>
                        </a:rPr>
                        <a:t>datasets, reviews</a:t>
                      </a:r>
                    </a:p>
                  </a:txBody>
                  <a:tcPr marL="114300" marR="114300" marT="47625" marB="47625" anchor="ctr">
                    <a:lnL w="6668">
                      <a:solidFill>
                        <a:srgbClr val="DCE3DA"/>
                      </a:solidFill>
                      <a:prstDash val="solid"/>
                    </a:lnL>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Import identity, source manifest, original review text and metadata</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r>
              <a:tr h="542925">
                <a:tc>
                  <a:txBody>
                    <a:bodyPr wrap="square">
                      <a:noAutofit/>
                    </a:bodyPr>
                    <a:lstStyle/>
                    <a:p>
                      <a:r>
                        <a:rPr sz="1725" b="1">
                          <a:solidFill>
                            <a:srgbClr val="26332E"/>
                          </a:solidFill>
                          <a:latin typeface="Arial"/>
                          <a:ea typeface="Arial"/>
                          <a:cs typeface="Arial"/>
                        </a:rPr>
                        <a:t>analyses, aspects</a:t>
                      </a:r>
                    </a:p>
                  </a:txBody>
                  <a:tcPr marL="114300" marR="114300" marT="47625" marB="47625" anchor="ctr">
                    <a:lnL w="6668">
                      <a:solidFill>
                        <a:srgbClr val="DCE3DA"/>
                      </a:solidFill>
                      <a:prstDash val="solid"/>
                    </a:lnL>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Model/taxonomy-specific outputs and searchable aspect states</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r>
              <a:tr h="542925">
                <a:tc>
                  <a:txBody>
                    <a:bodyPr wrap="square">
                      <a:noAutofit/>
                    </a:bodyPr>
                    <a:lstStyle/>
                    <a:p>
                      <a:r>
                        <a:rPr sz="1725" b="1">
                          <a:solidFill>
                            <a:srgbClr val="26332E"/>
                          </a:solidFill>
                          <a:latin typeface="Arial"/>
                          <a:ea typeface="Arial"/>
                          <a:cs typeface="Arial"/>
                        </a:rPr>
                        <a:t>jobs</a:t>
                      </a:r>
                    </a:p>
                  </a:txBody>
                  <a:tcPr marL="114300" marR="114300" marT="47625" marB="47625" anchor="ctr">
                    <a:lnL w="6668">
                      <a:solidFill>
                        <a:srgbClr val="DCE3DA"/>
                      </a:solidFill>
                      <a:prstDash val="solid"/>
                    </a:lnL>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Batch status, progress, failures and interrupted work</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r>
              <a:tr h="542925">
                <a:tc>
                  <a:txBody>
                    <a:bodyPr wrap="square">
                      <a:noAutofit/>
                    </a:bodyPr>
                    <a:lstStyle/>
                    <a:p>
                      <a:r>
                        <a:rPr sz="1725" b="1">
                          <a:solidFill>
                            <a:srgbClr val="26332E"/>
                          </a:solidFill>
                          <a:latin typeface="Arial"/>
                          <a:ea typeface="Arial"/>
                          <a:cs typeface="Arial"/>
                        </a:rPr>
                        <a:t>annotation_sets, annotation_tasks</a:t>
                      </a:r>
                    </a:p>
                  </a:txBody>
                  <a:tcPr marL="114300" marR="114300" marT="47625" marB="47625" anchor="ctr">
                    <a:lnL w="6668">
                      <a:solidFill>
                        <a:srgbClr val="DCE3DA"/>
                      </a:solidFill>
                      <a:prstDash val="solid"/>
                    </a:lnL>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Frozen studies, sentence labels, origins and revisions</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r>
              <a:tr h="542925">
                <a:tc>
                  <a:txBody>
                    <a:bodyPr wrap="square">
                      <a:noAutofit/>
                    </a:bodyPr>
                    <a:lstStyle/>
                    <a:p>
                      <a:r>
                        <a:rPr sz="1725" b="1">
                          <a:solidFill>
                            <a:srgbClr val="26332E"/>
                          </a:solidFill>
                          <a:latin typeface="Arial"/>
                          <a:ea typeface="Arial"/>
                          <a:cs typeface="Arial"/>
                        </a:rPr>
                        <a:t>annotation_history</a:t>
                      </a:r>
                    </a:p>
                  </a:txBody>
                  <a:tcPr marL="114300" marR="114300" marT="47625" marB="47625" anchor="ctr">
                    <a:lnL w="6668">
                      <a:solidFill>
                        <a:srgbClr val="DCE3DA"/>
                      </a:solidFill>
                      <a:prstDash val="solid"/>
                    </a:lnL>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Append-only snapshots of saved annotation edits</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r>
              <a:tr h="542925">
                <a:tc>
                  <a:txBody>
                    <a:bodyPr wrap="square">
                      <a:noAutofit/>
                    </a:bodyPr>
                    <a:lstStyle/>
                    <a:p>
                      <a:r>
                        <a:rPr sz="1725" b="1">
                          <a:solidFill>
                            <a:srgbClr val="26332E"/>
                          </a:solidFill>
                          <a:latin typeface="Arial"/>
                          <a:ea typeface="Arial"/>
                          <a:cs typeface="Arial"/>
                        </a:rPr>
                        <a:t>experiment_runs</a:t>
                      </a:r>
                    </a:p>
                  </a:txBody>
                  <a:tcPr marL="114300" marR="114300" marT="47625" marB="47625" anchor="ctr">
                    <a:lnL w="6668">
                      <a:solidFill>
                        <a:srgbClr val="DCE3DA"/>
                      </a:solidFill>
                      <a:prstDash val="solid"/>
                    </a:lnL>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Queued research work, input hashes and run status</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r>
              <a:tr h="542925">
                <a:tc>
                  <a:txBody>
                    <a:bodyPr wrap="square">
                      <a:noAutofit/>
                    </a:bodyPr>
                    <a:lstStyle/>
                    <a:p>
                      <a:r>
                        <a:rPr sz="1725" b="1">
                          <a:solidFill>
                            <a:srgbClr val="26332E"/>
                          </a:solidFill>
                          <a:latin typeface="Arial"/>
                          <a:ea typeface="Arial"/>
                          <a:cs typeface="Arial"/>
                        </a:rPr>
                        <a:t>schema_migrations</a:t>
                      </a:r>
                    </a:p>
                  </a:txBody>
                  <a:tcPr marL="114300" marR="114300" marT="47625" marB="47625" anchor="ctr">
                    <a:lnL w="6668">
                      <a:solidFill>
                        <a:srgbClr val="DCE3DA"/>
                      </a:solidFill>
                      <a:prstDash val="solid"/>
                    </a:lnL>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Applied migration names and checksums</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r>
            </a:tbl>
          </a:graphicData>
        </a:graphic>
      </p:graphicFrame>
    </p:spTree>
    <p:extLst>
      <p:ext uri="{BB962C8B-B14F-4D97-AF65-F5344CB8AC3E}">
        <p14:creationId xmlns:p14="http://schemas.microsoft.com/office/powerpoint/2010/main" val="741045462"/>
      </p:ext>
    </p:extLst>
  </p:cSld>
</p:sld>
</file>

<file path=ppt/slides/slide19.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7" name="chapter">
            <a:extLst xmlns:a="http://schemas.openxmlformats.org/drawingml/2006/main">
              <a:ext uri="{FF2B5EF4-FFF2-40B4-BE49-F238E27FC236}">
                <a16:creationId xmlns:a16="http://schemas.microsoft.com/office/drawing/2014/main" id="{6F44047E-CA8E-4205-9BAB-C04C0604176C}"/>
              </a:ext>
            </a:extLst>
          </p:cNvPr>
          <p:cNvSpPr>
            <a:spLocks xmlns:a="http://schemas.openxmlformats.org/drawingml/2006/main" noGrp="1"/>
          </p:cNvSpPr>
          <p:nvPr/>
        </p:nvSpPr>
        <p:spPr>
          <a:xfrm xmlns:a="http://schemas.openxmlformats.org/drawingml/2006/main">
            <a:off x="685800" y="381000"/>
            <a:ext cx="933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39725C"/>
                </a:solidFill>
                <a:latin typeface="Arial"/>
                <a:ea typeface="Arial"/>
                <a:cs typeface="Arial"/>
              </a:defRPr>
            </a:defPPr>
          </a:lstStyle>
          <a:p xmlns:a="http://schemas.openxmlformats.org/drawingml/2006/main">
            <a:pPr algn="l">
              <a:defRPr sz="1200" b="1">
                <a:solidFill>
                  <a:srgbClr val="39725C"/>
                </a:solidFill>
                <a:latin typeface="Arial"/>
                <a:ea typeface="Arial"/>
                <a:cs typeface="Arial"/>
              </a:defRPr>
            </a:pPr>
            <a:r>
              <a:rPr sz="1200" b="1">
                <a:solidFill>
                  <a:srgbClr val="39725C"/>
                </a:solidFill>
                <a:latin typeface="Arial"/>
                <a:ea typeface="Arial"/>
                <a:cs typeface="Arial"/>
              </a:rPr>
              <a:t>ARCHITECTURE</a:t>
            </a:r>
          </a:p>
        </p:txBody>
      </p:sp>
      <p:sp>
        <p:nvSpPr>
          <p:cNvPr id="2" name="primary-heading">
            <a:extLst xmlns:a="http://schemas.openxmlformats.org/drawingml/2006/main">
              <a:ext uri="{FF2B5EF4-FFF2-40B4-BE49-F238E27FC236}">
                <a16:creationId xmlns:a16="http://schemas.microsoft.com/office/drawing/2014/main" id="{1BC530B3-619C-45EE-A4D0-19B1619B4373}"/>
              </a:ext>
            </a:extLst>
          </p:cNvPr>
          <p:cNvSpPr>
            <a:spLocks xmlns:a="http://schemas.openxmlformats.org/drawingml/2006/main" noGrp="1"/>
          </p:cNvSpPr>
          <p:nvPr/>
        </p:nvSpPr>
        <p:spPr>
          <a:xfrm xmlns:a="http://schemas.openxmlformats.org/drawingml/2006/main">
            <a:off x="685800" y="83820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6332E"/>
                </a:solidFill>
                <a:latin typeface="Arial"/>
                <a:ea typeface="Arial"/>
                <a:cs typeface="Arial"/>
              </a:defRPr>
            </a:defPPr>
          </a:lstStyle>
          <a:p xmlns:a="http://schemas.openxmlformats.org/drawingml/2006/main">
            <a:pPr algn="l">
              <a:defRPr sz="3300" b="1">
                <a:solidFill>
                  <a:srgbClr val="26332E"/>
                </a:solidFill>
                <a:latin typeface="Arial"/>
                <a:ea typeface="Arial"/>
                <a:cs typeface="Arial"/>
              </a:defRPr>
            </a:pPr>
            <a:r>
              <a:rPr sz="3300" b="1">
                <a:solidFill>
                  <a:srgbClr val="26332E"/>
                </a:solidFill>
                <a:latin typeface="Arial"/>
                <a:ea typeface="Arial"/>
                <a:cs typeface="Arial"/>
              </a:rPr>
              <a:t>Background jobs preserve completed work</a:t>
            </a:r>
          </a:p>
        </p:txBody>
      </p:sp>
      <p:sp>
        <p:nvSpPr>
          <p:cNvPr id="3" name="footer-label">
            <a:extLst xmlns:a="http://schemas.openxmlformats.org/drawingml/2006/main">
              <a:ext uri="{FF2B5EF4-FFF2-40B4-BE49-F238E27FC236}">
                <a16:creationId xmlns:a16="http://schemas.microsoft.com/office/drawing/2014/main" id="{E849207D-F1BD-427B-847F-C0F655F539D8}"/>
              </a:ext>
            </a:extLst>
          </p:cNvPr>
          <p:cNvSpPr>
            <a:spLocks xmlns:a="http://schemas.openxmlformats.org/drawingml/2006/main" noGrp="1"/>
          </p:cNvSpPr>
          <p:nvPr/>
        </p:nvSpPr>
        <p:spPr>
          <a:xfrm xmlns:a="http://schemas.openxmlformats.org/drawingml/2006/main">
            <a:off x="685800" y="6505575"/>
            <a:ext cx="952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0">
                <a:solidFill>
                  <a:srgbClr val="66736C"/>
                </a:solidFill>
                <a:latin typeface="Arial"/>
                <a:ea typeface="Arial"/>
                <a:cs typeface="Arial"/>
              </a:defRPr>
            </a:defPPr>
          </a:lstStyle>
          <a:p xmlns:a="http://schemas.openxmlformats.org/drawingml/2006/main">
            <a:pPr algn="l">
              <a:defRPr sz="900" b="0">
                <a:solidFill>
                  <a:srgbClr val="66736C"/>
                </a:solidFill>
                <a:latin typeface="Arial"/>
                <a:ea typeface="Arial"/>
                <a:cs typeface="Arial"/>
              </a:defRPr>
            </a:pPr>
            <a:r>
              <a:rPr sz="900" b="0">
                <a:solidFill>
                  <a:srgbClr val="66736C"/>
                </a:solidFill>
                <a:latin typeface="Arial"/>
                <a:ea typeface="Arial"/>
                <a:cs typeface="Arial"/>
              </a:rPr>
              <a:t>ASPECT  /  PROJECT REFERENCE  /  1.0.0</a:t>
            </a:r>
          </a:p>
        </p:txBody>
      </p:sp>
      <p:sp>
        <p:nvSpPr>
          <p:cNvPr id="4" name="page-number">
            <a:extLst xmlns:a="http://schemas.openxmlformats.org/drawingml/2006/main">
              <a:ext uri="{FF2B5EF4-FFF2-40B4-BE49-F238E27FC236}">
                <a16:creationId xmlns:a16="http://schemas.microsoft.com/office/drawing/2014/main" id="{0B396FE5-C870-4065-94DE-B0214A3715C9}"/>
              </a:ext>
            </a:extLst>
          </p:cNvPr>
          <p:cNvSpPr>
            <a:spLocks xmlns:a="http://schemas.openxmlformats.org/drawingml/2006/main" noGrp="1"/>
          </p:cNvSpPr>
          <p:nvPr/>
        </p:nvSpPr>
        <p:spPr>
          <a:xfrm xmlns:a="http://schemas.openxmlformats.org/drawingml/2006/main">
            <a:off x="10620375" y="6505575"/>
            <a:ext cx="8858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a:solidFill>
                  <a:srgbClr val="66736C"/>
                </a:solidFill>
                <a:latin typeface="Arial"/>
                <a:ea typeface="Arial"/>
                <a:cs typeface="Arial"/>
              </a:defRPr>
            </a:defPPr>
          </a:lstStyle>
          <a:p xmlns:a="http://schemas.openxmlformats.org/drawingml/2006/main">
            <a:pPr algn="r">
              <a:defRPr sz="900" b="0">
                <a:solidFill>
                  <a:srgbClr val="66736C"/>
                </a:solidFill>
                <a:latin typeface="Arial"/>
                <a:ea typeface="Arial"/>
                <a:cs typeface="Arial"/>
              </a:defRPr>
            </a:pPr>
            <a:r>
              <a:rPr sz="900" b="0">
                <a:solidFill>
                  <a:srgbClr val="66736C"/>
                </a:solidFill>
                <a:latin typeface="Arial"/>
                <a:ea typeface="Arial"/>
                <a:cs typeface="Arial"/>
              </a:rPr>
              <a:t>19 / 52</a:t>
            </a:r>
          </a:p>
        </p:txBody>
      </p:sp>
      <p:sp>
        <p:nvSpPr>
          <p:cNvPr id="5" name="context-note">
            <a:extLst xmlns:a="http://schemas.openxmlformats.org/drawingml/2006/main">
              <a:ext uri="{FF2B5EF4-FFF2-40B4-BE49-F238E27FC236}">
                <a16:creationId xmlns:a16="http://schemas.microsoft.com/office/drawing/2014/main" id="{561A3068-364B-4CE9-BC03-E81203CF60AF}"/>
              </a:ext>
            </a:extLst>
          </p:cNvPr>
          <p:cNvSpPr>
            <a:spLocks xmlns:a="http://schemas.openxmlformats.org/drawingml/2006/main" noGrp="1"/>
          </p:cNvSpPr>
          <p:nvPr/>
        </p:nvSpPr>
        <p:spPr>
          <a:xfrm xmlns:a="http://schemas.openxmlformats.org/drawingml/2006/main">
            <a:off x="685800" y="5924550"/>
            <a:ext cx="108204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39725C"/>
                </a:solidFill>
                <a:latin typeface="Arial"/>
                <a:ea typeface="Arial"/>
                <a:cs typeface="Arial"/>
              </a:defRPr>
            </a:defPPr>
          </a:lstStyle>
          <a:p xmlns:a="http://schemas.openxmlformats.org/drawingml/2006/main">
            <a:pPr algn="l">
              <a:defRPr sz="1725" b="0">
                <a:solidFill>
                  <a:srgbClr val="39725C"/>
                </a:solidFill>
                <a:latin typeface="Arial"/>
                <a:ea typeface="Arial"/>
                <a:cs typeface="Arial"/>
              </a:defRPr>
            </a:pPr>
            <a:r>
              <a:rPr sz="1725" b="0">
                <a:solidFill>
                  <a:srgbClr val="39725C"/>
                </a:solidFill>
                <a:latin typeface="Arial"/>
                <a:ea typeface="Arial"/>
                <a:cs typeface="Arial"/>
              </a:rPr>
              <a:t>Restart recovery processes unfinished review records. A repeated request can still add a job-history entry.</a:t>
            </a:r>
          </a:p>
        </p:txBody>
      </p:sp>
      <p:graphicFrame>
        <p:nvGraphicFramePr>
          <p:cNvPr id="6" name="">
            <a:extLst xmlns:a="http://schemas.openxmlformats.org/drawingml/2006/main">
              <a:ext uri="{FF2B5EF4-FFF2-40B4-BE49-F238E27FC236}">
                <a16:creationId xmlns:a16="http://schemas.microsoft.com/office/drawing/2014/main" id="{C03FABF9-6B77-4622-8EC6-580FD87B96CD}"/>
              </a:ext>
            </a:extLst>
          </p:cNvPr>
          <p:cNvGraphicFramePr/>
          <p:nvPr/>
        </p:nvGraphicFramePr>
        <p:xfrm>
          <a:off xmlns:a="http://schemas.openxmlformats.org/drawingml/2006/main" x="685800" y="1714500"/>
          <a:ext xmlns:a="http://schemas.openxmlformats.org/drawingml/2006/main" cx="10820400" cy="3848100"/>
        </p:xfrm>
        <a:graphic xmlns:a="http://schemas.openxmlformats.org/drawingml/2006/main">
          <a:graphicData uri="http://schemas.openxmlformats.org/drawingml/2006/table">
            <a:tbl>
              <a:tblPr firstRow="1" firstCol="0" lastCol="0" bandRow="0"/>
              <a:tblGrid>
                <a:gridCol w="2286000"/>
                <a:gridCol w="8534400"/>
              </a:tblGrid>
              <a:tr h="419100">
                <a:tc>
                  <a:txBody>
                    <a:bodyPr wrap="square">
                      <a:noAutofit/>
                    </a:bodyPr>
                    <a:lstStyle/>
                    <a:p>
                      <a:r>
                        <a:rPr sz="1650" b="1">
                          <a:solidFill>
                            <a:srgbClr val="FFFFFF"/>
                          </a:solidFill>
                          <a:latin typeface="Arial"/>
                          <a:ea typeface="Arial"/>
                          <a:cs typeface="Arial"/>
                        </a:rPr>
                        <a:t>State</a:t>
                      </a:r>
                    </a:p>
                  </a:txBody>
                  <a:tcPr marL="114300" marR="114300" marT="47625" marB="47625" anchor="ctr">
                    <a:lnL w="6668">
                      <a:solidFill>
                        <a:srgbClr val="DCE3DA"/>
                      </a:solidFill>
                      <a:prstDash val="solid"/>
                    </a:lnL>
                    <a:lnR w="6668">
                      <a:solidFill>
                        <a:srgbClr val="DCE3DA"/>
                      </a:solidFill>
                      <a:prstDash val="solid"/>
                    </a:lnR>
                    <a:lnT w="6668">
                      <a:solidFill>
                        <a:srgbClr val="DCE3DA"/>
                      </a:solidFill>
                      <a:prstDash val="solid"/>
                    </a:lnT>
                    <a:lnB w="6668">
                      <a:solidFill>
                        <a:srgbClr val="DCE3DA"/>
                      </a:solidFill>
                      <a:prstDash val="solid"/>
                    </a:lnB>
                    <a:solidFill>
                      <a:srgbClr val="39725C"/>
                    </a:solidFill>
                  </a:tcPr>
                </a:tc>
                <a:tc>
                  <a:txBody>
                    <a:bodyPr wrap="square">
                      <a:noAutofit/>
                    </a:bodyPr>
                    <a:lstStyle/>
                    <a:p>
                      <a:r>
                        <a:rPr sz="1650" b="1">
                          <a:solidFill>
                            <a:srgbClr val="FFFFFF"/>
                          </a:solidFill>
                          <a:latin typeface="Arial"/>
                          <a:ea typeface="Arial"/>
                          <a:cs typeface="Arial"/>
                        </a:rPr>
                        <a:t>Meaning</a:t>
                      </a:r>
                    </a:p>
                  </a:txBody>
                  <a:tcPr marL="114300" marR="114300" marT="47625" marB="47625" anchor="ctr">
                    <a:lnR w="6668">
                      <a:solidFill>
                        <a:srgbClr val="DCE3DA"/>
                      </a:solidFill>
                      <a:prstDash val="solid"/>
                    </a:lnR>
                    <a:lnT w="6668">
                      <a:solidFill>
                        <a:srgbClr val="DCE3DA"/>
                      </a:solidFill>
                      <a:prstDash val="solid"/>
                    </a:lnT>
                    <a:lnB w="6668">
                      <a:solidFill>
                        <a:srgbClr val="DCE3DA"/>
                      </a:solidFill>
                      <a:prstDash val="solid"/>
                    </a:lnB>
                    <a:solidFill>
                      <a:srgbClr val="39725C"/>
                    </a:solidFill>
                  </a:tcPr>
                </a:tc>
              </a:tr>
              <a:tr h="685800">
                <a:tc>
                  <a:txBody>
                    <a:bodyPr wrap="square">
                      <a:noAutofit/>
                    </a:bodyPr>
                    <a:lstStyle/>
                    <a:p>
                      <a:r>
                        <a:rPr sz="1725" b="1">
                          <a:solidFill>
                            <a:srgbClr val="26332E"/>
                          </a:solidFill>
                          <a:latin typeface="Arial"/>
                          <a:ea typeface="Arial"/>
                          <a:cs typeface="Arial"/>
                        </a:rPr>
                        <a:t>Queued</a:t>
                      </a:r>
                    </a:p>
                  </a:txBody>
                  <a:tcPr marL="114300" marR="114300" marT="47625" marB="47625" anchor="ctr">
                    <a:lnL w="6668">
                      <a:solidFill>
                        <a:srgbClr val="DCE3DA"/>
                      </a:solidFill>
                      <a:prstDash val="solid"/>
                    </a:lnL>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The operation waits for the local work queue.</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r>
              <a:tr h="685800">
                <a:tc>
                  <a:txBody>
                    <a:bodyPr wrap="square">
                      <a:noAutofit/>
                    </a:bodyPr>
                    <a:lstStyle/>
                    <a:p>
                      <a:r>
                        <a:rPr sz="1725" b="1">
                          <a:solidFill>
                            <a:srgbClr val="26332E"/>
                          </a:solidFill>
                          <a:latin typeface="Arial"/>
                          <a:ea typeface="Arial"/>
                          <a:cs typeface="Arial"/>
                        </a:rPr>
                        <a:t>Running</a:t>
                      </a:r>
                    </a:p>
                  </a:txBody>
                  <a:tcPr marL="114300" marR="114300" marT="47625" marB="47625" anchor="ctr">
                    <a:lnL w="6668">
                      <a:solidFill>
                        <a:srgbClr val="DCE3DA"/>
                      </a:solidFill>
                      <a:prstDash val="solid"/>
                    </a:lnL>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The worker is processing records and recording progress.</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r>
              <a:tr h="685800">
                <a:tc>
                  <a:txBody>
                    <a:bodyPr wrap="square">
                      <a:noAutofit/>
                    </a:bodyPr>
                    <a:lstStyle/>
                    <a:p>
                      <a:r>
                        <a:rPr sz="1725" b="1">
                          <a:solidFill>
                            <a:srgbClr val="26332E"/>
                          </a:solidFill>
                          <a:latin typeface="Arial"/>
                          <a:ea typeface="Arial"/>
                          <a:cs typeface="Arial"/>
                        </a:rPr>
                        <a:t>Completed</a:t>
                      </a:r>
                    </a:p>
                  </a:txBody>
                  <a:tcPr marL="114300" marR="114300" marT="47625" marB="47625" anchor="ctr">
                    <a:lnL w="6668">
                      <a:solidFill>
                        <a:srgbClr val="DCE3DA"/>
                      </a:solidFill>
                      <a:prstDash val="solid"/>
                    </a:lnL>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The requested work finished successfully, including a zero-work repeat.</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r>
              <a:tr h="685800">
                <a:tc>
                  <a:txBody>
                    <a:bodyPr wrap="square">
                      <a:noAutofit/>
                    </a:bodyPr>
                    <a:lstStyle/>
                    <a:p>
                      <a:r>
                        <a:rPr sz="1725" b="1">
                          <a:solidFill>
                            <a:srgbClr val="26332E"/>
                          </a:solidFill>
                          <a:latin typeface="Arial"/>
                          <a:ea typeface="Arial"/>
                          <a:cs typeface="Arial"/>
                        </a:rPr>
                        <a:t>Failed</a:t>
                      </a:r>
                    </a:p>
                  </a:txBody>
                  <a:tcPr marL="114300" marR="114300" marT="47625" marB="47625" anchor="ctr">
                    <a:lnL w="6668">
                      <a:solidFill>
                        <a:srgbClr val="DCE3DA"/>
                      </a:solidFill>
                      <a:prstDash val="solid"/>
                    </a:lnL>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The operation records errors while retaining successful results.</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r>
              <a:tr h="685800">
                <a:tc>
                  <a:txBody>
                    <a:bodyPr wrap="square">
                      <a:noAutofit/>
                    </a:bodyPr>
                    <a:lstStyle/>
                    <a:p>
                      <a:r>
                        <a:rPr sz="1725" b="1">
                          <a:solidFill>
                            <a:srgbClr val="26332E"/>
                          </a:solidFill>
                          <a:latin typeface="Arial"/>
                          <a:ea typeface="Arial"/>
                          <a:cs typeface="Arial"/>
                        </a:rPr>
                        <a:t>Interrupted</a:t>
                      </a:r>
                    </a:p>
                  </a:txBody>
                  <a:tcPr marL="114300" marR="114300" marT="47625" marB="47625" anchor="ctr">
                    <a:lnL w="6668">
                      <a:solidFill>
                        <a:srgbClr val="DCE3DA"/>
                      </a:solidFill>
                      <a:prstDash val="solid"/>
                    </a:lnL>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The application stopped before finishing. Saved inputs and results remain.</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r>
            </a:tbl>
          </a:graphicData>
        </a:graphic>
      </p:graphicFrame>
    </p:spTree>
    <p:extLst>
      <p:ext uri="{BB962C8B-B14F-4D97-AF65-F5344CB8AC3E}">
        <p14:creationId xmlns:p14="http://schemas.microsoft.com/office/powerpoint/2010/main" val="862903292"/>
      </p:ext>
    </p:extLst>
  </p:cSld>
</p:sld>
</file>

<file path=ppt/slides/slide20.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10" name="chapter">
            <a:extLst xmlns:a="http://schemas.openxmlformats.org/drawingml/2006/main">
              <a:ext uri="{FF2B5EF4-FFF2-40B4-BE49-F238E27FC236}">
                <a16:creationId xmlns:a16="http://schemas.microsoft.com/office/drawing/2014/main" id="{19650A17-7178-474C-A95A-A781A5A68EFE}"/>
              </a:ext>
            </a:extLst>
          </p:cNvPr>
          <p:cNvSpPr>
            <a:spLocks xmlns:a="http://schemas.openxmlformats.org/drawingml/2006/main" noGrp="1"/>
          </p:cNvSpPr>
          <p:nvPr/>
        </p:nvSpPr>
        <p:spPr>
          <a:xfrm xmlns:a="http://schemas.openxmlformats.org/drawingml/2006/main">
            <a:off x="685800" y="381000"/>
            <a:ext cx="933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39725C"/>
                </a:solidFill>
                <a:latin typeface="Arial"/>
                <a:ea typeface="Arial"/>
                <a:cs typeface="Arial"/>
              </a:defRPr>
            </a:defPPr>
          </a:lstStyle>
          <a:p xmlns:a="http://schemas.openxmlformats.org/drawingml/2006/main">
            <a:pPr algn="l">
              <a:defRPr sz="1200" b="1">
                <a:solidFill>
                  <a:srgbClr val="39725C"/>
                </a:solidFill>
                <a:latin typeface="Arial"/>
                <a:ea typeface="Arial"/>
                <a:cs typeface="Arial"/>
              </a:defRPr>
            </a:pPr>
            <a:r>
              <a:rPr sz="1200" b="1">
                <a:solidFill>
                  <a:srgbClr val="39725C"/>
                </a:solidFill>
                <a:latin typeface="Arial"/>
                <a:ea typeface="Arial"/>
                <a:cs typeface="Arial"/>
              </a:rPr>
              <a:t>TEXT AND EVIDENCE</a:t>
            </a:r>
          </a:p>
        </p:txBody>
      </p:sp>
      <p:sp>
        <p:nvSpPr>
          <p:cNvPr id="2" name="primary-heading">
            <a:extLst xmlns:a="http://schemas.openxmlformats.org/drawingml/2006/main">
              <a:ext uri="{FF2B5EF4-FFF2-40B4-BE49-F238E27FC236}">
                <a16:creationId xmlns:a16="http://schemas.microsoft.com/office/drawing/2014/main" id="{BEEC643D-A8E2-47E4-A428-BB4CCDCCCDD7}"/>
              </a:ext>
            </a:extLst>
          </p:cNvPr>
          <p:cNvSpPr>
            <a:spLocks xmlns:a="http://schemas.openxmlformats.org/drawingml/2006/main" noGrp="1"/>
          </p:cNvSpPr>
          <p:nvPr/>
        </p:nvSpPr>
        <p:spPr>
          <a:xfrm xmlns:a="http://schemas.openxmlformats.org/drawingml/2006/main">
            <a:off x="685800" y="83820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6332E"/>
                </a:solidFill>
                <a:latin typeface="Arial"/>
                <a:ea typeface="Arial"/>
                <a:cs typeface="Arial"/>
              </a:defRPr>
            </a:defPPr>
          </a:lstStyle>
          <a:p xmlns:a="http://schemas.openxmlformats.org/drawingml/2006/main">
            <a:pPr algn="l">
              <a:defRPr sz="3300" b="1">
                <a:solidFill>
                  <a:srgbClr val="26332E"/>
                </a:solidFill>
                <a:latin typeface="Arial"/>
                <a:ea typeface="Arial"/>
                <a:cs typeface="Arial"/>
              </a:defRPr>
            </a:pPr>
            <a:r>
              <a:rPr sz="3300" b="1">
                <a:solidFill>
                  <a:srgbClr val="26332E"/>
                </a:solidFill>
                <a:latin typeface="Arial"/>
                <a:ea typeface="Arial"/>
                <a:cs typeface="Arial"/>
              </a:rPr>
              <a:t>Evidence retains the original review offsets</a:t>
            </a:r>
          </a:p>
        </p:txBody>
      </p:sp>
      <p:sp>
        <p:nvSpPr>
          <p:cNvPr id="3" name="footer-label">
            <a:extLst xmlns:a="http://schemas.openxmlformats.org/drawingml/2006/main">
              <a:ext uri="{FF2B5EF4-FFF2-40B4-BE49-F238E27FC236}">
                <a16:creationId xmlns:a16="http://schemas.microsoft.com/office/drawing/2014/main" id="{64045316-E78E-4EED-81DF-80A1B34620B8}"/>
              </a:ext>
            </a:extLst>
          </p:cNvPr>
          <p:cNvSpPr>
            <a:spLocks xmlns:a="http://schemas.openxmlformats.org/drawingml/2006/main" noGrp="1"/>
          </p:cNvSpPr>
          <p:nvPr/>
        </p:nvSpPr>
        <p:spPr>
          <a:xfrm xmlns:a="http://schemas.openxmlformats.org/drawingml/2006/main">
            <a:off x="685800" y="6505575"/>
            <a:ext cx="952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0">
                <a:solidFill>
                  <a:srgbClr val="66736C"/>
                </a:solidFill>
                <a:latin typeface="Arial"/>
                <a:ea typeface="Arial"/>
                <a:cs typeface="Arial"/>
              </a:defRPr>
            </a:defPPr>
          </a:lstStyle>
          <a:p xmlns:a="http://schemas.openxmlformats.org/drawingml/2006/main">
            <a:pPr algn="l">
              <a:defRPr sz="900" b="0">
                <a:solidFill>
                  <a:srgbClr val="66736C"/>
                </a:solidFill>
                <a:latin typeface="Arial"/>
                <a:ea typeface="Arial"/>
                <a:cs typeface="Arial"/>
              </a:defRPr>
            </a:pPr>
            <a:r>
              <a:rPr sz="900" b="0">
                <a:solidFill>
                  <a:srgbClr val="66736C"/>
                </a:solidFill>
                <a:latin typeface="Arial"/>
                <a:ea typeface="Arial"/>
                <a:cs typeface="Arial"/>
              </a:rPr>
              <a:t>ASPECT  /  PROJECT REFERENCE  /  1.0.0</a:t>
            </a:r>
          </a:p>
        </p:txBody>
      </p:sp>
      <p:sp>
        <p:nvSpPr>
          <p:cNvPr id="4" name="page-number">
            <a:extLst xmlns:a="http://schemas.openxmlformats.org/drawingml/2006/main">
              <a:ext uri="{FF2B5EF4-FFF2-40B4-BE49-F238E27FC236}">
                <a16:creationId xmlns:a16="http://schemas.microsoft.com/office/drawing/2014/main" id="{1DA28683-130F-4CC9-828F-910B43447269}"/>
              </a:ext>
            </a:extLst>
          </p:cNvPr>
          <p:cNvSpPr>
            <a:spLocks xmlns:a="http://schemas.openxmlformats.org/drawingml/2006/main" noGrp="1"/>
          </p:cNvSpPr>
          <p:nvPr/>
        </p:nvSpPr>
        <p:spPr>
          <a:xfrm xmlns:a="http://schemas.openxmlformats.org/drawingml/2006/main">
            <a:off x="10620375" y="6505575"/>
            <a:ext cx="8858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a:solidFill>
                  <a:srgbClr val="66736C"/>
                </a:solidFill>
                <a:latin typeface="Arial"/>
                <a:ea typeface="Arial"/>
                <a:cs typeface="Arial"/>
              </a:defRPr>
            </a:defPPr>
          </a:lstStyle>
          <a:p xmlns:a="http://schemas.openxmlformats.org/drawingml/2006/main">
            <a:pPr algn="r">
              <a:defRPr sz="900" b="0">
                <a:solidFill>
                  <a:srgbClr val="66736C"/>
                </a:solidFill>
                <a:latin typeface="Arial"/>
                <a:ea typeface="Arial"/>
                <a:cs typeface="Arial"/>
              </a:defRPr>
            </a:pPr>
            <a:r>
              <a:rPr sz="900" b="0">
                <a:solidFill>
                  <a:srgbClr val="66736C"/>
                </a:solidFill>
                <a:latin typeface="Arial"/>
                <a:ea typeface="Arial"/>
                <a:cs typeface="Arial"/>
              </a:rPr>
              <a:t>20 / 52</a:t>
            </a:r>
          </a:p>
        </p:txBody>
      </p:sp>
      <p:sp>
        <p:nvSpPr>
          <p:cNvPr id="5" name="context-note">
            <a:extLst xmlns:a="http://schemas.openxmlformats.org/drawingml/2006/main">
              <a:ext uri="{FF2B5EF4-FFF2-40B4-BE49-F238E27FC236}">
                <a16:creationId xmlns:a16="http://schemas.microsoft.com/office/drawing/2014/main" id="{ED9451D3-F75D-4EA0-9BDC-A297D7B986DA}"/>
              </a:ext>
            </a:extLst>
          </p:cNvPr>
          <p:cNvSpPr>
            <a:spLocks xmlns:a="http://schemas.openxmlformats.org/drawingml/2006/main" noGrp="1"/>
          </p:cNvSpPr>
          <p:nvPr/>
        </p:nvSpPr>
        <p:spPr>
          <a:xfrm xmlns:a="http://schemas.openxmlformats.org/drawingml/2006/main">
            <a:off x="685800" y="5924550"/>
            <a:ext cx="108204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39725C"/>
                </a:solidFill>
                <a:latin typeface="Arial"/>
                <a:ea typeface="Arial"/>
                <a:cs typeface="Arial"/>
              </a:defRPr>
            </a:defPPr>
          </a:lstStyle>
          <a:p xmlns:a="http://schemas.openxmlformats.org/drawingml/2006/main">
            <a:pPr algn="l">
              <a:defRPr sz="1725" b="0">
                <a:solidFill>
                  <a:srgbClr val="39725C"/>
                </a:solidFill>
                <a:latin typeface="Arial"/>
                <a:ea typeface="Arial"/>
                <a:cs typeface="Arial"/>
              </a:defRPr>
            </a:pPr>
            <a:r>
              <a:rPr sz="1725" b="0">
                <a:solidFill>
                  <a:srgbClr val="39725C"/>
                </a:solidFill>
                <a:latin typeface="Arial"/>
                <a:ea typeface="Arial"/>
                <a:cs typeface="Arial"/>
              </a:rPr>
              <a:t>Language detection can mark short text uncertain. That warning remains visible with provisional results.</a:t>
            </a:r>
          </a:p>
        </p:txBody>
      </p:sp>
      <p:sp>
        <p:nvSpPr>
          <p:cNvPr id="6" name="column-label-0">
            <a:extLst xmlns:a="http://schemas.openxmlformats.org/drawingml/2006/main">
              <a:ext uri="{FF2B5EF4-FFF2-40B4-BE49-F238E27FC236}">
                <a16:creationId xmlns:a16="http://schemas.microsoft.com/office/drawing/2014/main" id="{1C621E9C-9AE9-43FB-929B-A4C792598C92}"/>
              </a:ext>
            </a:extLst>
          </p:cNvPr>
          <p:cNvSpPr>
            <a:spLocks xmlns:a="http://schemas.openxmlformats.org/drawingml/2006/main" noGrp="1"/>
          </p:cNvSpPr>
          <p:nvPr/>
        </p:nvSpPr>
        <p:spPr>
          <a:xfrm xmlns:a="http://schemas.openxmlformats.org/drawingml/2006/main">
            <a:off x="685800" y="1905000"/>
            <a:ext cx="52006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39725C"/>
                </a:solidFill>
                <a:latin typeface="Arial"/>
                <a:ea typeface="Arial"/>
                <a:cs typeface="Arial"/>
              </a:defRPr>
            </a:defPPr>
          </a:lstStyle>
          <a:p xmlns:a="http://schemas.openxmlformats.org/drawingml/2006/main">
            <a:pPr algn="l">
              <a:defRPr sz="2175" b="1">
                <a:solidFill>
                  <a:srgbClr val="39725C"/>
                </a:solidFill>
                <a:latin typeface="Arial"/>
                <a:ea typeface="Arial"/>
                <a:cs typeface="Arial"/>
              </a:defRPr>
            </a:pPr>
            <a:r>
              <a:rPr sz="2175" b="1">
                <a:solidFill>
                  <a:srgbClr val="39725C"/>
                </a:solidFill>
                <a:latin typeface="Arial"/>
                <a:ea typeface="Arial"/>
                <a:cs typeface="Arial"/>
              </a:rPr>
              <a:t>Sentence preparation</a:t>
            </a:r>
          </a:p>
        </p:txBody>
      </p:sp>
      <p:sp>
        <p:nvSpPr>
          <p:cNvPr id="7" name="column-copy-0">
            <a:extLst xmlns:a="http://schemas.openxmlformats.org/drawingml/2006/main">
              <a:ext uri="{FF2B5EF4-FFF2-40B4-BE49-F238E27FC236}">
                <a16:creationId xmlns:a16="http://schemas.microsoft.com/office/drawing/2014/main" id="{6455C8FE-5EF6-4691-B3DE-75A1DAB51857}"/>
              </a:ext>
            </a:extLst>
          </p:cNvPr>
          <p:cNvSpPr>
            <a:spLocks xmlns:a="http://schemas.openxmlformats.org/drawingml/2006/main" noGrp="1"/>
          </p:cNvSpPr>
          <p:nvPr/>
        </p:nvSpPr>
        <p:spPr>
          <a:xfrm xmlns:a="http://schemas.openxmlformats.org/drawingml/2006/main">
            <a:off x="685800" y="2552700"/>
            <a:ext cx="520065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26332E"/>
                </a:solidFill>
                <a:latin typeface="Arial"/>
                <a:ea typeface="Arial"/>
                <a:cs typeface="Arial"/>
              </a:defRPr>
            </a:defPPr>
          </a:lstStyle>
          <a:p xmlns:a="http://schemas.openxmlformats.org/drawingml/2006/main">
            <a:pPr algn="l">
              <a:defRPr sz="2175" b="0">
                <a:solidFill>
                  <a:srgbClr val="26332E"/>
                </a:solidFill>
                <a:latin typeface="Arial"/>
                <a:ea typeface="Arial"/>
                <a:cs typeface="Arial"/>
              </a:defRPr>
            </a:pPr>
            <a:r>
              <a:rPr sz="2175" b="0">
                <a:solidFill>
                  <a:srgbClr val="26332E"/>
                </a:solidFill>
                <a:latin typeface="Arial"/>
                <a:ea typeface="Arial"/>
                <a:cs typeface="Arial"/>
              </a:rPr>
              <a:t>pysbd identifies sentence boundaries. The pipeline retains each sentence’s start and end position in the review.</a:t>
            </a:r>
          </a:p>
        </p:txBody>
      </p:sp>
      <p:sp>
        <p:nvSpPr>
          <p:cNvPr id="8" name="column-label-1">
            <a:extLst xmlns:a="http://schemas.openxmlformats.org/drawingml/2006/main">
              <a:ext uri="{FF2B5EF4-FFF2-40B4-BE49-F238E27FC236}">
                <a16:creationId xmlns:a16="http://schemas.microsoft.com/office/drawing/2014/main" id="{A0BA644F-CA54-4330-96E6-242C866D5A36}"/>
              </a:ext>
            </a:extLst>
          </p:cNvPr>
          <p:cNvSpPr>
            <a:spLocks xmlns:a="http://schemas.openxmlformats.org/drawingml/2006/main" noGrp="1"/>
          </p:cNvSpPr>
          <p:nvPr/>
        </p:nvSpPr>
        <p:spPr>
          <a:xfrm xmlns:a="http://schemas.openxmlformats.org/drawingml/2006/main">
            <a:off x="6305550" y="1905000"/>
            <a:ext cx="52006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39725C"/>
                </a:solidFill>
                <a:latin typeface="Arial"/>
                <a:ea typeface="Arial"/>
                <a:cs typeface="Arial"/>
              </a:defRPr>
            </a:defPPr>
          </a:lstStyle>
          <a:p xmlns:a="http://schemas.openxmlformats.org/drawingml/2006/main">
            <a:pPr algn="l">
              <a:defRPr sz="2175" b="1">
                <a:solidFill>
                  <a:srgbClr val="39725C"/>
                </a:solidFill>
                <a:latin typeface="Arial"/>
                <a:ea typeface="Arial"/>
                <a:cs typeface="Arial"/>
              </a:defRPr>
            </a:pPr>
            <a:r>
              <a:rPr sz="2175" b="1">
                <a:solidFill>
                  <a:srgbClr val="39725C"/>
                </a:solidFill>
                <a:latin typeface="Arial"/>
                <a:ea typeface="Arial"/>
                <a:cs typeface="Arial"/>
              </a:rPr>
              <a:t>Evidence contract</a:t>
            </a:r>
          </a:p>
        </p:txBody>
      </p:sp>
      <p:sp>
        <p:nvSpPr>
          <p:cNvPr id="9" name="column-copy-1">
            <a:extLst xmlns:a="http://schemas.openxmlformats.org/drawingml/2006/main">
              <a:ext uri="{FF2B5EF4-FFF2-40B4-BE49-F238E27FC236}">
                <a16:creationId xmlns:a16="http://schemas.microsoft.com/office/drawing/2014/main" id="{72B1C5E8-2E33-4E3E-9BB8-A75D425B4B46}"/>
              </a:ext>
            </a:extLst>
          </p:cNvPr>
          <p:cNvSpPr>
            <a:spLocks xmlns:a="http://schemas.openxmlformats.org/drawingml/2006/main" noGrp="1"/>
          </p:cNvSpPr>
          <p:nvPr/>
        </p:nvSpPr>
        <p:spPr>
          <a:xfrm xmlns:a="http://schemas.openxmlformats.org/drawingml/2006/main">
            <a:off x="6305550" y="2552700"/>
            <a:ext cx="520065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26332E"/>
                </a:solidFill>
                <a:latin typeface="Arial"/>
                <a:ea typeface="Arial"/>
                <a:cs typeface="Arial"/>
              </a:defRPr>
            </a:defPPr>
          </a:lstStyle>
          <a:p xmlns:a="http://schemas.openxmlformats.org/drawingml/2006/main">
            <a:pPr algn="l">
              <a:defRPr sz="2175" b="0">
                <a:solidFill>
                  <a:srgbClr val="26332E"/>
                </a:solidFill>
                <a:latin typeface="Arial"/>
                <a:ea typeface="Arial"/>
                <a:cs typeface="Arial"/>
              </a:defRPr>
            </a:pPr>
            <a:r>
              <a:rPr sz="2175" b="0">
                <a:solidFill>
                  <a:srgbClr val="26332E"/>
                </a:solidFill>
                <a:latin typeface="Arial"/>
                <a:ea typeface="Arial"/>
                <a:cs typeface="Arial"/>
              </a:rPr>
              <a:t>The original text slice from start to end must equal the saved evidence text. The UI displays that full sentence.</a:t>
            </a:r>
          </a:p>
        </p:txBody>
      </p:sp>
    </p:spTree>
    <p:extLst>
      <p:ext uri="{BB962C8B-B14F-4D97-AF65-F5344CB8AC3E}">
        <p14:creationId xmlns:p14="http://schemas.microsoft.com/office/powerpoint/2010/main" val="1148773301"/>
      </p:ext>
    </p:extLst>
  </p:cSld>
</p:sld>
</file>

<file path=ppt/slides/slide21.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6" name="chapter">
            <a:extLst xmlns:a="http://schemas.openxmlformats.org/drawingml/2006/main">
              <a:ext uri="{FF2B5EF4-FFF2-40B4-BE49-F238E27FC236}">
                <a16:creationId xmlns:a16="http://schemas.microsoft.com/office/drawing/2014/main" id="{E39A22C6-378B-4CFA-89FD-9EAFF89CEA0E}"/>
              </a:ext>
            </a:extLst>
          </p:cNvPr>
          <p:cNvSpPr>
            <a:spLocks xmlns:a="http://schemas.openxmlformats.org/drawingml/2006/main" noGrp="1"/>
          </p:cNvSpPr>
          <p:nvPr/>
        </p:nvSpPr>
        <p:spPr>
          <a:xfrm xmlns:a="http://schemas.openxmlformats.org/drawingml/2006/main">
            <a:off x="685800" y="381000"/>
            <a:ext cx="933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39725C"/>
                </a:solidFill>
                <a:latin typeface="Arial"/>
                <a:ea typeface="Arial"/>
                <a:cs typeface="Arial"/>
              </a:defRPr>
            </a:defPPr>
          </a:lstStyle>
          <a:p xmlns:a="http://schemas.openxmlformats.org/drawingml/2006/main">
            <a:pPr algn="l">
              <a:defRPr sz="1200" b="1">
                <a:solidFill>
                  <a:srgbClr val="39725C"/>
                </a:solidFill>
                <a:latin typeface="Arial"/>
                <a:ea typeface="Arial"/>
                <a:cs typeface="Arial"/>
              </a:defRPr>
            </a:pPr>
            <a:r>
              <a:rPr sz="1200" b="1">
                <a:solidFill>
                  <a:srgbClr val="39725C"/>
                </a:solidFill>
                <a:latin typeface="Arial"/>
                <a:ea typeface="Arial"/>
                <a:cs typeface="Arial"/>
              </a:rPr>
              <a:t>THE MODELS</a:t>
            </a:r>
          </a:p>
        </p:txBody>
      </p:sp>
      <p:sp>
        <p:nvSpPr>
          <p:cNvPr id="2" name="primary-heading">
            <a:extLst xmlns:a="http://schemas.openxmlformats.org/drawingml/2006/main">
              <a:ext uri="{FF2B5EF4-FFF2-40B4-BE49-F238E27FC236}">
                <a16:creationId xmlns:a16="http://schemas.microsoft.com/office/drawing/2014/main" id="{BDF08E32-1506-4B3C-8E33-2C08E806A314}"/>
              </a:ext>
            </a:extLst>
          </p:cNvPr>
          <p:cNvSpPr>
            <a:spLocks xmlns:a="http://schemas.openxmlformats.org/drawingml/2006/main" noGrp="1"/>
          </p:cNvSpPr>
          <p:nvPr/>
        </p:nvSpPr>
        <p:spPr>
          <a:xfrm xmlns:a="http://schemas.openxmlformats.org/drawingml/2006/main">
            <a:off x="685800" y="83820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6332E"/>
                </a:solidFill>
                <a:latin typeface="Arial"/>
                <a:ea typeface="Arial"/>
                <a:cs typeface="Arial"/>
              </a:defRPr>
            </a:defPPr>
          </a:lstStyle>
          <a:p xmlns:a="http://schemas.openxmlformats.org/drawingml/2006/main">
            <a:pPr algn="l">
              <a:defRPr sz="3300" b="1">
                <a:solidFill>
                  <a:srgbClr val="26332E"/>
                </a:solidFill>
                <a:latin typeface="Arial"/>
                <a:ea typeface="Arial"/>
                <a:cs typeface="Arial"/>
              </a:defRPr>
            </a:pPr>
            <a:r>
              <a:rPr sz="3300" b="1">
                <a:solidFill>
                  <a:srgbClr val="26332E"/>
                </a:solidFill>
                <a:latin typeface="Arial"/>
                <a:ea typeface="Arial"/>
                <a:cs typeface="Arial"/>
              </a:rPr>
              <a:t>Five variants share one analyzer interface</a:t>
            </a:r>
          </a:p>
        </p:txBody>
      </p:sp>
      <p:sp>
        <p:nvSpPr>
          <p:cNvPr id="3" name="footer-label">
            <a:extLst xmlns:a="http://schemas.openxmlformats.org/drawingml/2006/main">
              <a:ext uri="{FF2B5EF4-FFF2-40B4-BE49-F238E27FC236}">
                <a16:creationId xmlns:a16="http://schemas.microsoft.com/office/drawing/2014/main" id="{8A8FBAC8-5680-4FFC-A074-4751ECDE9C3B}"/>
              </a:ext>
            </a:extLst>
          </p:cNvPr>
          <p:cNvSpPr>
            <a:spLocks xmlns:a="http://schemas.openxmlformats.org/drawingml/2006/main" noGrp="1"/>
          </p:cNvSpPr>
          <p:nvPr/>
        </p:nvSpPr>
        <p:spPr>
          <a:xfrm xmlns:a="http://schemas.openxmlformats.org/drawingml/2006/main">
            <a:off x="685800" y="6505575"/>
            <a:ext cx="952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0">
                <a:solidFill>
                  <a:srgbClr val="66736C"/>
                </a:solidFill>
                <a:latin typeface="Arial"/>
                <a:ea typeface="Arial"/>
                <a:cs typeface="Arial"/>
              </a:defRPr>
            </a:defPPr>
          </a:lstStyle>
          <a:p xmlns:a="http://schemas.openxmlformats.org/drawingml/2006/main">
            <a:pPr algn="l">
              <a:defRPr sz="900" b="0">
                <a:solidFill>
                  <a:srgbClr val="66736C"/>
                </a:solidFill>
                <a:latin typeface="Arial"/>
                <a:ea typeface="Arial"/>
                <a:cs typeface="Arial"/>
              </a:defRPr>
            </a:pPr>
            <a:r>
              <a:rPr sz="900" b="0">
                <a:solidFill>
                  <a:srgbClr val="66736C"/>
                </a:solidFill>
                <a:latin typeface="Arial"/>
                <a:ea typeface="Arial"/>
                <a:cs typeface="Arial"/>
              </a:rPr>
              <a:t>ASPECT  /  PROJECT REFERENCE  /  1.0.0</a:t>
            </a:r>
          </a:p>
        </p:txBody>
      </p:sp>
      <p:sp>
        <p:nvSpPr>
          <p:cNvPr id="4" name="page-number">
            <a:extLst xmlns:a="http://schemas.openxmlformats.org/drawingml/2006/main">
              <a:ext uri="{FF2B5EF4-FFF2-40B4-BE49-F238E27FC236}">
                <a16:creationId xmlns:a16="http://schemas.microsoft.com/office/drawing/2014/main" id="{CE0E01DC-F075-4736-88D3-7327C037204D}"/>
              </a:ext>
            </a:extLst>
          </p:cNvPr>
          <p:cNvSpPr>
            <a:spLocks xmlns:a="http://schemas.openxmlformats.org/drawingml/2006/main" noGrp="1"/>
          </p:cNvSpPr>
          <p:nvPr/>
        </p:nvSpPr>
        <p:spPr>
          <a:xfrm xmlns:a="http://schemas.openxmlformats.org/drawingml/2006/main">
            <a:off x="10620375" y="6505575"/>
            <a:ext cx="8858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a:solidFill>
                  <a:srgbClr val="66736C"/>
                </a:solidFill>
                <a:latin typeface="Arial"/>
                <a:ea typeface="Arial"/>
                <a:cs typeface="Arial"/>
              </a:defRPr>
            </a:defPPr>
          </a:lstStyle>
          <a:p xmlns:a="http://schemas.openxmlformats.org/drawingml/2006/main">
            <a:pPr algn="r">
              <a:defRPr sz="900" b="0">
                <a:solidFill>
                  <a:srgbClr val="66736C"/>
                </a:solidFill>
                <a:latin typeface="Arial"/>
                <a:ea typeface="Arial"/>
                <a:cs typeface="Arial"/>
              </a:defRPr>
            </a:pPr>
            <a:r>
              <a:rPr sz="900" b="0">
                <a:solidFill>
                  <a:srgbClr val="66736C"/>
                </a:solidFill>
                <a:latin typeface="Arial"/>
                <a:ea typeface="Arial"/>
                <a:cs typeface="Arial"/>
              </a:rPr>
              <a:t>21 / 52</a:t>
            </a:r>
          </a:p>
        </p:txBody>
      </p:sp>
      <p:graphicFrame>
        <p:nvGraphicFramePr>
          <p:cNvPr id="5" name="">
            <a:extLst xmlns:a="http://schemas.openxmlformats.org/drawingml/2006/main">
              <a:ext uri="{FF2B5EF4-FFF2-40B4-BE49-F238E27FC236}">
                <a16:creationId xmlns:a16="http://schemas.microsoft.com/office/drawing/2014/main" id="{55FE4F8F-7BF1-4782-B0F9-AA6520DC26F9}"/>
              </a:ext>
            </a:extLst>
          </p:cNvPr>
          <p:cNvGraphicFramePr/>
          <p:nvPr/>
        </p:nvGraphicFramePr>
        <p:xfrm>
          <a:off xmlns:a="http://schemas.openxmlformats.org/drawingml/2006/main" x="685800" y="1714500"/>
          <a:ext xmlns:a="http://schemas.openxmlformats.org/drawingml/2006/main" cx="10820400" cy="3848100"/>
        </p:xfrm>
        <a:graphic xmlns:a="http://schemas.openxmlformats.org/drawingml/2006/main">
          <a:graphicData uri="http://schemas.openxmlformats.org/drawingml/2006/table">
            <a:tbl>
              <a:tblPr firstRow="1" firstCol="0" lastCol="0" bandRow="0"/>
              <a:tblGrid>
                <a:gridCol w="2857500"/>
                <a:gridCol w="3905250"/>
                <a:gridCol w="4057650"/>
              </a:tblGrid>
              <a:tr h="419100">
                <a:tc>
                  <a:txBody>
                    <a:bodyPr wrap="square">
                      <a:noAutofit/>
                    </a:bodyPr>
                    <a:lstStyle/>
                    <a:p>
                      <a:r>
                        <a:rPr sz="1650" b="1">
                          <a:solidFill>
                            <a:srgbClr val="FFFFFF"/>
                          </a:solidFill>
                          <a:latin typeface="Arial"/>
                          <a:ea typeface="Arial"/>
                          <a:cs typeface="Arial"/>
                        </a:rPr>
                        <a:t>Variant</a:t>
                      </a:r>
                    </a:p>
                  </a:txBody>
                  <a:tcPr marL="114300" marR="114300" marT="47625" marB="47625" anchor="ctr">
                    <a:lnL w="6668">
                      <a:solidFill>
                        <a:srgbClr val="DCE3DA"/>
                      </a:solidFill>
                      <a:prstDash val="solid"/>
                    </a:lnL>
                    <a:lnR w="6668">
                      <a:solidFill>
                        <a:srgbClr val="DCE3DA"/>
                      </a:solidFill>
                      <a:prstDash val="solid"/>
                    </a:lnR>
                    <a:lnT w="6668">
                      <a:solidFill>
                        <a:srgbClr val="DCE3DA"/>
                      </a:solidFill>
                      <a:prstDash val="solid"/>
                    </a:lnT>
                    <a:lnB w="6668">
                      <a:solidFill>
                        <a:srgbClr val="DCE3DA"/>
                      </a:solidFill>
                      <a:prstDash val="solid"/>
                    </a:lnB>
                    <a:solidFill>
                      <a:srgbClr val="39725C"/>
                    </a:solidFill>
                  </a:tcPr>
                </a:tc>
                <a:tc>
                  <a:txBody>
                    <a:bodyPr wrap="square">
                      <a:noAutofit/>
                    </a:bodyPr>
                    <a:lstStyle/>
                    <a:p>
                      <a:r>
                        <a:rPr sz="1650" b="1">
                          <a:solidFill>
                            <a:srgbClr val="FFFFFF"/>
                          </a:solidFill>
                          <a:latin typeface="Arial"/>
                          <a:ea typeface="Arial"/>
                          <a:cs typeface="Arial"/>
                        </a:rPr>
                        <a:t>Aspect detection</a:t>
                      </a:r>
                    </a:p>
                  </a:txBody>
                  <a:tcPr marL="114300" marR="114300" marT="47625" marB="47625" anchor="ctr">
                    <a:lnR w="6668">
                      <a:solidFill>
                        <a:srgbClr val="DCE3DA"/>
                      </a:solidFill>
                      <a:prstDash val="solid"/>
                    </a:lnR>
                    <a:lnT w="6668">
                      <a:solidFill>
                        <a:srgbClr val="DCE3DA"/>
                      </a:solidFill>
                      <a:prstDash val="solid"/>
                    </a:lnT>
                    <a:lnB w="6668">
                      <a:solidFill>
                        <a:srgbClr val="DCE3DA"/>
                      </a:solidFill>
                      <a:prstDash val="solid"/>
                    </a:lnB>
                    <a:solidFill>
                      <a:srgbClr val="39725C"/>
                    </a:solidFill>
                  </a:tcPr>
                </a:tc>
                <a:tc>
                  <a:txBody>
                    <a:bodyPr wrap="square">
                      <a:noAutofit/>
                    </a:bodyPr>
                    <a:lstStyle/>
                    <a:p>
                      <a:r>
                        <a:rPr sz="1650" b="1">
                          <a:solidFill>
                            <a:srgbClr val="FFFFFF"/>
                          </a:solidFill>
                          <a:latin typeface="Arial"/>
                          <a:ea typeface="Arial"/>
                          <a:cs typeface="Arial"/>
                        </a:rPr>
                        <a:t>Sentiment decision</a:t>
                      </a:r>
                    </a:p>
                  </a:txBody>
                  <a:tcPr marL="114300" marR="114300" marT="47625" marB="47625" anchor="ctr">
                    <a:lnR w="6668">
                      <a:solidFill>
                        <a:srgbClr val="DCE3DA"/>
                      </a:solidFill>
                      <a:prstDash val="solid"/>
                    </a:lnR>
                    <a:lnT w="6668">
                      <a:solidFill>
                        <a:srgbClr val="DCE3DA"/>
                      </a:solidFill>
                      <a:prstDash val="solid"/>
                    </a:lnT>
                    <a:lnB w="6668">
                      <a:solidFill>
                        <a:srgbClr val="DCE3DA"/>
                      </a:solidFill>
                      <a:prstDash val="solid"/>
                    </a:lnB>
                    <a:solidFill>
                      <a:srgbClr val="39725C"/>
                    </a:solidFill>
                  </a:tcPr>
                </a:tc>
              </a:tr>
              <a:tr h="685800">
                <a:tc>
                  <a:txBody>
                    <a:bodyPr wrap="square">
                      <a:noAutofit/>
                    </a:bodyPr>
                    <a:lstStyle/>
                    <a:p>
                      <a:r>
                        <a:rPr sz="1725" b="1">
                          <a:solidFill>
                            <a:srgbClr val="26332E"/>
                          </a:solidFill>
                          <a:latin typeface="Arial"/>
                          <a:ea typeface="Arial"/>
                          <a:cs typeface="Arial"/>
                        </a:rPr>
                        <a:t>Rules + VADER</a:t>
                      </a:r>
                    </a:p>
                  </a:txBody>
                  <a:tcPr marL="114300" marR="114300" marT="47625" marB="47625" anchor="ctr">
                    <a:lnL w="6668">
                      <a:solidFill>
                        <a:srgbClr val="DCE3DA"/>
                      </a:solidFill>
                      <a:prstDash val="solid"/>
                    </a:lnL>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Explicit feature patterns and context guards</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Lexicon score plus documented domain rules</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r>
              <a:tr h="685800">
                <a:tc>
                  <a:txBody>
                    <a:bodyPr wrap="square">
                      <a:noAutofit/>
                    </a:bodyPr>
                    <a:lstStyle/>
                    <a:p>
                      <a:r>
                        <a:rPr sz="1725" b="1">
                          <a:solidFill>
                            <a:srgbClr val="26332E"/>
                          </a:solidFill>
                          <a:latin typeface="Arial"/>
                          <a:ea typeface="Arial"/>
                          <a:cs typeface="Arial"/>
                        </a:rPr>
                        <a:t>Transferred DeBERTa</a:t>
                      </a:r>
                    </a:p>
                  </a:txBody>
                  <a:tcPr marL="114300" marR="114300" marT="47625" marB="47625" anchor="ctr">
                    <a:lnL w="6668">
                      <a:solidFill>
                        <a:srgbClr val="DCE3DA"/>
                      </a:solidFill>
                      <a:prstDash val="solid"/>
                    </a:lnL>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Original explicit candidate policy</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Pinned three-state transformer checkpoint</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r>
              <a:tr h="685800">
                <a:tc>
                  <a:txBody>
                    <a:bodyPr wrap="square">
                      <a:noAutofit/>
                    </a:bodyPr>
                    <a:lstStyle/>
                    <a:p>
                      <a:r>
                        <a:rPr sz="1725" b="1">
                          <a:solidFill>
                            <a:srgbClr val="26332E"/>
                          </a:solidFill>
                          <a:latin typeface="Arial"/>
                          <a:ea typeface="Arial"/>
                          <a:cs typeface="Arial"/>
                        </a:rPr>
                        <a:t>Domain adapter v2</a:t>
                      </a:r>
                    </a:p>
                  </a:txBody>
                  <a:tcPr marL="114300" marR="114300" marT="47625" marB="47625" anchor="ctr">
                    <a:lnL w="6668">
                      <a:solidFill>
                        <a:srgbClr val="DCE3DA"/>
                      </a:solidFill>
                      <a:prstDash val="solid"/>
                    </a:lnL>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Expanded vocabulary and revised opinion scope</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The same pinned checkpoint and shared backbone</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r>
              <a:tr h="685800">
                <a:tc>
                  <a:txBody>
                    <a:bodyPr wrap="square">
                      <a:noAutofit/>
                    </a:bodyPr>
                    <a:lstStyle/>
                    <a:p>
                      <a:r>
                        <a:rPr sz="1725" b="1">
                          <a:solidFill>
                            <a:srgbClr val="26332E"/>
                          </a:solidFill>
                          <a:latin typeface="Arial"/>
                          <a:ea typeface="Arial"/>
                          <a:cs typeface="Arial"/>
                        </a:rPr>
                        <a:t>Flat TF-IDF</a:t>
                      </a:r>
                    </a:p>
                  </a:txBody>
                  <a:tcPr marL="114300" marR="114300" marT="47625" marB="47625" anchor="ctr">
                    <a:lnL w="6668">
                      <a:solidFill>
                        <a:srgbClr val="DCE3DA"/>
                      </a:solidFill>
                      <a:prstDash val="solid"/>
                    </a:lnL>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Five-state prediction for every category</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One local classifier per category</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r>
              <a:tr h="685800">
                <a:tc>
                  <a:txBody>
                    <a:bodyPr wrap="square">
                      <a:noAutofit/>
                    </a:bodyPr>
                    <a:lstStyle/>
                    <a:p>
                      <a:r>
                        <a:rPr sz="1725" b="1">
                          <a:solidFill>
                            <a:srgbClr val="26332E"/>
                          </a:solidFill>
                          <a:latin typeface="Arial"/>
                          <a:ea typeface="Arial"/>
                          <a:cs typeface="Arial"/>
                        </a:rPr>
                        <a:t>Two-stage TF-IDF</a:t>
                      </a:r>
                    </a:p>
                  </a:txBody>
                  <a:tcPr marL="114300" marR="114300" marT="47625" marB="47625" anchor="ctr">
                    <a:lnL w="6668">
                      <a:solidFill>
                        <a:srgbClr val="DCE3DA"/>
                      </a:solidFill>
                      <a:prstDash val="solid"/>
                    </a:lnL>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Binary presence prediction per category</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Present-only local sentiment classifier</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r>
            </a:tbl>
          </a:graphicData>
        </a:graphic>
      </p:graphicFrame>
    </p:spTree>
    <p:extLst>
      <p:ext uri="{BB962C8B-B14F-4D97-AF65-F5344CB8AC3E}">
        <p14:creationId xmlns:p14="http://schemas.microsoft.com/office/powerpoint/2010/main" val="1233267324"/>
      </p:ext>
    </p:extLst>
  </p:cSld>
</p:sld>
</file>

<file path=ppt/slides/slide22.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10" name="chapter">
            <a:extLst xmlns:a="http://schemas.openxmlformats.org/drawingml/2006/main">
              <a:ext uri="{FF2B5EF4-FFF2-40B4-BE49-F238E27FC236}">
                <a16:creationId xmlns:a16="http://schemas.microsoft.com/office/drawing/2014/main" id="{862DA205-7B4F-4733-AA2D-6D38F7EB77B8}"/>
              </a:ext>
            </a:extLst>
          </p:cNvPr>
          <p:cNvSpPr>
            <a:spLocks xmlns:a="http://schemas.openxmlformats.org/drawingml/2006/main" noGrp="1"/>
          </p:cNvSpPr>
          <p:nvPr/>
        </p:nvSpPr>
        <p:spPr>
          <a:xfrm xmlns:a="http://schemas.openxmlformats.org/drawingml/2006/main">
            <a:off x="685800" y="381000"/>
            <a:ext cx="933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39725C"/>
                </a:solidFill>
                <a:latin typeface="Arial"/>
                <a:ea typeface="Arial"/>
                <a:cs typeface="Arial"/>
              </a:defRPr>
            </a:defPPr>
          </a:lstStyle>
          <a:p xmlns:a="http://schemas.openxmlformats.org/drawingml/2006/main">
            <a:pPr algn="l">
              <a:defRPr sz="1200" b="1">
                <a:solidFill>
                  <a:srgbClr val="39725C"/>
                </a:solidFill>
                <a:latin typeface="Arial"/>
                <a:ea typeface="Arial"/>
                <a:cs typeface="Arial"/>
              </a:defRPr>
            </a:pPr>
            <a:r>
              <a:rPr sz="1200" b="1">
                <a:solidFill>
                  <a:srgbClr val="39725C"/>
                </a:solidFill>
                <a:latin typeface="Arial"/>
                <a:ea typeface="Arial"/>
                <a:cs typeface="Arial"/>
              </a:rPr>
              <a:t>THE MODELS</a:t>
            </a:r>
          </a:p>
        </p:txBody>
      </p:sp>
      <p:sp>
        <p:nvSpPr>
          <p:cNvPr id="2" name="primary-heading">
            <a:extLst xmlns:a="http://schemas.openxmlformats.org/drawingml/2006/main">
              <a:ext uri="{FF2B5EF4-FFF2-40B4-BE49-F238E27FC236}">
                <a16:creationId xmlns:a16="http://schemas.microsoft.com/office/drawing/2014/main" id="{115FA2B8-B98E-4F93-B9DE-F7B0B99DAC42}"/>
              </a:ext>
            </a:extLst>
          </p:cNvPr>
          <p:cNvSpPr>
            <a:spLocks xmlns:a="http://schemas.openxmlformats.org/drawingml/2006/main" noGrp="1"/>
          </p:cNvSpPr>
          <p:nvPr/>
        </p:nvSpPr>
        <p:spPr>
          <a:xfrm xmlns:a="http://schemas.openxmlformats.org/drawingml/2006/main">
            <a:off x="685800" y="83820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6332E"/>
                </a:solidFill>
                <a:latin typeface="Arial"/>
                <a:ea typeface="Arial"/>
                <a:cs typeface="Arial"/>
              </a:defRPr>
            </a:defPPr>
          </a:lstStyle>
          <a:p xmlns:a="http://schemas.openxmlformats.org/drawingml/2006/main">
            <a:pPr algn="l">
              <a:defRPr sz="3300" b="1">
                <a:solidFill>
                  <a:srgbClr val="26332E"/>
                </a:solidFill>
                <a:latin typeface="Arial"/>
                <a:ea typeface="Arial"/>
                <a:cs typeface="Arial"/>
              </a:defRPr>
            </a:pPr>
            <a:r>
              <a:rPr sz="3300" b="1">
                <a:solidFill>
                  <a:srgbClr val="26332E"/>
                </a:solidFill>
                <a:latin typeface="Arial"/>
                <a:ea typeface="Arial"/>
                <a:cs typeface="Arial"/>
              </a:rPr>
              <a:t>Rules + VADER provides an interpretable baseline</a:t>
            </a:r>
          </a:p>
        </p:txBody>
      </p:sp>
      <p:sp>
        <p:nvSpPr>
          <p:cNvPr id="3" name="footer-label">
            <a:extLst xmlns:a="http://schemas.openxmlformats.org/drawingml/2006/main">
              <a:ext uri="{FF2B5EF4-FFF2-40B4-BE49-F238E27FC236}">
                <a16:creationId xmlns:a16="http://schemas.microsoft.com/office/drawing/2014/main" id="{35902E04-1504-49AF-BB06-1D2DD4BFC5FF}"/>
              </a:ext>
            </a:extLst>
          </p:cNvPr>
          <p:cNvSpPr>
            <a:spLocks xmlns:a="http://schemas.openxmlformats.org/drawingml/2006/main" noGrp="1"/>
          </p:cNvSpPr>
          <p:nvPr/>
        </p:nvSpPr>
        <p:spPr>
          <a:xfrm xmlns:a="http://schemas.openxmlformats.org/drawingml/2006/main">
            <a:off x="685800" y="6505575"/>
            <a:ext cx="952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0">
                <a:solidFill>
                  <a:srgbClr val="66736C"/>
                </a:solidFill>
                <a:latin typeface="Arial"/>
                <a:ea typeface="Arial"/>
                <a:cs typeface="Arial"/>
              </a:defRPr>
            </a:defPPr>
          </a:lstStyle>
          <a:p xmlns:a="http://schemas.openxmlformats.org/drawingml/2006/main">
            <a:pPr algn="l">
              <a:defRPr sz="900" b="0">
                <a:solidFill>
                  <a:srgbClr val="66736C"/>
                </a:solidFill>
                <a:latin typeface="Arial"/>
                <a:ea typeface="Arial"/>
                <a:cs typeface="Arial"/>
              </a:defRPr>
            </a:pPr>
            <a:r>
              <a:rPr sz="900" b="0">
                <a:solidFill>
                  <a:srgbClr val="66736C"/>
                </a:solidFill>
                <a:latin typeface="Arial"/>
                <a:ea typeface="Arial"/>
                <a:cs typeface="Arial"/>
              </a:rPr>
              <a:t>ASPECT  /  PROJECT REFERENCE  /  1.0.0</a:t>
            </a:r>
          </a:p>
        </p:txBody>
      </p:sp>
      <p:sp>
        <p:nvSpPr>
          <p:cNvPr id="4" name="page-number">
            <a:extLst xmlns:a="http://schemas.openxmlformats.org/drawingml/2006/main">
              <a:ext uri="{FF2B5EF4-FFF2-40B4-BE49-F238E27FC236}">
                <a16:creationId xmlns:a16="http://schemas.microsoft.com/office/drawing/2014/main" id="{3E7F1599-05EE-4C78-8920-9324519CCE74}"/>
              </a:ext>
            </a:extLst>
          </p:cNvPr>
          <p:cNvSpPr>
            <a:spLocks xmlns:a="http://schemas.openxmlformats.org/drawingml/2006/main" noGrp="1"/>
          </p:cNvSpPr>
          <p:nvPr/>
        </p:nvSpPr>
        <p:spPr>
          <a:xfrm xmlns:a="http://schemas.openxmlformats.org/drawingml/2006/main">
            <a:off x="10620375" y="6505575"/>
            <a:ext cx="8858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a:solidFill>
                  <a:srgbClr val="66736C"/>
                </a:solidFill>
                <a:latin typeface="Arial"/>
                <a:ea typeface="Arial"/>
                <a:cs typeface="Arial"/>
              </a:defRPr>
            </a:defPPr>
          </a:lstStyle>
          <a:p xmlns:a="http://schemas.openxmlformats.org/drawingml/2006/main">
            <a:pPr algn="r">
              <a:defRPr sz="900" b="0">
                <a:solidFill>
                  <a:srgbClr val="66736C"/>
                </a:solidFill>
                <a:latin typeface="Arial"/>
                <a:ea typeface="Arial"/>
                <a:cs typeface="Arial"/>
              </a:defRPr>
            </a:pPr>
            <a:r>
              <a:rPr sz="900" b="0">
                <a:solidFill>
                  <a:srgbClr val="66736C"/>
                </a:solidFill>
                <a:latin typeface="Arial"/>
                <a:ea typeface="Arial"/>
                <a:cs typeface="Arial"/>
              </a:rPr>
              <a:t>22 / 52</a:t>
            </a:r>
          </a:p>
        </p:txBody>
      </p:sp>
      <p:sp>
        <p:nvSpPr>
          <p:cNvPr id="5" name="context-note">
            <a:extLst xmlns:a="http://schemas.openxmlformats.org/drawingml/2006/main">
              <a:ext uri="{FF2B5EF4-FFF2-40B4-BE49-F238E27FC236}">
                <a16:creationId xmlns:a16="http://schemas.microsoft.com/office/drawing/2014/main" id="{116A753B-4416-438D-A06F-FABB4AD3F204}"/>
              </a:ext>
            </a:extLst>
          </p:cNvPr>
          <p:cNvSpPr>
            <a:spLocks xmlns:a="http://schemas.openxmlformats.org/drawingml/2006/main" noGrp="1"/>
          </p:cNvSpPr>
          <p:nvPr/>
        </p:nvSpPr>
        <p:spPr>
          <a:xfrm xmlns:a="http://schemas.openxmlformats.org/drawingml/2006/main">
            <a:off x="685800" y="5924550"/>
            <a:ext cx="108204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39725C"/>
                </a:solidFill>
                <a:latin typeface="Arial"/>
                <a:ea typeface="Arial"/>
                <a:cs typeface="Arial"/>
              </a:defRPr>
            </a:defPPr>
          </a:lstStyle>
          <a:p xmlns:a="http://schemas.openxmlformats.org/drawingml/2006/main">
            <a:pPr algn="l">
              <a:defRPr sz="1725" b="0">
                <a:solidFill>
                  <a:srgbClr val="39725C"/>
                </a:solidFill>
                <a:latin typeface="Arial"/>
                <a:ea typeface="Arial"/>
                <a:cs typeface="Arial"/>
              </a:defRPr>
            </a:pPr>
            <a:r>
              <a:rPr sz="1725" b="0">
                <a:solidFill>
                  <a:srgbClr val="39725C"/>
                </a:solidFill>
                <a:latin typeface="Arial"/>
                <a:ea typeface="Arial"/>
                <a:cs typeface="Arial"/>
              </a:rPr>
              <a:t>After domain rules: VADER ≥ +0.05 is positive, ≤ −0.05 is negative, otherwise neutral.</a:t>
            </a:r>
          </a:p>
        </p:txBody>
      </p:sp>
      <p:sp>
        <p:nvSpPr>
          <p:cNvPr id="6" name="column-label-0">
            <a:extLst xmlns:a="http://schemas.openxmlformats.org/drawingml/2006/main">
              <a:ext uri="{FF2B5EF4-FFF2-40B4-BE49-F238E27FC236}">
                <a16:creationId xmlns:a16="http://schemas.microsoft.com/office/drawing/2014/main" id="{D63B80A4-D61E-4A24-A8CE-42053D1D17E3}"/>
              </a:ext>
            </a:extLst>
          </p:cNvPr>
          <p:cNvSpPr>
            <a:spLocks xmlns:a="http://schemas.openxmlformats.org/drawingml/2006/main" noGrp="1"/>
          </p:cNvSpPr>
          <p:nvPr/>
        </p:nvSpPr>
        <p:spPr>
          <a:xfrm xmlns:a="http://schemas.openxmlformats.org/drawingml/2006/main">
            <a:off x="685800" y="1905000"/>
            <a:ext cx="52006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39725C"/>
                </a:solidFill>
                <a:latin typeface="Arial"/>
                <a:ea typeface="Arial"/>
                <a:cs typeface="Arial"/>
              </a:defRPr>
            </a:defPPr>
          </a:lstStyle>
          <a:p xmlns:a="http://schemas.openxmlformats.org/drawingml/2006/main">
            <a:pPr algn="l">
              <a:defRPr sz="2175" b="1">
                <a:solidFill>
                  <a:srgbClr val="39725C"/>
                </a:solidFill>
                <a:latin typeface="Arial"/>
                <a:ea typeface="Arial"/>
                <a:cs typeface="Arial"/>
              </a:defRPr>
            </a:pPr>
            <a:r>
              <a:rPr sz="2175" b="1">
                <a:solidFill>
                  <a:srgbClr val="39725C"/>
                </a:solidFill>
                <a:latin typeface="Arial"/>
                <a:ea typeface="Arial"/>
                <a:cs typeface="Arial"/>
              </a:rPr>
              <a:t>Candidate detection</a:t>
            </a:r>
          </a:p>
        </p:txBody>
      </p:sp>
      <p:sp>
        <p:nvSpPr>
          <p:cNvPr id="7" name="column-copy-0">
            <a:extLst xmlns:a="http://schemas.openxmlformats.org/drawingml/2006/main">
              <a:ext uri="{FF2B5EF4-FFF2-40B4-BE49-F238E27FC236}">
                <a16:creationId xmlns:a16="http://schemas.microsoft.com/office/drawing/2014/main" id="{6F7B743A-880A-4981-83FC-8E5F6C41A0CF}"/>
              </a:ext>
            </a:extLst>
          </p:cNvPr>
          <p:cNvSpPr>
            <a:spLocks xmlns:a="http://schemas.openxmlformats.org/drawingml/2006/main" noGrp="1"/>
          </p:cNvSpPr>
          <p:nvPr/>
        </p:nvSpPr>
        <p:spPr>
          <a:xfrm xmlns:a="http://schemas.openxmlformats.org/drawingml/2006/main">
            <a:off x="685800" y="2552700"/>
            <a:ext cx="520065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26332E"/>
                </a:solidFill>
                <a:latin typeface="Arial"/>
                <a:ea typeface="Arial"/>
                <a:cs typeface="Arial"/>
              </a:defRPr>
            </a:defPPr>
          </a:lstStyle>
          <a:p xmlns:a="http://schemas.openxmlformats.org/drawingml/2006/main">
            <a:pPr algn="l">
              <a:defRPr sz="2175" b="0">
                <a:solidFill>
                  <a:srgbClr val="26332E"/>
                </a:solidFill>
                <a:latin typeface="Arial"/>
                <a:ea typeface="Arial"/>
                <a:cs typeface="Arial"/>
              </a:defRPr>
            </a:pPr>
            <a:r>
              <a:rPr sz="2175" b="0">
                <a:solidFill>
                  <a:srgbClr val="26332E"/>
                </a:solidFill>
                <a:latin typeface="Arial"/>
                <a:ea typeface="Arial"/>
                <a:cs typeface="Arial"/>
              </a:rPr>
              <a:t>Regular expressions find feature terms. Contrast clauses help keep opinions near the relevant category.</a:t>
            </a:r>
          </a:p>
        </p:txBody>
      </p:sp>
      <p:sp>
        <p:nvSpPr>
          <p:cNvPr id="8" name="column-label-1">
            <a:extLst xmlns:a="http://schemas.openxmlformats.org/drawingml/2006/main">
              <a:ext uri="{FF2B5EF4-FFF2-40B4-BE49-F238E27FC236}">
                <a16:creationId xmlns:a16="http://schemas.microsoft.com/office/drawing/2014/main" id="{23F5CBEA-A42A-4B44-A5B0-BEB82224DC88}"/>
              </a:ext>
            </a:extLst>
          </p:cNvPr>
          <p:cNvSpPr>
            <a:spLocks xmlns:a="http://schemas.openxmlformats.org/drawingml/2006/main" noGrp="1"/>
          </p:cNvSpPr>
          <p:nvPr/>
        </p:nvSpPr>
        <p:spPr>
          <a:xfrm xmlns:a="http://schemas.openxmlformats.org/drawingml/2006/main">
            <a:off x="6305550" y="1905000"/>
            <a:ext cx="52006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39725C"/>
                </a:solidFill>
                <a:latin typeface="Arial"/>
                <a:ea typeface="Arial"/>
                <a:cs typeface="Arial"/>
              </a:defRPr>
            </a:defPPr>
          </a:lstStyle>
          <a:p xmlns:a="http://schemas.openxmlformats.org/drawingml/2006/main">
            <a:pPr algn="l">
              <a:defRPr sz="2175" b="1">
                <a:solidFill>
                  <a:srgbClr val="39725C"/>
                </a:solidFill>
                <a:latin typeface="Arial"/>
                <a:ea typeface="Arial"/>
                <a:cs typeface="Arial"/>
              </a:defRPr>
            </a:pPr>
            <a:r>
              <a:rPr sz="2175" b="1">
                <a:solidFill>
                  <a:srgbClr val="39725C"/>
                </a:solidFill>
                <a:latin typeface="Arial"/>
                <a:ea typeface="Arial"/>
                <a:cs typeface="Arial"/>
              </a:rPr>
              <a:t>Sentiment decision</a:t>
            </a:r>
          </a:p>
        </p:txBody>
      </p:sp>
      <p:sp>
        <p:nvSpPr>
          <p:cNvPr id="9" name="column-copy-1">
            <a:extLst xmlns:a="http://schemas.openxmlformats.org/drawingml/2006/main">
              <a:ext uri="{FF2B5EF4-FFF2-40B4-BE49-F238E27FC236}">
                <a16:creationId xmlns:a16="http://schemas.microsoft.com/office/drawing/2014/main" id="{F9D82076-DA3B-46DF-9F1B-9863B324BD5C}"/>
              </a:ext>
            </a:extLst>
          </p:cNvPr>
          <p:cNvSpPr>
            <a:spLocks xmlns:a="http://schemas.openxmlformats.org/drawingml/2006/main" noGrp="1"/>
          </p:cNvSpPr>
          <p:nvPr/>
        </p:nvSpPr>
        <p:spPr>
          <a:xfrm xmlns:a="http://schemas.openxmlformats.org/drawingml/2006/main">
            <a:off x="6305550" y="2552700"/>
            <a:ext cx="520065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26332E"/>
                </a:solidFill>
                <a:latin typeface="Arial"/>
                <a:ea typeface="Arial"/>
                <a:cs typeface="Arial"/>
              </a:defRPr>
            </a:defPPr>
          </a:lstStyle>
          <a:p xmlns:a="http://schemas.openxmlformats.org/drawingml/2006/main">
            <a:pPr algn="l">
              <a:defRPr sz="2175" b="0">
                <a:solidFill>
                  <a:srgbClr val="26332E"/>
                </a:solidFill>
                <a:latin typeface="Arial"/>
                <a:ea typeface="Arial"/>
                <a:cs typeface="Arial"/>
              </a:defRPr>
            </a:pPr>
            <a:r>
              <a:rPr sz="2175" b="0">
                <a:solidFill>
                  <a:srgbClr val="26332E"/>
                </a:solidFill>
                <a:latin typeface="Arial"/>
                <a:ea typeface="Arial"/>
                <a:cs typeface="Arial"/>
              </a:rPr>
              <a:t>VADER supplies a compound score. Category rules recognise phrases such as battery drain, blurry photos and dropped connections.</a:t>
            </a:r>
          </a:p>
        </p:txBody>
      </p:sp>
    </p:spTree>
    <p:extLst>
      <p:ext uri="{BB962C8B-B14F-4D97-AF65-F5344CB8AC3E}">
        <p14:creationId xmlns:p14="http://schemas.microsoft.com/office/powerpoint/2010/main" val="2108426719"/>
      </p:ext>
    </p:extLst>
  </p:cSld>
</p:sld>
</file>

<file path=ppt/slides/slide23.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10" name="chapter">
            <a:extLst xmlns:a="http://schemas.openxmlformats.org/drawingml/2006/main">
              <a:ext uri="{FF2B5EF4-FFF2-40B4-BE49-F238E27FC236}">
                <a16:creationId xmlns:a16="http://schemas.microsoft.com/office/drawing/2014/main" id="{B8219531-1548-4344-8621-F06F9C3CB340}"/>
              </a:ext>
            </a:extLst>
          </p:cNvPr>
          <p:cNvSpPr>
            <a:spLocks xmlns:a="http://schemas.openxmlformats.org/drawingml/2006/main" noGrp="1"/>
          </p:cNvSpPr>
          <p:nvPr/>
        </p:nvSpPr>
        <p:spPr>
          <a:xfrm xmlns:a="http://schemas.openxmlformats.org/drawingml/2006/main">
            <a:off x="685800" y="381000"/>
            <a:ext cx="933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39725C"/>
                </a:solidFill>
                <a:latin typeface="Arial"/>
                <a:ea typeface="Arial"/>
                <a:cs typeface="Arial"/>
              </a:defRPr>
            </a:defPPr>
          </a:lstStyle>
          <a:p xmlns:a="http://schemas.openxmlformats.org/drawingml/2006/main">
            <a:pPr algn="l">
              <a:defRPr sz="1200" b="1">
                <a:solidFill>
                  <a:srgbClr val="39725C"/>
                </a:solidFill>
                <a:latin typeface="Arial"/>
                <a:ea typeface="Arial"/>
                <a:cs typeface="Arial"/>
              </a:defRPr>
            </a:pPr>
            <a:r>
              <a:rPr sz="1200" b="1">
                <a:solidFill>
                  <a:srgbClr val="39725C"/>
                </a:solidFill>
                <a:latin typeface="Arial"/>
                <a:ea typeface="Arial"/>
                <a:cs typeface="Arial"/>
              </a:rPr>
              <a:t>THE MODELS</a:t>
            </a:r>
          </a:p>
        </p:txBody>
      </p:sp>
      <p:sp>
        <p:nvSpPr>
          <p:cNvPr id="2" name="primary-heading">
            <a:extLst xmlns:a="http://schemas.openxmlformats.org/drawingml/2006/main">
              <a:ext uri="{FF2B5EF4-FFF2-40B4-BE49-F238E27FC236}">
                <a16:creationId xmlns:a16="http://schemas.microsoft.com/office/drawing/2014/main" id="{5F539B4A-14B1-40C4-92E0-4F00A8D6CB86}"/>
              </a:ext>
            </a:extLst>
          </p:cNvPr>
          <p:cNvSpPr>
            <a:spLocks xmlns:a="http://schemas.openxmlformats.org/drawingml/2006/main" noGrp="1"/>
          </p:cNvSpPr>
          <p:nvPr/>
        </p:nvSpPr>
        <p:spPr>
          <a:xfrm xmlns:a="http://schemas.openxmlformats.org/drawingml/2006/main">
            <a:off x="685800" y="83820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6332E"/>
                </a:solidFill>
                <a:latin typeface="Arial"/>
                <a:ea typeface="Arial"/>
                <a:cs typeface="Arial"/>
              </a:defRPr>
            </a:defPPr>
          </a:lstStyle>
          <a:p xmlns:a="http://schemas.openxmlformats.org/drawingml/2006/main">
            <a:pPr algn="l">
              <a:defRPr sz="3300" b="1">
                <a:solidFill>
                  <a:srgbClr val="26332E"/>
                </a:solidFill>
                <a:latin typeface="Arial"/>
                <a:ea typeface="Arial"/>
                <a:cs typeface="Arial"/>
              </a:defRPr>
            </a:pPr>
            <a:r>
              <a:rPr sz="3300" b="1">
                <a:solidFill>
                  <a:srgbClr val="26332E"/>
                </a:solidFill>
                <a:latin typeface="Arial"/>
                <a:ea typeface="Arial"/>
                <a:cs typeface="Arial"/>
              </a:rPr>
              <a:t>Transferred sentiment with DeBERTa</a:t>
            </a:r>
          </a:p>
        </p:txBody>
      </p:sp>
      <p:sp>
        <p:nvSpPr>
          <p:cNvPr id="3" name="footer-label">
            <a:extLst xmlns:a="http://schemas.openxmlformats.org/drawingml/2006/main">
              <a:ext uri="{FF2B5EF4-FFF2-40B4-BE49-F238E27FC236}">
                <a16:creationId xmlns:a16="http://schemas.microsoft.com/office/drawing/2014/main" id="{C154BDF3-CAFF-40A6-8366-C5E1AEB9E140}"/>
              </a:ext>
            </a:extLst>
          </p:cNvPr>
          <p:cNvSpPr>
            <a:spLocks xmlns:a="http://schemas.openxmlformats.org/drawingml/2006/main" noGrp="1"/>
          </p:cNvSpPr>
          <p:nvPr/>
        </p:nvSpPr>
        <p:spPr>
          <a:xfrm xmlns:a="http://schemas.openxmlformats.org/drawingml/2006/main">
            <a:off x="685800" y="6505575"/>
            <a:ext cx="952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0">
                <a:solidFill>
                  <a:srgbClr val="66736C"/>
                </a:solidFill>
                <a:latin typeface="Arial"/>
                <a:ea typeface="Arial"/>
                <a:cs typeface="Arial"/>
              </a:defRPr>
            </a:defPPr>
          </a:lstStyle>
          <a:p xmlns:a="http://schemas.openxmlformats.org/drawingml/2006/main">
            <a:pPr algn="l">
              <a:defRPr sz="900" b="0">
                <a:solidFill>
                  <a:srgbClr val="66736C"/>
                </a:solidFill>
                <a:latin typeface="Arial"/>
                <a:ea typeface="Arial"/>
                <a:cs typeface="Arial"/>
              </a:defRPr>
            </a:pPr>
            <a:r>
              <a:rPr sz="900" b="0">
                <a:solidFill>
                  <a:srgbClr val="66736C"/>
                </a:solidFill>
                <a:latin typeface="Arial"/>
                <a:ea typeface="Arial"/>
                <a:cs typeface="Arial"/>
              </a:rPr>
              <a:t>ASPECT  /  PROJECT REFERENCE  /  1.0.0</a:t>
            </a:r>
          </a:p>
        </p:txBody>
      </p:sp>
      <p:sp>
        <p:nvSpPr>
          <p:cNvPr id="4" name="page-number">
            <a:extLst xmlns:a="http://schemas.openxmlformats.org/drawingml/2006/main">
              <a:ext uri="{FF2B5EF4-FFF2-40B4-BE49-F238E27FC236}">
                <a16:creationId xmlns:a16="http://schemas.microsoft.com/office/drawing/2014/main" id="{8E3CC21C-2948-427A-B877-56C33F1C8389}"/>
              </a:ext>
            </a:extLst>
          </p:cNvPr>
          <p:cNvSpPr>
            <a:spLocks xmlns:a="http://schemas.openxmlformats.org/drawingml/2006/main" noGrp="1"/>
          </p:cNvSpPr>
          <p:nvPr/>
        </p:nvSpPr>
        <p:spPr>
          <a:xfrm xmlns:a="http://schemas.openxmlformats.org/drawingml/2006/main">
            <a:off x="10620375" y="6505575"/>
            <a:ext cx="8858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a:solidFill>
                  <a:srgbClr val="66736C"/>
                </a:solidFill>
                <a:latin typeface="Arial"/>
                <a:ea typeface="Arial"/>
                <a:cs typeface="Arial"/>
              </a:defRPr>
            </a:defPPr>
          </a:lstStyle>
          <a:p xmlns:a="http://schemas.openxmlformats.org/drawingml/2006/main">
            <a:pPr algn="r">
              <a:defRPr sz="900" b="0">
                <a:solidFill>
                  <a:srgbClr val="66736C"/>
                </a:solidFill>
                <a:latin typeface="Arial"/>
                <a:ea typeface="Arial"/>
                <a:cs typeface="Arial"/>
              </a:defRPr>
            </a:pPr>
            <a:r>
              <a:rPr sz="900" b="0">
                <a:solidFill>
                  <a:srgbClr val="66736C"/>
                </a:solidFill>
                <a:latin typeface="Arial"/>
                <a:ea typeface="Arial"/>
                <a:cs typeface="Arial"/>
              </a:rPr>
              <a:t>23 / 52</a:t>
            </a:r>
          </a:p>
        </p:txBody>
      </p:sp>
      <p:sp>
        <p:nvSpPr>
          <p:cNvPr id="5" name="context-note">
            <a:extLst xmlns:a="http://schemas.openxmlformats.org/drawingml/2006/main">
              <a:ext uri="{FF2B5EF4-FFF2-40B4-BE49-F238E27FC236}">
                <a16:creationId xmlns:a16="http://schemas.microsoft.com/office/drawing/2014/main" id="{5520EB8E-E342-4277-997C-92E93187392E}"/>
              </a:ext>
            </a:extLst>
          </p:cNvPr>
          <p:cNvSpPr>
            <a:spLocks xmlns:a="http://schemas.openxmlformats.org/drawingml/2006/main" noGrp="1"/>
          </p:cNvSpPr>
          <p:nvPr/>
        </p:nvSpPr>
        <p:spPr>
          <a:xfrm xmlns:a="http://schemas.openxmlformats.org/drawingml/2006/main">
            <a:off x="685800" y="5924550"/>
            <a:ext cx="108204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39725C"/>
                </a:solidFill>
                <a:latin typeface="Arial"/>
                <a:ea typeface="Arial"/>
                <a:cs typeface="Arial"/>
              </a:defRPr>
            </a:defPPr>
          </a:lstStyle>
          <a:p xmlns:a="http://schemas.openxmlformats.org/drawingml/2006/main">
            <a:pPr algn="l">
              <a:defRPr sz="1725" b="0">
                <a:solidFill>
                  <a:srgbClr val="39725C"/>
                </a:solidFill>
                <a:latin typeface="Arial"/>
                <a:ea typeface="Arial"/>
                <a:cs typeface="Arial"/>
              </a:defRPr>
            </a:pPr>
            <a:r>
              <a:rPr sz="1725" b="0">
                <a:solidFill>
                  <a:srgbClr val="39725C"/>
                </a:solidFill>
                <a:latin typeface="Arial"/>
                <a:ea typeface="Arial"/>
                <a:cs typeface="Arial"/>
              </a:rPr>
              <a:t>The project reuses these learned weights. It has not fine-tuned the transformer on this smartphone corpus.</a:t>
            </a:r>
          </a:p>
        </p:txBody>
      </p:sp>
      <p:sp>
        <p:nvSpPr>
          <p:cNvPr id="6" name="column-label-0">
            <a:extLst xmlns:a="http://schemas.openxmlformats.org/drawingml/2006/main">
              <a:ext uri="{FF2B5EF4-FFF2-40B4-BE49-F238E27FC236}">
                <a16:creationId xmlns:a16="http://schemas.microsoft.com/office/drawing/2014/main" id="{2E6D44B2-47EE-4D54-AC65-4B5067F9EA8A}"/>
              </a:ext>
            </a:extLst>
          </p:cNvPr>
          <p:cNvSpPr>
            <a:spLocks xmlns:a="http://schemas.openxmlformats.org/drawingml/2006/main" noGrp="1"/>
          </p:cNvSpPr>
          <p:nvPr/>
        </p:nvSpPr>
        <p:spPr>
          <a:xfrm xmlns:a="http://schemas.openxmlformats.org/drawingml/2006/main">
            <a:off x="685800" y="1905000"/>
            <a:ext cx="52006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39725C"/>
                </a:solidFill>
                <a:latin typeface="Arial"/>
                <a:ea typeface="Arial"/>
                <a:cs typeface="Arial"/>
              </a:defRPr>
            </a:defPPr>
          </a:lstStyle>
          <a:p xmlns:a="http://schemas.openxmlformats.org/drawingml/2006/main">
            <a:pPr algn="l">
              <a:defRPr sz="2175" b="1">
                <a:solidFill>
                  <a:srgbClr val="39725C"/>
                </a:solidFill>
                <a:latin typeface="Arial"/>
                <a:ea typeface="Arial"/>
                <a:cs typeface="Arial"/>
              </a:defRPr>
            </a:pPr>
            <a:r>
              <a:rPr sz="2175" b="1">
                <a:solidFill>
                  <a:srgbClr val="39725C"/>
                </a:solidFill>
                <a:latin typeface="Arial"/>
                <a:ea typeface="Arial"/>
                <a:cs typeface="Arial"/>
              </a:rPr>
              <a:t>Checkpoint</a:t>
            </a:r>
          </a:p>
        </p:txBody>
      </p:sp>
      <p:sp>
        <p:nvSpPr>
          <p:cNvPr id="7" name="column-copy-0">
            <a:extLst xmlns:a="http://schemas.openxmlformats.org/drawingml/2006/main">
              <a:ext uri="{FF2B5EF4-FFF2-40B4-BE49-F238E27FC236}">
                <a16:creationId xmlns:a16="http://schemas.microsoft.com/office/drawing/2014/main" id="{BF08904F-DCE1-411C-935A-65FA3FD91810}"/>
              </a:ext>
            </a:extLst>
          </p:cNvPr>
          <p:cNvSpPr>
            <a:spLocks xmlns:a="http://schemas.openxmlformats.org/drawingml/2006/main" noGrp="1"/>
          </p:cNvSpPr>
          <p:nvPr/>
        </p:nvSpPr>
        <p:spPr>
          <a:xfrm xmlns:a="http://schemas.openxmlformats.org/drawingml/2006/main">
            <a:off x="685800" y="2552700"/>
            <a:ext cx="520065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26332E"/>
                </a:solidFill>
                <a:latin typeface="Arial"/>
                <a:ea typeface="Arial"/>
                <a:cs typeface="Arial"/>
              </a:defRPr>
            </a:defPPr>
          </a:lstStyle>
          <a:p xmlns:a="http://schemas.openxmlformats.org/drawingml/2006/main">
            <a:pPr algn="l">
              <a:defRPr sz="2175" b="0">
                <a:solidFill>
                  <a:srgbClr val="26332E"/>
                </a:solidFill>
                <a:latin typeface="Arial"/>
                <a:ea typeface="Arial"/>
                <a:cs typeface="Arial"/>
              </a:defRPr>
            </a:pPr>
            <a:r>
              <a:rPr sz="2175" b="0">
                <a:solidFill>
                  <a:srgbClr val="26332E"/>
                </a:solidFill>
                <a:latin typeface="Arial"/>
                <a:ea typeface="Arial"/>
                <a:cs typeface="Arial"/>
              </a:rPr>
              <a:t>yangheng/deberta-v3-base-absa-v1.1, pinned to revision 10c9dff3. Published metadata declares MIT licensing.</a:t>
            </a:r>
          </a:p>
        </p:txBody>
      </p:sp>
      <p:sp>
        <p:nvSpPr>
          <p:cNvPr id="8" name="column-label-1">
            <a:extLst xmlns:a="http://schemas.openxmlformats.org/drawingml/2006/main">
              <a:ext uri="{FF2B5EF4-FFF2-40B4-BE49-F238E27FC236}">
                <a16:creationId xmlns:a16="http://schemas.microsoft.com/office/drawing/2014/main" id="{D2B23AF6-190F-4B32-80D2-C88785035CB0}"/>
              </a:ext>
            </a:extLst>
          </p:cNvPr>
          <p:cNvSpPr>
            <a:spLocks xmlns:a="http://schemas.openxmlformats.org/drawingml/2006/main" noGrp="1"/>
          </p:cNvSpPr>
          <p:nvPr/>
        </p:nvSpPr>
        <p:spPr>
          <a:xfrm xmlns:a="http://schemas.openxmlformats.org/drawingml/2006/main">
            <a:off x="6305550" y="1905000"/>
            <a:ext cx="52006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39725C"/>
                </a:solidFill>
                <a:latin typeface="Arial"/>
                <a:ea typeface="Arial"/>
                <a:cs typeface="Arial"/>
              </a:defRPr>
            </a:defPPr>
          </a:lstStyle>
          <a:p xmlns:a="http://schemas.openxmlformats.org/drawingml/2006/main">
            <a:pPr algn="l">
              <a:defRPr sz="2175" b="1">
                <a:solidFill>
                  <a:srgbClr val="39725C"/>
                </a:solidFill>
                <a:latin typeface="Arial"/>
                <a:ea typeface="Arial"/>
                <a:cs typeface="Arial"/>
              </a:defRPr>
            </a:pPr>
            <a:r>
              <a:rPr sz="2175" b="1">
                <a:solidFill>
                  <a:srgbClr val="39725C"/>
                </a:solidFill>
                <a:latin typeface="Arial"/>
                <a:ea typeface="Arial"/>
                <a:cs typeface="Arial"/>
              </a:rPr>
              <a:t>Application use</a:t>
            </a:r>
          </a:p>
        </p:txBody>
      </p:sp>
      <p:sp>
        <p:nvSpPr>
          <p:cNvPr id="9" name="column-copy-1">
            <a:extLst xmlns:a="http://schemas.openxmlformats.org/drawingml/2006/main">
              <a:ext uri="{FF2B5EF4-FFF2-40B4-BE49-F238E27FC236}">
                <a16:creationId xmlns:a16="http://schemas.microsoft.com/office/drawing/2014/main" id="{AED836C7-6BB0-4B95-A8DB-68EECA3183B4}"/>
              </a:ext>
            </a:extLst>
          </p:cNvPr>
          <p:cNvSpPr>
            <a:spLocks xmlns:a="http://schemas.openxmlformats.org/drawingml/2006/main" noGrp="1"/>
          </p:cNvSpPr>
          <p:nvPr/>
        </p:nvSpPr>
        <p:spPr>
          <a:xfrm xmlns:a="http://schemas.openxmlformats.org/drawingml/2006/main">
            <a:off x="6305550" y="2552700"/>
            <a:ext cx="520065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26332E"/>
                </a:solidFill>
                <a:latin typeface="Arial"/>
                <a:ea typeface="Arial"/>
                <a:cs typeface="Arial"/>
              </a:defRPr>
            </a:defPPr>
          </a:lstStyle>
          <a:p xmlns:a="http://schemas.openxmlformats.org/drawingml/2006/main">
            <a:pPr algn="l">
              <a:defRPr sz="2175" b="0">
                <a:solidFill>
                  <a:srgbClr val="26332E"/>
                </a:solidFill>
                <a:latin typeface="Arial"/>
                <a:ea typeface="Arial"/>
                <a:cs typeface="Arial"/>
              </a:defRPr>
            </a:pPr>
            <a:r>
              <a:rPr sz="2175" b="0">
                <a:solidFill>
                  <a:srgbClr val="26332E"/>
                </a:solidFill>
                <a:latin typeface="Arial"/>
                <a:ea typeface="Arial"/>
                <a:cs typeface="Arial"/>
              </a:rPr>
              <a:t>The tokenizer receives a sentence or clause paired with an aspect target. The classifier predicts negative, neutral or positive.</a:t>
            </a:r>
          </a:p>
        </p:txBody>
      </p:sp>
    </p:spTree>
    <p:extLst>
      <p:ext uri="{BB962C8B-B14F-4D97-AF65-F5344CB8AC3E}">
        <p14:creationId xmlns:p14="http://schemas.microsoft.com/office/powerpoint/2010/main" val="1779217083"/>
      </p:ext>
    </p:extLst>
  </p:cSld>
</p:sld>
</file>

<file path=ppt/slides/slide24.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7" name="chapter">
            <a:extLst xmlns:a="http://schemas.openxmlformats.org/drawingml/2006/main">
              <a:ext uri="{FF2B5EF4-FFF2-40B4-BE49-F238E27FC236}">
                <a16:creationId xmlns:a16="http://schemas.microsoft.com/office/drawing/2014/main" id="{5F4665E4-6C7F-4BD4-8653-20A0FF556F30}"/>
              </a:ext>
            </a:extLst>
          </p:cNvPr>
          <p:cNvSpPr>
            <a:spLocks xmlns:a="http://schemas.openxmlformats.org/drawingml/2006/main" noGrp="1"/>
          </p:cNvSpPr>
          <p:nvPr/>
        </p:nvSpPr>
        <p:spPr>
          <a:xfrm xmlns:a="http://schemas.openxmlformats.org/drawingml/2006/main">
            <a:off x="685800" y="381000"/>
            <a:ext cx="933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39725C"/>
                </a:solidFill>
                <a:latin typeface="Arial"/>
                <a:ea typeface="Arial"/>
                <a:cs typeface="Arial"/>
              </a:defRPr>
            </a:defPPr>
          </a:lstStyle>
          <a:p xmlns:a="http://schemas.openxmlformats.org/drawingml/2006/main">
            <a:pPr algn="l">
              <a:defRPr sz="1200" b="1">
                <a:solidFill>
                  <a:srgbClr val="39725C"/>
                </a:solidFill>
                <a:latin typeface="Arial"/>
                <a:ea typeface="Arial"/>
                <a:cs typeface="Arial"/>
              </a:defRPr>
            </a:pPr>
            <a:r>
              <a:rPr sz="1200" b="1">
                <a:solidFill>
                  <a:srgbClr val="39725C"/>
                </a:solidFill>
                <a:latin typeface="Arial"/>
                <a:ea typeface="Arial"/>
                <a:cs typeface="Arial"/>
              </a:rPr>
              <a:t>THE MODELS</a:t>
            </a:r>
          </a:p>
        </p:txBody>
      </p:sp>
      <p:sp>
        <p:nvSpPr>
          <p:cNvPr id="2" name="primary-heading">
            <a:extLst xmlns:a="http://schemas.openxmlformats.org/drawingml/2006/main">
              <a:ext uri="{FF2B5EF4-FFF2-40B4-BE49-F238E27FC236}">
                <a16:creationId xmlns:a16="http://schemas.microsoft.com/office/drawing/2014/main" id="{008D1F69-54DB-4C7B-99A1-D6E44844BE92}"/>
              </a:ext>
            </a:extLst>
          </p:cNvPr>
          <p:cNvSpPr>
            <a:spLocks xmlns:a="http://schemas.openxmlformats.org/drawingml/2006/main" noGrp="1"/>
          </p:cNvSpPr>
          <p:nvPr/>
        </p:nvSpPr>
        <p:spPr>
          <a:xfrm xmlns:a="http://schemas.openxmlformats.org/drawingml/2006/main">
            <a:off x="685800" y="83820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6332E"/>
                </a:solidFill>
                <a:latin typeface="Arial"/>
                <a:ea typeface="Arial"/>
                <a:cs typeface="Arial"/>
              </a:defRPr>
            </a:defPPr>
          </a:lstStyle>
          <a:p xmlns:a="http://schemas.openxmlformats.org/drawingml/2006/main">
            <a:pPr algn="l">
              <a:defRPr sz="3300" b="1">
                <a:solidFill>
                  <a:srgbClr val="26332E"/>
                </a:solidFill>
                <a:latin typeface="Arial"/>
                <a:ea typeface="Arial"/>
                <a:cs typeface="Arial"/>
              </a:defRPr>
            </a:pPr>
            <a:r>
              <a:rPr sz="3300" b="1">
                <a:solidFill>
                  <a:srgbClr val="26332E"/>
                </a:solidFill>
                <a:latin typeface="Arial"/>
                <a:ea typeface="Arial"/>
                <a:cs typeface="Arial"/>
              </a:rPr>
              <a:t>Neural inference includes gating and aggregation</a:t>
            </a:r>
          </a:p>
        </p:txBody>
      </p:sp>
      <p:sp>
        <p:nvSpPr>
          <p:cNvPr id="3" name="footer-label">
            <a:extLst xmlns:a="http://schemas.openxmlformats.org/drawingml/2006/main">
              <a:ext uri="{FF2B5EF4-FFF2-40B4-BE49-F238E27FC236}">
                <a16:creationId xmlns:a16="http://schemas.microsoft.com/office/drawing/2014/main" id="{595A1958-A406-48E3-AA92-1B147CECA7DA}"/>
              </a:ext>
            </a:extLst>
          </p:cNvPr>
          <p:cNvSpPr>
            <a:spLocks xmlns:a="http://schemas.openxmlformats.org/drawingml/2006/main" noGrp="1"/>
          </p:cNvSpPr>
          <p:nvPr/>
        </p:nvSpPr>
        <p:spPr>
          <a:xfrm xmlns:a="http://schemas.openxmlformats.org/drawingml/2006/main">
            <a:off x="685800" y="6505575"/>
            <a:ext cx="952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0">
                <a:solidFill>
                  <a:srgbClr val="66736C"/>
                </a:solidFill>
                <a:latin typeface="Arial"/>
                <a:ea typeface="Arial"/>
                <a:cs typeface="Arial"/>
              </a:defRPr>
            </a:defPPr>
          </a:lstStyle>
          <a:p xmlns:a="http://schemas.openxmlformats.org/drawingml/2006/main">
            <a:pPr algn="l">
              <a:defRPr sz="900" b="0">
                <a:solidFill>
                  <a:srgbClr val="66736C"/>
                </a:solidFill>
                <a:latin typeface="Arial"/>
                <a:ea typeface="Arial"/>
                <a:cs typeface="Arial"/>
              </a:defRPr>
            </a:pPr>
            <a:r>
              <a:rPr sz="900" b="0">
                <a:solidFill>
                  <a:srgbClr val="66736C"/>
                </a:solidFill>
                <a:latin typeface="Arial"/>
                <a:ea typeface="Arial"/>
                <a:cs typeface="Arial"/>
              </a:rPr>
              <a:t>ASPECT  /  PROJECT REFERENCE  /  1.0.0</a:t>
            </a:r>
          </a:p>
        </p:txBody>
      </p:sp>
      <p:sp>
        <p:nvSpPr>
          <p:cNvPr id="4" name="page-number">
            <a:extLst xmlns:a="http://schemas.openxmlformats.org/drawingml/2006/main">
              <a:ext uri="{FF2B5EF4-FFF2-40B4-BE49-F238E27FC236}">
                <a16:creationId xmlns:a16="http://schemas.microsoft.com/office/drawing/2014/main" id="{5E9405EE-BCCE-41C8-9EA5-FE92221F08F8}"/>
              </a:ext>
            </a:extLst>
          </p:cNvPr>
          <p:cNvSpPr>
            <a:spLocks xmlns:a="http://schemas.openxmlformats.org/drawingml/2006/main" noGrp="1"/>
          </p:cNvSpPr>
          <p:nvPr/>
        </p:nvSpPr>
        <p:spPr>
          <a:xfrm xmlns:a="http://schemas.openxmlformats.org/drawingml/2006/main">
            <a:off x="10620375" y="6505575"/>
            <a:ext cx="8858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a:solidFill>
                  <a:srgbClr val="66736C"/>
                </a:solidFill>
                <a:latin typeface="Arial"/>
                <a:ea typeface="Arial"/>
                <a:cs typeface="Arial"/>
              </a:defRPr>
            </a:defPPr>
          </a:lstStyle>
          <a:p xmlns:a="http://schemas.openxmlformats.org/drawingml/2006/main">
            <a:pPr algn="r">
              <a:defRPr sz="900" b="0">
                <a:solidFill>
                  <a:srgbClr val="66736C"/>
                </a:solidFill>
                <a:latin typeface="Arial"/>
                <a:ea typeface="Arial"/>
                <a:cs typeface="Arial"/>
              </a:defRPr>
            </a:pPr>
            <a:r>
              <a:rPr sz="900" b="0">
                <a:solidFill>
                  <a:srgbClr val="66736C"/>
                </a:solidFill>
                <a:latin typeface="Arial"/>
                <a:ea typeface="Arial"/>
                <a:cs typeface="Arial"/>
              </a:rPr>
              <a:t>24 / 52</a:t>
            </a:r>
          </a:p>
        </p:txBody>
      </p:sp>
      <p:sp>
        <p:nvSpPr>
          <p:cNvPr id="5" name="context-note">
            <a:extLst xmlns:a="http://schemas.openxmlformats.org/drawingml/2006/main">
              <a:ext uri="{FF2B5EF4-FFF2-40B4-BE49-F238E27FC236}">
                <a16:creationId xmlns:a16="http://schemas.microsoft.com/office/drawing/2014/main" id="{569D1BAB-30AF-44F9-8883-A00730D6C8D7}"/>
              </a:ext>
            </a:extLst>
          </p:cNvPr>
          <p:cNvSpPr>
            <a:spLocks xmlns:a="http://schemas.openxmlformats.org/drawingml/2006/main" noGrp="1"/>
          </p:cNvSpPr>
          <p:nvPr/>
        </p:nvSpPr>
        <p:spPr>
          <a:xfrm xmlns:a="http://schemas.openxmlformats.org/drawingml/2006/main">
            <a:off x="685800" y="5924550"/>
            <a:ext cx="108204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39725C"/>
                </a:solidFill>
                <a:latin typeface="Arial"/>
                <a:ea typeface="Arial"/>
                <a:cs typeface="Arial"/>
              </a:defRPr>
            </a:defPPr>
          </a:lstStyle>
          <a:p xmlns:a="http://schemas.openxmlformats.org/drawingml/2006/main">
            <a:pPr algn="l">
              <a:defRPr sz="1725" b="0">
                <a:solidFill>
                  <a:srgbClr val="39725C"/>
                </a:solidFill>
                <a:latin typeface="Arial"/>
                <a:ea typeface="Arial"/>
                <a:cs typeface="Arial"/>
              </a:defRPr>
            </a:pPr>
            <a:r>
              <a:rPr sz="1725" b="0">
                <a:solidFill>
                  <a:srgbClr val="39725C"/>
                </a:solidFill>
                <a:latin typeface="Arial"/>
                <a:ea typeface="Arial"/>
                <a:cs typeface="Arial"/>
              </a:rPr>
              <a:t>Softmax scores and averaged evidence scores are uncalibrated model outputs.</a:t>
            </a:r>
          </a:p>
        </p:txBody>
      </p:sp>
      <p:graphicFrame>
        <p:nvGraphicFramePr>
          <p:cNvPr id="6" name="">
            <a:extLst xmlns:a="http://schemas.openxmlformats.org/drawingml/2006/main">
              <a:ext uri="{FF2B5EF4-FFF2-40B4-BE49-F238E27FC236}">
                <a16:creationId xmlns:a16="http://schemas.microsoft.com/office/drawing/2014/main" id="{DC6CC5E0-DD92-42D2-9D98-631FAE8C0998}"/>
              </a:ext>
            </a:extLst>
          </p:cNvPr>
          <p:cNvGraphicFramePr/>
          <p:nvPr/>
        </p:nvGraphicFramePr>
        <p:xfrm>
          <a:off xmlns:a="http://schemas.openxmlformats.org/drawingml/2006/main" x="685800" y="1714500"/>
          <a:ext xmlns:a="http://schemas.openxmlformats.org/drawingml/2006/main" cx="10820400" cy="4076700"/>
        </p:xfrm>
        <a:graphic xmlns:a="http://schemas.openxmlformats.org/drawingml/2006/main">
          <a:graphicData uri="http://schemas.openxmlformats.org/drawingml/2006/table">
            <a:tbl>
              <a:tblPr firstRow="1" firstCol="0" lastCol="0" bandRow="0"/>
              <a:tblGrid>
                <a:gridCol w="2667000"/>
                <a:gridCol w="8153400"/>
              </a:tblGrid>
              <a:tr h="419100">
                <a:tc>
                  <a:txBody>
                    <a:bodyPr wrap="square">
                      <a:noAutofit/>
                    </a:bodyPr>
                    <a:lstStyle/>
                    <a:p>
                      <a:r>
                        <a:rPr sz="1650" b="1">
                          <a:solidFill>
                            <a:srgbClr val="FFFFFF"/>
                          </a:solidFill>
                          <a:latin typeface="Arial"/>
                          <a:ea typeface="Arial"/>
                          <a:cs typeface="Arial"/>
                        </a:rPr>
                        <a:t>Operation</a:t>
                      </a:r>
                    </a:p>
                  </a:txBody>
                  <a:tcPr marL="114300" marR="114300" marT="47625" marB="47625" anchor="ctr">
                    <a:lnL w="6668">
                      <a:solidFill>
                        <a:srgbClr val="DCE3DA"/>
                      </a:solidFill>
                      <a:prstDash val="solid"/>
                    </a:lnL>
                    <a:lnR w="6668">
                      <a:solidFill>
                        <a:srgbClr val="DCE3DA"/>
                      </a:solidFill>
                      <a:prstDash val="solid"/>
                    </a:lnR>
                    <a:lnT w="6668">
                      <a:solidFill>
                        <a:srgbClr val="DCE3DA"/>
                      </a:solidFill>
                      <a:prstDash val="solid"/>
                    </a:lnT>
                    <a:lnB w="6668">
                      <a:solidFill>
                        <a:srgbClr val="DCE3DA"/>
                      </a:solidFill>
                      <a:prstDash val="solid"/>
                    </a:lnB>
                    <a:solidFill>
                      <a:srgbClr val="39725C"/>
                    </a:solidFill>
                  </a:tcPr>
                </a:tc>
                <a:tc>
                  <a:txBody>
                    <a:bodyPr wrap="square">
                      <a:noAutofit/>
                    </a:bodyPr>
                    <a:lstStyle/>
                    <a:p>
                      <a:r>
                        <a:rPr sz="1650" b="1">
                          <a:solidFill>
                            <a:srgbClr val="FFFFFF"/>
                          </a:solidFill>
                          <a:latin typeface="Arial"/>
                          <a:ea typeface="Arial"/>
                          <a:cs typeface="Arial"/>
                        </a:rPr>
                        <a:t>Implementation consequence</a:t>
                      </a:r>
                    </a:p>
                  </a:txBody>
                  <a:tcPr marL="114300" marR="114300" marT="47625" marB="47625" anchor="ctr">
                    <a:lnR w="6668">
                      <a:solidFill>
                        <a:srgbClr val="DCE3DA"/>
                      </a:solidFill>
                      <a:prstDash val="solid"/>
                    </a:lnR>
                    <a:lnT w="6668">
                      <a:solidFill>
                        <a:srgbClr val="DCE3DA"/>
                      </a:solidFill>
                      <a:prstDash val="solid"/>
                    </a:lnT>
                    <a:lnB w="6668">
                      <a:solidFill>
                        <a:srgbClr val="DCE3DA"/>
                      </a:solidFill>
                      <a:prstDash val="solid"/>
                    </a:lnB>
                    <a:solidFill>
                      <a:srgbClr val="39725C"/>
                    </a:solidFill>
                  </a:tcPr>
                </a:tc>
              </a:tr>
              <a:tr h="609600">
                <a:tc>
                  <a:txBody>
                    <a:bodyPr wrap="square">
                      <a:noAutofit/>
                    </a:bodyPr>
                    <a:lstStyle/>
                    <a:p>
                      <a:r>
                        <a:rPr sz="1725" b="1">
                          <a:solidFill>
                            <a:srgbClr val="26332E"/>
                          </a:solidFill>
                          <a:latin typeface="Arial"/>
                          <a:ea typeface="Arial"/>
                          <a:cs typeface="Arial"/>
                        </a:rPr>
                        <a:t>Create candidates</a:t>
                      </a:r>
                    </a:p>
                  </a:txBody>
                  <a:tcPr marL="114300" marR="114300" marT="47625" marB="47625" anchor="ctr">
                    <a:lnL w="6668">
                      <a:solidFill>
                        <a:srgbClr val="DCE3DA"/>
                      </a:solidFill>
                      <a:prstDash val="solid"/>
                    </a:lnL>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A detected category receives a local context and aspect target.</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r>
              <a:tr h="609600">
                <a:tc>
                  <a:txBody>
                    <a:bodyPr wrap="square">
                      <a:noAutofit/>
                    </a:bodyPr>
                    <a:lstStyle/>
                    <a:p>
                      <a:r>
                        <a:rPr sz="1725" b="1">
                          <a:solidFill>
                            <a:srgbClr val="26332E"/>
                          </a:solidFill>
                          <a:latin typeface="Arial"/>
                          <a:ea typeface="Arial"/>
                          <a:cs typeface="Arial"/>
                        </a:rPr>
                        <a:t>Tokenize pairs</a:t>
                      </a:r>
                    </a:p>
                  </a:txBody>
                  <a:tcPr marL="114300" marR="114300" marT="47625" marB="47625" anchor="ctr">
                    <a:lnL w="6668">
                      <a:solidFill>
                        <a:srgbClr val="DCE3DA"/>
                      </a:solidFill>
                      <a:prstDash val="solid"/>
                    </a:lnL>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The model sees context and target together. Oversized clauses fail explicitly.</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r>
              <a:tr h="609600">
                <a:tc>
                  <a:txBody>
                    <a:bodyPr wrap="square">
                      <a:noAutofit/>
                    </a:bodyPr>
                    <a:lstStyle/>
                    <a:p>
                      <a:r>
                        <a:rPr sz="1725" b="1">
                          <a:solidFill>
                            <a:srgbClr val="26332E"/>
                          </a:solidFill>
                          <a:latin typeface="Arial"/>
                          <a:ea typeface="Arial"/>
                          <a:cs typeface="Arial"/>
                        </a:rPr>
                        <a:t>Classify</a:t>
                      </a:r>
                    </a:p>
                  </a:txBody>
                  <a:tcPr marL="114300" marR="114300" marT="47625" marB="47625" anchor="ctr">
                    <a:lnL w="6668">
                      <a:solidFill>
                        <a:srgbClr val="DCE3DA"/>
                      </a:solidFill>
                      <a:prstDash val="solid"/>
                    </a:lnL>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Forward passes run in batches of up to eight with a shared inference lock.</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r>
              <a:tr h="609600">
                <a:tc>
                  <a:txBody>
                    <a:bodyPr wrap="square">
                      <a:noAutofit/>
                    </a:bodyPr>
                    <a:lstStyle/>
                    <a:p>
                      <a:r>
                        <a:rPr sz="1725" b="1">
                          <a:solidFill>
                            <a:srgbClr val="26332E"/>
                          </a:solidFill>
                          <a:latin typeface="Arial"/>
                          <a:ea typeface="Arial"/>
                          <a:cs typeface="Arial"/>
                        </a:rPr>
                        <a:t>Produce absence</a:t>
                      </a:r>
                    </a:p>
                  </a:txBody>
                  <a:tcPr marL="114300" marR="114300" marT="47625" marB="47625" anchor="ctr">
                    <a:lnL w="6668">
                      <a:solidFill>
                        <a:srgbClr val="DCE3DA"/>
                      </a:solidFill>
                      <a:prstDash val="solid"/>
                    </a:lnL>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A category without a candidate has no emitted aspect result.</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r>
              <a:tr h="609600">
                <a:tc>
                  <a:txBody>
                    <a:bodyPr wrap="square">
                      <a:noAutofit/>
                    </a:bodyPr>
                    <a:lstStyle/>
                    <a:p>
                      <a:r>
                        <a:rPr sz="1725" b="1">
                          <a:solidFill>
                            <a:srgbClr val="26332E"/>
                          </a:solidFill>
                          <a:latin typeface="Arial"/>
                          <a:ea typeface="Arial"/>
                          <a:cs typeface="Arial"/>
                        </a:rPr>
                        <a:t>Combine opinions</a:t>
                      </a:r>
                    </a:p>
                  </a:txBody>
                  <a:tcPr marL="114300" marR="114300" marT="47625" marB="47625" anchor="ctr">
                    <a:lnL w="6668">
                      <a:solidFill>
                        <a:srgbClr val="DCE3DA"/>
                      </a:solidFill>
                      <a:prstDash val="solid"/>
                    </a:lnL>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Positive and negative evidence for one category aggregates to mixed.</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r>
              <a:tr h="609600">
                <a:tc>
                  <a:txBody>
                    <a:bodyPr wrap="square">
                      <a:noAutofit/>
                    </a:bodyPr>
                    <a:lstStyle/>
                    <a:p>
                      <a:r>
                        <a:rPr sz="1725" b="1">
                          <a:solidFill>
                            <a:srgbClr val="26332E"/>
                          </a:solidFill>
                          <a:latin typeface="Arial"/>
                          <a:ea typeface="Arial"/>
                          <a:cs typeface="Arial"/>
                        </a:rPr>
                        <a:t>Attach evidence</a:t>
                      </a:r>
                    </a:p>
                  </a:txBody>
                  <a:tcPr marL="114300" marR="114300" marT="47625" marB="47625" anchor="ctr">
                    <a:lnL w="6668">
                      <a:solidFill>
                        <a:srgbClr val="DCE3DA"/>
                      </a:solidFill>
                      <a:prstDash val="solid"/>
                    </a:lnL>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The result keeps original sentence text and offsets.</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r>
            </a:tbl>
          </a:graphicData>
        </a:graphic>
      </p:graphicFrame>
    </p:spTree>
    <p:extLst>
      <p:ext uri="{BB962C8B-B14F-4D97-AF65-F5344CB8AC3E}">
        <p14:creationId xmlns:p14="http://schemas.microsoft.com/office/powerpoint/2010/main" val="1202007711"/>
      </p:ext>
    </p:extLst>
  </p:cSld>
</p:sld>
</file>

<file path=ppt/slides/slide25.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6" name="chapter">
            <a:extLst xmlns:a="http://schemas.openxmlformats.org/drawingml/2006/main">
              <a:ext uri="{FF2B5EF4-FFF2-40B4-BE49-F238E27FC236}">
                <a16:creationId xmlns:a16="http://schemas.microsoft.com/office/drawing/2014/main" id="{DD1D69BE-8476-4AC2-B7D9-759E21101561}"/>
              </a:ext>
            </a:extLst>
          </p:cNvPr>
          <p:cNvSpPr>
            <a:spLocks xmlns:a="http://schemas.openxmlformats.org/drawingml/2006/main" noGrp="1"/>
          </p:cNvSpPr>
          <p:nvPr/>
        </p:nvSpPr>
        <p:spPr>
          <a:xfrm xmlns:a="http://schemas.openxmlformats.org/drawingml/2006/main">
            <a:off x="685800" y="381000"/>
            <a:ext cx="933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39725C"/>
                </a:solidFill>
                <a:latin typeface="Arial"/>
                <a:ea typeface="Arial"/>
                <a:cs typeface="Arial"/>
              </a:defRPr>
            </a:defPPr>
          </a:lstStyle>
          <a:p xmlns:a="http://schemas.openxmlformats.org/drawingml/2006/main">
            <a:pPr algn="l">
              <a:defRPr sz="1200" b="1">
                <a:solidFill>
                  <a:srgbClr val="39725C"/>
                </a:solidFill>
                <a:latin typeface="Arial"/>
                <a:ea typeface="Arial"/>
                <a:cs typeface="Arial"/>
              </a:defRPr>
            </a:pPr>
            <a:r>
              <a:rPr sz="1200" b="1">
                <a:solidFill>
                  <a:srgbClr val="39725C"/>
                </a:solidFill>
                <a:latin typeface="Arial"/>
                <a:ea typeface="Arial"/>
                <a:cs typeface="Arial"/>
              </a:rPr>
              <a:t>THE MODELS</a:t>
            </a:r>
          </a:p>
        </p:txBody>
      </p:sp>
      <p:sp>
        <p:nvSpPr>
          <p:cNvPr id="2" name="primary-heading">
            <a:extLst xmlns:a="http://schemas.openxmlformats.org/drawingml/2006/main">
              <a:ext uri="{FF2B5EF4-FFF2-40B4-BE49-F238E27FC236}">
                <a16:creationId xmlns:a16="http://schemas.microsoft.com/office/drawing/2014/main" id="{683753E8-65E5-467F-9FC9-FE72A574B67B}"/>
              </a:ext>
            </a:extLst>
          </p:cNvPr>
          <p:cNvSpPr>
            <a:spLocks xmlns:a="http://schemas.openxmlformats.org/drawingml/2006/main" noGrp="1"/>
          </p:cNvSpPr>
          <p:nvPr/>
        </p:nvSpPr>
        <p:spPr>
          <a:xfrm xmlns:a="http://schemas.openxmlformats.org/drawingml/2006/main">
            <a:off x="685800" y="83820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6332E"/>
                </a:solidFill>
                <a:latin typeface="Arial"/>
                <a:ea typeface="Arial"/>
                <a:cs typeface="Arial"/>
              </a:defRPr>
            </a:defPPr>
          </a:lstStyle>
          <a:p xmlns:a="http://schemas.openxmlformats.org/drawingml/2006/main">
            <a:pPr algn="l">
              <a:defRPr sz="3300" b="1">
                <a:solidFill>
                  <a:srgbClr val="26332E"/>
                </a:solidFill>
                <a:latin typeface="Arial"/>
                <a:ea typeface="Arial"/>
                <a:cs typeface="Arial"/>
              </a:defRPr>
            </a:pPr>
            <a:r>
              <a:rPr sz="3300" b="1">
                <a:solidFill>
                  <a:srgbClr val="26332E"/>
                </a:solidFill>
                <a:latin typeface="Arial"/>
                <a:ea typeface="Arial"/>
                <a:cs typeface="Arial"/>
              </a:rPr>
              <a:t>Domain adapter v2 changes candidates and scope</a:t>
            </a:r>
          </a:p>
        </p:txBody>
      </p:sp>
      <p:sp>
        <p:nvSpPr>
          <p:cNvPr id="3" name="footer-label">
            <a:extLst xmlns:a="http://schemas.openxmlformats.org/drawingml/2006/main">
              <a:ext uri="{FF2B5EF4-FFF2-40B4-BE49-F238E27FC236}">
                <a16:creationId xmlns:a16="http://schemas.microsoft.com/office/drawing/2014/main" id="{4946114D-EE18-4252-9A5D-9682AB58AA55}"/>
              </a:ext>
            </a:extLst>
          </p:cNvPr>
          <p:cNvSpPr>
            <a:spLocks xmlns:a="http://schemas.openxmlformats.org/drawingml/2006/main" noGrp="1"/>
          </p:cNvSpPr>
          <p:nvPr/>
        </p:nvSpPr>
        <p:spPr>
          <a:xfrm xmlns:a="http://schemas.openxmlformats.org/drawingml/2006/main">
            <a:off x="685800" y="6505575"/>
            <a:ext cx="952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0">
                <a:solidFill>
                  <a:srgbClr val="66736C"/>
                </a:solidFill>
                <a:latin typeface="Arial"/>
                <a:ea typeface="Arial"/>
                <a:cs typeface="Arial"/>
              </a:defRPr>
            </a:defPPr>
          </a:lstStyle>
          <a:p xmlns:a="http://schemas.openxmlformats.org/drawingml/2006/main">
            <a:pPr algn="l">
              <a:defRPr sz="900" b="0">
                <a:solidFill>
                  <a:srgbClr val="66736C"/>
                </a:solidFill>
                <a:latin typeface="Arial"/>
                <a:ea typeface="Arial"/>
                <a:cs typeface="Arial"/>
              </a:defRPr>
            </a:pPr>
            <a:r>
              <a:rPr sz="900" b="0">
                <a:solidFill>
                  <a:srgbClr val="66736C"/>
                </a:solidFill>
                <a:latin typeface="Arial"/>
                <a:ea typeface="Arial"/>
                <a:cs typeface="Arial"/>
              </a:rPr>
              <a:t>ASPECT  /  PROJECT REFERENCE  /  1.0.0</a:t>
            </a:r>
          </a:p>
        </p:txBody>
      </p:sp>
      <p:sp>
        <p:nvSpPr>
          <p:cNvPr id="4" name="page-number">
            <a:extLst xmlns:a="http://schemas.openxmlformats.org/drawingml/2006/main">
              <a:ext uri="{FF2B5EF4-FFF2-40B4-BE49-F238E27FC236}">
                <a16:creationId xmlns:a16="http://schemas.microsoft.com/office/drawing/2014/main" id="{CF55000A-1617-4FEE-B9A6-F540064B91C0}"/>
              </a:ext>
            </a:extLst>
          </p:cNvPr>
          <p:cNvSpPr>
            <a:spLocks xmlns:a="http://schemas.openxmlformats.org/drawingml/2006/main" noGrp="1"/>
          </p:cNvSpPr>
          <p:nvPr/>
        </p:nvSpPr>
        <p:spPr>
          <a:xfrm xmlns:a="http://schemas.openxmlformats.org/drawingml/2006/main">
            <a:off x="10620375" y="6505575"/>
            <a:ext cx="8858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a:solidFill>
                  <a:srgbClr val="66736C"/>
                </a:solidFill>
                <a:latin typeface="Arial"/>
                <a:ea typeface="Arial"/>
                <a:cs typeface="Arial"/>
              </a:defRPr>
            </a:defPPr>
          </a:lstStyle>
          <a:p xmlns:a="http://schemas.openxmlformats.org/drawingml/2006/main">
            <a:pPr algn="r">
              <a:defRPr sz="900" b="0">
                <a:solidFill>
                  <a:srgbClr val="66736C"/>
                </a:solidFill>
                <a:latin typeface="Arial"/>
                <a:ea typeface="Arial"/>
                <a:cs typeface="Arial"/>
              </a:defRPr>
            </a:pPr>
            <a:r>
              <a:rPr sz="900" b="0">
                <a:solidFill>
                  <a:srgbClr val="66736C"/>
                </a:solidFill>
                <a:latin typeface="Arial"/>
                <a:ea typeface="Arial"/>
                <a:cs typeface="Arial"/>
              </a:rPr>
              <a:t>25 / 52</a:t>
            </a:r>
          </a:p>
        </p:txBody>
      </p:sp>
      <p:graphicFrame>
        <p:nvGraphicFramePr>
          <p:cNvPr id="5" name="">
            <a:extLst xmlns:a="http://schemas.openxmlformats.org/drawingml/2006/main">
              <a:ext uri="{FF2B5EF4-FFF2-40B4-BE49-F238E27FC236}">
                <a16:creationId xmlns:a16="http://schemas.microsoft.com/office/drawing/2014/main" id="{5D0CA434-B75B-413F-886D-ED61F29A3A06}"/>
              </a:ext>
            </a:extLst>
          </p:cNvPr>
          <p:cNvGraphicFramePr/>
          <p:nvPr/>
        </p:nvGraphicFramePr>
        <p:xfrm>
          <a:off xmlns:a="http://schemas.openxmlformats.org/drawingml/2006/main" x="685800" y="1714500"/>
          <a:ext xmlns:a="http://schemas.openxmlformats.org/drawingml/2006/main" cx="10820400" cy="3848100"/>
        </p:xfrm>
        <a:graphic xmlns:a="http://schemas.openxmlformats.org/drawingml/2006/main">
          <a:graphicData uri="http://schemas.openxmlformats.org/drawingml/2006/table">
            <a:tbl>
              <a:tblPr firstRow="1" firstCol="0" lastCol="0" bandRow="0"/>
              <a:tblGrid>
                <a:gridCol w="2762250"/>
                <a:gridCol w="4857750"/>
                <a:gridCol w="3200400"/>
              </a:tblGrid>
              <a:tr h="419100">
                <a:tc>
                  <a:txBody>
                    <a:bodyPr wrap="square">
                      <a:noAutofit/>
                    </a:bodyPr>
                    <a:lstStyle/>
                    <a:p>
                      <a:r>
                        <a:rPr sz="1650" b="1">
                          <a:solidFill>
                            <a:srgbClr val="FFFFFF"/>
                          </a:solidFill>
                          <a:latin typeface="Arial"/>
                          <a:ea typeface="Arial"/>
                          <a:cs typeface="Arial"/>
                        </a:rPr>
                        <a:t>Problem found</a:t>
                      </a:r>
                    </a:p>
                  </a:txBody>
                  <a:tcPr marL="114300" marR="114300" marT="47625" marB="47625" anchor="ctr">
                    <a:lnL w="6668">
                      <a:solidFill>
                        <a:srgbClr val="DCE3DA"/>
                      </a:solidFill>
                      <a:prstDash val="solid"/>
                    </a:lnL>
                    <a:lnR w="6668">
                      <a:solidFill>
                        <a:srgbClr val="DCE3DA"/>
                      </a:solidFill>
                      <a:prstDash val="solid"/>
                    </a:lnR>
                    <a:lnT w="6668">
                      <a:solidFill>
                        <a:srgbClr val="DCE3DA"/>
                      </a:solidFill>
                      <a:prstDash val="solid"/>
                    </a:lnT>
                    <a:lnB w="6668">
                      <a:solidFill>
                        <a:srgbClr val="DCE3DA"/>
                      </a:solidFill>
                      <a:prstDash val="solid"/>
                    </a:lnB>
                    <a:solidFill>
                      <a:srgbClr val="39725C"/>
                    </a:solidFill>
                  </a:tcPr>
                </a:tc>
                <a:tc>
                  <a:txBody>
                    <a:bodyPr wrap="square">
                      <a:noAutofit/>
                    </a:bodyPr>
                    <a:lstStyle/>
                    <a:p>
                      <a:r>
                        <a:rPr sz="1650" b="1">
                          <a:solidFill>
                            <a:srgbClr val="FFFFFF"/>
                          </a:solidFill>
                          <a:latin typeface="Arial"/>
                          <a:ea typeface="Arial"/>
                          <a:cs typeface="Arial"/>
                        </a:rPr>
                        <a:t>Revised policy</a:t>
                      </a:r>
                    </a:p>
                  </a:txBody>
                  <a:tcPr marL="114300" marR="114300" marT="47625" marB="47625" anchor="ctr">
                    <a:lnR w="6668">
                      <a:solidFill>
                        <a:srgbClr val="DCE3DA"/>
                      </a:solidFill>
                      <a:prstDash val="solid"/>
                    </a:lnR>
                    <a:lnT w="6668">
                      <a:solidFill>
                        <a:srgbClr val="DCE3DA"/>
                      </a:solidFill>
                      <a:prstDash val="solid"/>
                    </a:lnT>
                    <a:lnB w="6668">
                      <a:solidFill>
                        <a:srgbClr val="DCE3DA"/>
                      </a:solidFill>
                      <a:prstDash val="solid"/>
                    </a:lnB>
                    <a:solidFill>
                      <a:srgbClr val="39725C"/>
                    </a:solidFill>
                  </a:tcPr>
                </a:tc>
                <a:tc>
                  <a:txBody>
                    <a:bodyPr wrap="square">
                      <a:noAutofit/>
                    </a:bodyPr>
                    <a:lstStyle/>
                    <a:p>
                      <a:r>
                        <a:rPr sz="1650" b="1">
                          <a:solidFill>
                            <a:srgbClr val="FFFFFF"/>
                          </a:solidFill>
                          <a:latin typeface="Arial"/>
                          <a:ea typeface="Arial"/>
                          <a:cs typeface="Arial"/>
                        </a:rPr>
                        <a:t>What stays fixed</a:t>
                      </a:r>
                    </a:p>
                  </a:txBody>
                  <a:tcPr marL="114300" marR="114300" marT="47625" marB="47625" anchor="ctr">
                    <a:lnR w="6668">
                      <a:solidFill>
                        <a:srgbClr val="DCE3DA"/>
                      </a:solidFill>
                      <a:prstDash val="solid"/>
                    </a:lnR>
                    <a:lnT w="6668">
                      <a:solidFill>
                        <a:srgbClr val="DCE3DA"/>
                      </a:solidFill>
                      <a:prstDash val="solid"/>
                    </a:lnT>
                    <a:lnB w="6668">
                      <a:solidFill>
                        <a:srgbClr val="DCE3DA"/>
                      </a:solidFill>
                      <a:prstDash val="solid"/>
                    </a:lnB>
                    <a:solidFill>
                      <a:srgbClr val="39725C"/>
                    </a:solidFill>
                  </a:tcPr>
                </a:tc>
              </a:tr>
              <a:tr h="857250">
                <a:tc>
                  <a:txBody>
                    <a:bodyPr wrap="square">
                      <a:noAutofit/>
                    </a:bodyPr>
                    <a:lstStyle/>
                    <a:p>
                      <a:r>
                        <a:rPr sz="1725" b="1">
                          <a:solidFill>
                            <a:srgbClr val="26332E"/>
                          </a:solidFill>
                          <a:latin typeface="Arial"/>
                          <a:ea typeface="Arial"/>
                          <a:cs typeface="Arial"/>
                        </a:rPr>
                        <a:t>Missing feature vocabulary</a:t>
                      </a:r>
                    </a:p>
                  </a:txBody>
                  <a:tcPr marL="114300" marR="114300" marT="47625" marB="47625" anchor="ctr">
                    <a:lnL w="6668">
                      <a:solidFill>
                        <a:srgbClr val="DCE3DA"/>
                      </a:solidFill>
                      <a:prstDash val="solid"/>
                    </a:lnL>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Add speed, resolution, SIM/carriers, named software and physical-control cues.</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The ten-category taxonomy</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r>
              <a:tr h="857250">
                <a:tc>
                  <a:txBody>
                    <a:bodyPr wrap="square">
                      <a:noAutofit/>
                    </a:bodyPr>
                    <a:lstStyle/>
                    <a:p>
                      <a:r>
                        <a:rPr sz="1725" b="1">
                          <a:solidFill>
                            <a:srgbClr val="26332E"/>
                          </a:solidFill>
                          <a:latin typeface="Arial"/>
                          <a:ea typeface="Arial"/>
                          <a:cs typeface="Arial"/>
                        </a:rPr>
                        <a:t>Shared opinion predicate</a:t>
                      </a:r>
                    </a:p>
                  </a:txBody>
                  <a:tcPr marL="114300" marR="114300" marT="47625" marB="47625" anchor="ctr">
                    <a:lnL w="6668">
                      <a:solidFill>
                        <a:srgbClr val="DCE3DA"/>
                      </a:solidFill>
                      <a:prstDash val="solid"/>
                    </a:lnL>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Keep coordinated aspect nouns with their shared opinion context.</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Original sentence evidence</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r>
              <a:tr h="857250">
                <a:tc>
                  <a:txBody>
                    <a:bodyPr wrap="square">
                      <a:noAutofit/>
                    </a:bodyPr>
                    <a:lstStyle/>
                    <a:p>
                      <a:r>
                        <a:rPr sz="1725" b="1">
                          <a:solidFill>
                            <a:srgbClr val="26332E"/>
                          </a:solidFill>
                          <a:latin typeface="Arial"/>
                          <a:ea typeface="Arial"/>
                          <a:cs typeface="Arial"/>
                        </a:rPr>
                        <a:t>Wrong feature assignment</a:t>
                      </a:r>
                    </a:p>
                  </a:txBody>
                  <a:tcPr marL="114300" marR="114300" marT="47625" marB="47625" anchor="ctr">
                    <a:lnL w="6668">
                      <a:solidFill>
                        <a:srgbClr val="DCE3DA"/>
                      </a:solidFill>
                      <a:prstDash val="solid"/>
                    </a:lnL>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Distinguish retail/charging speed and physical volume controls.</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Transformer weights</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r>
              <a:tr h="857250">
                <a:tc>
                  <a:txBody>
                    <a:bodyPr wrap="square">
                      <a:noAutofit/>
                    </a:bodyPr>
                    <a:lstStyle/>
                    <a:p>
                      <a:r>
                        <a:rPr sz="1725" b="1">
                          <a:solidFill>
                            <a:srgbClr val="26332E"/>
                          </a:solidFill>
                          <a:latin typeface="Arial"/>
                          <a:ea typeface="Arial"/>
                          <a:cs typeface="Arial"/>
                        </a:rPr>
                        <a:t>Laptop memory use</a:t>
                      </a:r>
                    </a:p>
                  </a:txBody>
                  <a:tcPr marL="114300" marR="114300" marT="47625" marB="47625" anchor="ctr">
                    <a:lnL w="6668">
                      <a:solidFill>
                        <a:srgbClr val="DCE3DA"/>
                      </a:solidFill>
                      <a:prstDash val="solid"/>
                    </a:lnL>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Reuse the already loaded backbone and inference lock.</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Original adapter and its results</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r>
            </a:tbl>
          </a:graphicData>
        </a:graphic>
      </p:graphicFrame>
    </p:spTree>
    <p:extLst>
      <p:ext uri="{BB962C8B-B14F-4D97-AF65-F5344CB8AC3E}">
        <p14:creationId xmlns:p14="http://schemas.microsoft.com/office/powerpoint/2010/main" val="144600138"/>
      </p:ext>
    </p:extLst>
  </p:cSld>
</p:sld>
</file>

<file path=ppt/slides/slide26.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10" name="chapter">
            <a:extLst xmlns:a="http://schemas.openxmlformats.org/drawingml/2006/main">
              <a:ext uri="{FF2B5EF4-FFF2-40B4-BE49-F238E27FC236}">
                <a16:creationId xmlns:a16="http://schemas.microsoft.com/office/drawing/2014/main" id="{92EFB59E-EA17-4FAA-857E-D5D663A32161}"/>
              </a:ext>
            </a:extLst>
          </p:cNvPr>
          <p:cNvSpPr>
            <a:spLocks xmlns:a="http://schemas.openxmlformats.org/drawingml/2006/main" noGrp="1"/>
          </p:cNvSpPr>
          <p:nvPr/>
        </p:nvSpPr>
        <p:spPr>
          <a:xfrm xmlns:a="http://schemas.openxmlformats.org/drawingml/2006/main">
            <a:off x="685800" y="381000"/>
            <a:ext cx="933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39725C"/>
                </a:solidFill>
                <a:latin typeface="Arial"/>
                <a:ea typeface="Arial"/>
                <a:cs typeface="Arial"/>
              </a:defRPr>
            </a:defPPr>
          </a:lstStyle>
          <a:p xmlns:a="http://schemas.openxmlformats.org/drawingml/2006/main">
            <a:pPr algn="l">
              <a:defRPr sz="1200" b="1">
                <a:solidFill>
                  <a:srgbClr val="39725C"/>
                </a:solidFill>
                <a:latin typeface="Arial"/>
                <a:ea typeface="Arial"/>
                <a:cs typeface="Arial"/>
              </a:defRPr>
            </a:pPr>
            <a:r>
              <a:rPr sz="1200" b="1">
                <a:solidFill>
                  <a:srgbClr val="39725C"/>
                </a:solidFill>
                <a:latin typeface="Arial"/>
                <a:ea typeface="Arial"/>
                <a:cs typeface="Arial"/>
              </a:rPr>
              <a:t>THE MODELS</a:t>
            </a:r>
          </a:p>
        </p:txBody>
      </p:sp>
      <p:sp>
        <p:nvSpPr>
          <p:cNvPr id="2" name="primary-heading">
            <a:extLst xmlns:a="http://schemas.openxmlformats.org/drawingml/2006/main">
              <a:ext uri="{FF2B5EF4-FFF2-40B4-BE49-F238E27FC236}">
                <a16:creationId xmlns:a16="http://schemas.microsoft.com/office/drawing/2014/main" id="{A15E17E0-0423-4EFE-9A78-424CB4373B01}"/>
              </a:ext>
            </a:extLst>
          </p:cNvPr>
          <p:cNvSpPr>
            <a:spLocks xmlns:a="http://schemas.openxmlformats.org/drawingml/2006/main" noGrp="1"/>
          </p:cNvSpPr>
          <p:nvPr/>
        </p:nvSpPr>
        <p:spPr>
          <a:xfrm xmlns:a="http://schemas.openxmlformats.org/drawingml/2006/main">
            <a:off x="685800" y="83820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6332E"/>
                </a:solidFill>
                <a:latin typeface="Arial"/>
                <a:ea typeface="Arial"/>
                <a:cs typeface="Arial"/>
              </a:defRPr>
            </a:defPPr>
          </a:lstStyle>
          <a:p xmlns:a="http://schemas.openxmlformats.org/drawingml/2006/main">
            <a:pPr algn="l">
              <a:defRPr sz="3300" b="1">
                <a:solidFill>
                  <a:srgbClr val="26332E"/>
                </a:solidFill>
                <a:latin typeface="Arial"/>
                <a:ea typeface="Arial"/>
                <a:cs typeface="Arial"/>
              </a:defRPr>
            </a:pPr>
            <a:r>
              <a:rPr sz="3300" b="1">
                <a:solidFill>
                  <a:srgbClr val="26332E"/>
                </a:solidFill>
                <a:latin typeface="Arial"/>
                <a:ea typeface="Arial"/>
                <a:cs typeface="Arial"/>
              </a:rPr>
              <a:t>TF-IDF turns training text into numerical features</a:t>
            </a:r>
          </a:p>
        </p:txBody>
      </p:sp>
      <p:sp>
        <p:nvSpPr>
          <p:cNvPr id="3" name="footer-label">
            <a:extLst xmlns:a="http://schemas.openxmlformats.org/drawingml/2006/main">
              <a:ext uri="{FF2B5EF4-FFF2-40B4-BE49-F238E27FC236}">
                <a16:creationId xmlns:a16="http://schemas.microsoft.com/office/drawing/2014/main" id="{A70F9F76-B4AD-4071-996C-D805616C0D50}"/>
              </a:ext>
            </a:extLst>
          </p:cNvPr>
          <p:cNvSpPr>
            <a:spLocks xmlns:a="http://schemas.openxmlformats.org/drawingml/2006/main" noGrp="1"/>
          </p:cNvSpPr>
          <p:nvPr/>
        </p:nvSpPr>
        <p:spPr>
          <a:xfrm xmlns:a="http://schemas.openxmlformats.org/drawingml/2006/main">
            <a:off x="685800" y="6505575"/>
            <a:ext cx="952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0">
                <a:solidFill>
                  <a:srgbClr val="66736C"/>
                </a:solidFill>
                <a:latin typeface="Arial"/>
                <a:ea typeface="Arial"/>
                <a:cs typeface="Arial"/>
              </a:defRPr>
            </a:defPPr>
          </a:lstStyle>
          <a:p xmlns:a="http://schemas.openxmlformats.org/drawingml/2006/main">
            <a:pPr algn="l">
              <a:defRPr sz="900" b="0">
                <a:solidFill>
                  <a:srgbClr val="66736C"/>
                </a:solidFill>
                <a:latin typeface="Arial"/>
                <a:ea typeface="Arial"/>
                <a:cs typeface="Arial"/>
              </a:defRPr>
            </a:pPr>
            <a:r>
              <a:rPr sz="900" b="0">
                <a:solidFill>
                  <a:srgbClr val="66736C"/>
                </a:solidFill>
                <a:latin typeface="Arial"/>
                <a:ea typeface="Arial"/>
                <a:cs typeface="Arial"/>
              </a:rPr>
              <a:t>ASPECT  /  PROJECT REFERENCE  /  1.0.0</a:t>
            </a:r>
          </a:p>
        </p:txBody>
      </p:sp>
      <p:sp>
        <p:nvSpPr>
          <p:cNvPr id="4" name="page-number">
            <a:extLst xmlns:a="http://schemas.openxmlformats.org/drawingml/2006/main">
              <a:ext uri="{FF2B5EF4-FFF2-40B4-BE49-F238E27FC236}">
                <a16:creationId xmlns:a16="http://schemas.microsoft.com/office/drawing/2014/main" id="{A594C385-A0AB-4580-B588-5B6A95D307C0}"/>
              </a:ext>
            </a:extLst>
          </p:cNvPr>
          <p:cNvSpPr>
            <a:spLocks xmlns:a="http://schemas.openxmlformats.org/drawingml/2006/main" noGrp="1"/>
          </p:cNvSpPr>
          <p:nvPr/>
        </p:nvSpPr>
        <p:spPr>
          <a:xfrm xmlns:a="http://schemas.openxmlformats.org/drawingml/2006/main">
            <a:off x="10620375" y="6505575"/>
            <a:ext cx="8858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a:solidFill>
                  <a:srgbClr val="66736C"/>
                </a:solidFill>
                <a:latin typeface="Arial"/>
                <a:ea typeface="Arial"/>
                <a:cs typeface="Arial"/>
              </a:defRPr>
            </a:defPPr>
          </a:lstStyle>
          <a:p xmlns:a="http://schemas.openxmlformats.org/drawingml/2006/main">
            <a:pPr algn="r">
              <a:defRPr sz="900" b="0">
                <a:solidFill>
                  <a:srgbClr val="66736C"/>
                </a:solidFill>
                <a:latin typeface="Arial"/>
                <a:ea typeface="Arial"/>
                <a:cs typeface="Arial"/>
              </a:defRPr>
            </a:pPr>
            <a:r>
              <a:rPr sz="900" b="0">
                <a:solidFill>
                  <a:srgbClr val="66736C"/>
                </a:solidFill>
                <a:latin typeface="Arial"/>
                <a:ea typeface="Arial"/>
                <a:cs typeface="Arial"/>
              </a:rPr>
              <a:t>26 / 52</a:t>
            </a:r>
          </a:p>
        </p:txBody>
      </p:sp>
      <p:sp>
        <p:nvSpPr>
          <p:cNvPr id="5" name="context-note">
            <a:extLst xmlns:a="http://schemas.openxmlformats.org/drawingml/2006/main">
              <a:ext uri="{FF2B5EF4-FFF2-40B4-BE49-F238E27FC236}">
                <a16:creationId xmlns:a16="http://schemas.microsoft.com/office/drawing/2014/main" id="{2156EB97-FD94-46E4-B001-BF3F369DADE4}"/>
              </a:ext>
            </a:extLst>
          </p:cNvPr>
          <p:cNvSpPr>
            <a:spLocks xmlns:a="http://schemas.openxmlformats.org/drawingml/2006/main" noGrp="1"/>
          </p:cNvSpPr>
          <p:nvPr/>
        </p:nvSpPr>
        <p:spPr>
          <a:xfrm xmlns:a="http://schemas.openxmlformats.org/drawingml/2006/main">
            <a:off x="685800" y="5924550"/>
            <a:ext cx="108204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39725C"/>
                </a:solidFill>
                <a:latin typeface="Arial"/>
                <a:ea typeface="Arial"/>
                <a:cs typeface="Arial"/>
              </a:defRPr>
            </a:defPPr>
          </a:lstStyle>
          <a:p xmlns:a="http://schemas.openxmlformats.org/drawingml/2006/main">
            <a:pPr algn="l">
              <a:defRPr sz="1725" b="0">
                <a:solidFill>
                  <a:srgbClr val="39725C"/>
                </a:solidFill>
                <a:latin typeface="Arial"/>
                <a:ea typeface="Arial"/>
                <a:cs typeface="Arial"/>
              </a:defRPr>
            </a:pPr>
            <a:r>
              <a:rPr sz="1725" b="0">
                <a:solidFill>
                  <a:srgbClr val="39725C"/>
                </a:solidFill>
                <a:latin typeface="Arial"/>
                <a:ea typeface="Arial"/>
                <a:cs typeface="Arial"/>
              </a:rPr>
              <a:t>Both profiles fit their vocabulary and inverse-document-frequency values on training text only.</a:t>
            </a:r>
          </a:p>
        </p:txBody>
      </p:sp>
      <p:sp>
        <p:nvSpPr>
          <p:cNvPr id="6" name="column-label-0">
            <a:extLst xmlns:a="http://schemas.openxmlformats.org/drawingml/2006/main">
              <a:ext uri="{FF2B5EF4-FFF2-40B4-BE49-F238E27FC236}">
                <a16:creationId xmlns:a16="http://schemas.microsoft.com/office/drawing/2014/main" id="{7F336602-D9F9-4667-9B18-73F534E2A19D}"/>
              </a:ext>
            </a:extLst>
          </p:cNvPr>
          <p:cNvSpPr>
            <a:spLocks xmlns:a="http://schemas.openxmlformats.org/drawingml/2006/main" noGrp="1"/>
          </p:cNvSpPr>
          <p:nvPr/>
        </p:nvSpPr>
        <p:spPr>
          <a:xfrm xmlns:a="http://schemas.openxmlformats.org/drawingml/2006/main">
            <a:off x="685800" y="1905000"/>
            <a:ext cx="52006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39725C"/>
                </a:solidFill>
                <a:latin typeface="Arial"/>
                <a:ea typeface="Arial"/>
                <a:cs typeface="Arial"/>
              </a:defRPr>
            </a:defPPr>
          </a:lstStyle>
          <a:p xmlns:a="http://schemas.openxmlformats.org/drawingml/2006/main">
            <a:pPr algn="l">
              <a:defRPr sz="2175" b="1">
                <a:solidFill>
                  <a:srgbClr val="39725C"/>
                </a:solidFill>
                <a:latin typeface="Arial"/>
                <a:ea typeface="Arial"/>
                <a:cs typeface="Arial"/>
              </a:defRPr>
            </a:pPr>
            <a:r>
              <a:rPr sz="2175" b="1">
                <a:solidFill>
                  <a:srgbClr val="39725C"/>
                </a:solidFill>
                <a:latin typeface="Arial"/>
                <a:ea typeface="Arial"/>
                <a:cs typeface="Arial"/>
              </a:rPr>
              <a:t>Word features</a:t>
            </a:r>
          </a:p>
        </p:txBody>
      </p:sp>
      <p:sp>
        <p:nvSpPr>
          <p:cNvPr id="7" name="column-copy-0">
            <a:extLst xmlns:a="http://schemas.openxmlformats.org/drawingml/2006/main">
              <a:ext uri="{FF2B5EF4-FFF2-40B4-BE49-F238E27FC236}">
                <a16:creationId xmlns:a16="http://schemas.microsoft.com/office/drawing/2014/main" id="{C0A8D9C8-B697-4190-B696-1965781D3D20}"/>
              </a:ext>
            </a:extLst>
          </p:cNvPr>
          <p:cNvSpPr>
            <a:spLocks xmlns:a="http://schemas.openxmlformats.org/drawingml/2006/main" noGrp="1"/>
          </p:cNvSpPr>
          <p:nvPr/>
        </p:nvSpPr>
        <p:spPr>
          <a:xfrm xmlns:a="http://schemas.openxmlformats.org/drawingml/2006/main">
            <a:off x="685800" y="2552700"/>
            <a:ext cx="520065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26332E"/>
                </a:solidFill>
                <a:latin typeface="Arial"/>
                <a:ea typeface="Arial"/>
                <a:cs typeface="Arial"/>
              </a:defRPr>
            </a:defPPr>
          </a:lstStyle>
          <a:p xmlns:a="http://schemas.openxmlformats.org/drawingml/2006/main">
            <a:pPr algn="l">
              <a:defRPr sz="2175" b="0">
                <a:solidFill>
                  <a:srgbClr val="26332E"/>
                </a:solidFill>
                <a:latin typeface="Arial"/>
                <a:ea typeface="Arial"/>
                <a:cs typeface="Arial"/>
              </a:defRPr>
            </a:pPr>
            <a:r>
              <a:rPr sz="2175" b="0">
                <a:solidFill>
                  <a:srgbClr val="26332E"/>
                </a:solidFill>
                <a:latin typeface="Arial"/>
                <a:ea typeface="Arial"/>
                <a:cs typeface="Arial"/>
              </a:rPr>
              <a:t>Unigrams capture individual terms. Bigrams capture short phrases. TF-IDF reduces the influence of common words across documents.</a:t>
            </a:r>
          </a:p>
        </p:txBody>
      </p:sp>
      <p:sp>
        <p:nvSpPr>
          <p:cNvPr id="8" name="column-label-1">
            <a:extLst xmlns:a="http://schemas.openxmlformats.org/drawingml/2006/main">
              <a:ext uri="{FF2B5EF4-FFF2-40B4-BE49-F238E27FC236}">
                <a16:creationId xmlns:a16="http://schemas.microsoft.com/office/drawing/2014/main" id="{9FC9F5B9-BD31-4B7A-91D8-E5E2C7D27612}"/>
              </a:ext>
            </a:extLst>
          </p:cNvPr>
          <p:cNvSpPr>
            <a:spLocks xmlns:a="http://schemas.openxmlformats.org/drawingml/2006/main" noGrp="1"/>
          </p:cNvSpPr>
          <p:nvPr/>
        </p:nvSpPr>
        <p:spPr>
          <a:xfrm xmlns:a="http://schemas.openxmlformats.org/drawingml/2006/main">
            <a:off x="6305550" y="1905000"/>
            <a:ext cx="52006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39725C"/>
                </a:solidFill>
                <a:latin typeface="Arial"/>
                <a:ea typeface="Arial"/>
                <a:cs typeface="Arial"/>
              </a:defRPr>
            </a:defPPr>
          </a:lstStyle>
          <a:p xmlns:a="http://schemas.openxmlformats.org/drawingml/2006/main">
            <a:pPr algn="l">
              <a:defRPr sz="2175" b="1">
                <a:solidFill>
                  <a:srgbClr val="39725C"/>
                </a:solidFill>
                <a:latin typeface="Arial"/>
                <a:ea typeface="Arial"/>
                <a:cs typeface="Arial"/>
              </a:defRPr>
            </a:pPr>
            <a:r>
              <a:rPr sz="2175" b="1">
                <a:solidFill>
                  <a:srgbClr val="39725C"/>
                </a:solidFill>
                <a:latin typeface="Arial"/>
                <a:ea typeface="Arial"/>
                <a:cs typeface="Arial"/>
              </a:rPr>
              <a:t>Character features</a:t>
            </a:r>
          </a:p>
        </p:txBody>
      </p:sp>
      <p:sp>
        <p:nvSpPr>
          <p:cNvPr id="9" name="column-copy-1">
            <a:extLst xmlns:a="http://schemas.openxmlformats.org/drawingml/2006/main">
              <a:ext uri="{FF2B5EF4-FFF2-40B4-BE49-F238E27FC236}">
                <a16:creationId xmlns:a16="http://schemas.microsoft.com/office/drawing/2014/main" id="{15575568-7B91-4732-931A-CA6CCA8C2C61}"/>
              </a:ext>
            </a:extLst>
          </p:cNvPr>
          <p:cNvSpPr>
            <a:spLocks xmlns:a="http://schemas.openxmlformats.org/drawingml/2006/main" noGrp="1"/>
          </p:cNvSpPr>
          <p:nvPr/>
        </p:nvSpPr>
        <p:spPr>
          <a:xfrm xmlns:a="http://schemas.openxmlformats.org/drawingml/2006/main">
            <a:off x="6305550" y="2552700"/>
            <a:ext cx="520065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26332E"/>
                </a:solidFill>
                <a:latin typeface="Arial"/>
                <a:ea typeface="Arial"/>
                <a:cs typeface="Arial"/>
              </a:defRPr>
            </a:defPPr>
          </a:lstStyle>
          <a:p xmlns:a="http://schemas.openxmlformats.org/drawingml/2006/main">
            <a:pPr algn="l">
              <a:defRPr sz="2175" b="0">
                <a:solidFill>
                  <a:srgbClr val="26332E"/>
                </a:solidFill>
                <a:latin typeface="Arial"/>
                <a:ea typeface="Arial"/>
                <a:cs typeface="Arial"/>
              </a:defRPr>
            </a:pPr>
            <a:r>
              <a:rPr sz="2175" b="0">
                <a:solidFill>
                  <a:srgbClr val="26332E"/>
                </a:solidFill>
                <a:latin typeface="Arial"/>
                <a:ea typeface="Arial"/>
                <a:cs typeface="Arial"/>
              </a:rPr>
              <a:t>Character 3–5-grams can share evidence across related word forms and spelling variants. The two-stage profile uses them alongside words.</a:t>
            </a:r>
          </a:p>
        </p:txBody>
      </p:sp>
    </p:spTree>
    <p:extLst>
      <p:ext uri="{BB962C8B-B14F-4D97-AF65-F5344CB8AC3E}">
        <p14:creationId xmlns:p14="http://schemas.microsoft.com/office/powerpoint/2010/main" val="1573252389"/>
      </p:ext>
    </p:extLst>
  </p:cSld>
</p:sld>
</file>

<file path=ppt/slides/slide27.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10" name="chapter">
            <a:extLst xmlns:a="http://schemas.openxmlformats.org/drawingml/2006/main">
              <a:ext uri="{FF2B5EF4-FFF2-40B4-BE49-F238E27FC236}">
                <a16:creationId xmlns:a16="http://schemas.microsoft.com/office/drawing/2014/main" id="{43EEA04E-A8FD-4610-BB20-127CB10E400C}"/>
              </a:ext>
            </a:extLst>
          </p:cNvPr>
          <p:cNvSpPr>
            <a:spLocks xmlns:a="http://schemas.openxmlformats.org/drawingml/2006/main" noGrp="1"/>
          </p:cNvSpPr>
          <p:nvPr/>
        </p:nvSpPr>
        <p:spPr>
          <a:xfrm xmlns:a="http://schemas.openxmlformats.org/drawingml/2006/main">
            <a:off x="685800" y="381000"/>
            <a:ext cx="933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39725C"/>
                </a:solidFill>
                <a:latin typeface="Arial"/>
                <a:ea typeface="Arial"/>
                <a:cs typeface="Arial"/>
              </a:defRPr>
            </a:defPPr>
          </a:lstStyle>
          <a:p xmlns:a="http://schemas.openxmlformats.org/drawingml/2006/main">
            <a:pPr algn="l">
              <a:defRPr sz="1200" b="1">
                <a:solidFill>
                  <a:srgbClr val="39725C"/>
                </a:solidFill>
                <a:latin typeface="Arial"/>
                <a:ea typeface="Arial"/>
                <a:cs typeface="Arial"/>
              </a:defRPr>
            </a:pPr>
            <a:r>
              <a:rPr sz="1200" b="1">
                <a:solidFill>
                  <a:srgbClr val="39725C"/>
                </a:solidFill>
                <a:latin typeface="Arial"/>
                <a:ea typeface="Arial"/>
                <a:cs typeface="Arial"/>
              </a:rPr>
              <a:t>THE MODELS</a:t>
            </a:r>
          </a:p>
        </p:txBody>
      </p:sp>
      <p:sp>
        <p:nvSpPr>
          <p:cNvPr id="2" name="primary-heading">
            <a:extLst xmlns:a="http://schemas.openxmlformats.org/drawingml/2006/main">
              <a:ext uri="{FF2B5EF4-FFF2-40B4-BE49-F238E27FC236}">
                <a16:creationId xmlns:a16="http://schemas.microsoft.com/office/drawing/2014/main" id="{AC8D4A83-C6E9-4A64-945F-B03E94B345CA}"/>
              </a:ext>
            </a:extLst>
          </p:cNvPr>
          <p:cNvSpPr>
            <a:spLocks xmlns:a="http://schemas.openxmlformats.org/drawingml/2006/main" noGrp="1"/>
          </p:cNvSpPr>
          <p:nvPr/>
        </p:nvSpPr>
        <p:spPr>
          <a:xfrm xmlns:a="http://schemas.openxmlformats.org/drawingml/2006/main">
            <a:off x="685800" y="83820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6332E"/>
                </a:solidFill>
                <a:latin typeface="Arial"/>
                <a:ea typeface="Arial"/>
                <a:cs typeface="Arial"/>
              </a:defRPr>
            </a:defPPr>
          </a:lstStyle>
          <a:p xmlns:a="http://schemas.openxmlformats.org/drawingml/2006/main">
            <a:pPr algn="l">
              <a:defRPr sz="3300" b="1">
                <a:solidFill>
                  <a:srgbClr val="26332E"/>
                </a:solidFill>
                <a:latin typeface="Arial"/>
                <a:ea typeface="Arial"/>
                <a:cs typeface="Arial"/>
              </a:defRPr>
            </a:pPr>
            <a:r>
              <a:rPr sz="3300" b="1">
                <a:solidFill>
                  <a:srgbClr val="26332E"/>
                </a:solidFill>
                <a:latin typeface="Arial"/>
                <a:ea typeface="Arial"/>
                <a:cs typeface="Arial"/>
              </a:rPr>
              <a:t>Flat TF-IDF learns five states per category</a:t>
            </a:r>
          </a:p>
        </p:txBody>
      </p:sp>
      <p:sp>
        <p:nvSpPr>
          <p:cNvPr id="3" name="footer-label">
            <a:extLst xmlns:a="http://schemas.openxmlformats.org/drawingml/2006/main">
              <a:ext uri="{FF2B5EF4-FFF2-40B4-BE49-F238E27FC236}">
                <a16:creationId xmlns:a16="http://schemas.microsoft.com/office/drawing/2014/main" id="{DAB0C1EE-B26C-442A-A049-E73026A6E6B0}"/>
              </a:ext>
            </a:extLst>
          </p:cNvPr>
          <p:cNvSpPr>
            <a:spLocks xmlns:a="http://schemas.openxmlformats.org/drawingml/2006/main" noGrp="1"/>
          </p:cNvSpPr>
          <p:nvPr/>
        </p:nvSpPr>
        <p:spPr>
          <a:xfrm xmlns:a="http://schemas.openxmlformats.org/drawingml/2006/main">
            <a:off x="685800" y="6505575"/>
            <a:ext cx="952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0">
                <a:solidFill>
                  <a:srgbClr val="66736C"/>
                </a:solidFill>
                <a:latin typeface="Arial"/>
                <a:ea typeface="Arial"/>
                <a:cs typeface="Arial"/>
              </a:defRPr>
            </a:defPPr>
          </a:lstStyle>
          <a:p xmlns:a="http://schemas.openxmlformats.org/drawingml/2006/main">
            <a:pPr algn="l">
              <a:defRPr sz="900" b="0">
                <a:solidFill>
                  <a:srgbClr val="66736C"/>
                </a:solidFill>
                <a:latin typeface="Arial"/>
                <a:ea typeface="Arial"/>
                <a:cs typeface="Arial"/>
              </a:defRPr>
            </a:pPr>
            <a:r>
              <a:rPr sz="900" b="0">
                <a:solidFill>
                  <a:srgbClr val="66736C"/>
                </a:solidFill>
                <a:latin typeface="Arial"/>
                <a:ea typeface="Arial"/>
                <a:cs typeface="Arial"/>
              </a:rPr>
              <a:t>ASPECT  /  PROJECT REFERENCE  /  1.0.0</a:t>
            </a:r>
          </a:p>
        </p:txBody>
      </p:sp>
      <p:sp>
        <p:nvSpPr>
          <p:cNvPr id="4" name="page-number">
            <a:extLst xmlns:a="http://schemas.openxmlformats.org/drawingml/2006/main">
              <a:ext uri="{FF2B5EF4-FFF2-40B4-BE49-F238E27FC236}">
                <a16:creationId xmlns:a16="http://schemas.microsoft.com/office/drawing/2014/main" id="{096DE808-A922-48D4-A55C-790AB0603EE4}"/>
              </a:ext>
            </a:extLst>
          </p:cNvPr>
          <p:cNvSpPr>
            <a:spLocks xmlns:a="http://schemas.openxmlformats.org/drawingml/2006/main" noGrp="1"/>
          </p:cNvSpPr>
          <p:nvPr/>
        </p:nvSpPr>
        <p:spPr>
          <a:xfrm xmlns:a="http://schemas.openxmlformats.org/drawingml/2006/main">
            <a:off x="10620375" y="6505575"/>
            <a:ext cx="8858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a:solidFill>
                  <a:srgbClr val="66736C"/>
                </a:solidFill>
                <a:latin typeface="Arial"/>
                <a:ea typeface="Arial"/>
                <a:cs typeface="Arial"/>
              </a:defRPr>
            </a:defPPr>
          </a:lstStyle>
          <a:p xmlns:a="http://schemas.openxmlformats.org/drawingml/2006/main">
            <a:pPr algn="r">
              <a:defRPr sz="900" b="0">
                <a:solidFill>
                  <a:srgbClr val="66736C"/>
                </a:solidFill>
                <a:latin typeface="Arial"/>
                <a:ea typeface="Arial"/>
                <a:cs typeface="Arial"/>
              </a:defRPr>
            </a:pPr>
            <a:r>
              <a:rPr sz="900" b="0">
                <a:solidFill>
                  <a:srgbClr val="66736C"/>
                </a:solidFill>
                <a:latin typeface="Arial"/>
                <a:ea typeface="Arial"/>
                <a:cs typeface="Arial"/>
              </a:rPr>
              <a:t>27 / 52</a:t>
            </a:r>
          </a:p>
        </p:txBody>
      </p:sp>
      <p:sp>
        <p:nvSpPr>
          <p:cNvPr id="5" name="context-note">
            <a:extLst xmlns:a="http://schemas.openxmlformats.org/drawingml/2006/main">
              <a:ext uri="{FF2B5EF4-FFF2-40B4-BE49-F238E27FC236}">
                <a16:creationId xmlns:a16="http://schemas.microsoft.com/office/drawing/2014/main" id="{B768A2CE-3226-4DDD-80AB-FC44F96AA90C}"/>
              </a:ext>
            </a:extLst>
          </p:cNvPr>
          <p:cNvSpPr>
            <a:spLocks xmlns:a="http://schemas.openxmlformats.org/drawingml/2006/main" noGrp="1"/>
          </p:cNvSpPr>
          <p:nvPr/>
        </p:nvSpPr>
        <p:spPr>
          <a:xfrm xmlns:a="http://schemas.openxmlformats.org/drawingml/2006/main">
            <a:off x="685800" y="5924550"/>
            <a:ext cx="108204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39725C"/>
                </a:solidFill>
                <a:latin typeface="Arial"/>
                <a:ea typeface="Arial"/>
                <a:cs typeface="Arial"/>
              </a:defRPr>
            </a:defPPr>
          </a:lstStyle>
          <a:p xmlns:a="http://schemas.openxmlformats.org/drawingml/2006/main">
            <a:pPr algn="l">
              <a:defRPr sz="1725" b="0">
                <a:solidFill>
                  <a:srgbClr val="39725C"/>
                </a:solidFill>
                <a:latin typeface="Arial"/>
                <a:ea typeface="Arial"/>
                <a:cs typeface="Arial"/>
              </a:defRPr>
            </a:pPr>
            <a:r>
              <a:rPr sz="1725" b="0">
                <a:solidFill>
                  <a:srgbClr val="39725C"/>
                </a:solidFill>
                <a:latin typeface="Arial"/>
                <a:ea typeface="Arial"/>
                <a:cs typeface="Arial"/>
              </a:rPr>
              <a:t>The recorded local artifact is tfidf-db3871146fbb. Its training set contains 199 sentences.</a:t>
            </a:r>
          </a:p>
        </p:txBody>
      </p:sp>
      <p:sp>
        <p:nvSpPr>
          <p:cNvPr id="6" name="column-label-0">
            <a:extLst xmlns:a="http://schemas.openxmlformats.org/drawingml/2006/main">
              <a:ext uri="{FF2B5EF4-FFF2-40B4-BE49-F238E27FC236}">
                <a16:creationId xmlns:a16="http://schemas.microsoft.com/office/drawing/2014/main" id="{17F14ACB-34D4-48A4-B69F-02F081D9B758}"/>
              </a:ext>
            </a:extLst>
          </p:cNvPr>
          <p:cNvSpPr>
            <a:spLocks xmlns:a="http://schemas.openxmlformats.org/drawingml/2006/main" noGrp="1"/>
          </p:cNvSpPr>
          <p:nvPr/>
        </p:nvSpPr>
        <p:spPr>
          <a:xfrm xmlns:a="http://schemas.openxmlformats.org/drawingml/2006/main">
            <a:off x="685800" y="1905000"/>
            <a:ext cx="52006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39725C"/>
                </a:solidFill>
                <a:latin typeface="Arial"/>
                <a:ea typeface="Arial"/>
                <a:cs typeface="Arial"/>
              </a:defRPr>
            </a:defPPr>
          </a:lstStyle>
          <a:p xmlns:a="http://schemas.openxmlformats.org/drawingml/2006/main">
            <a:pPr algn="l">
              <a:defRPr sz="2175" b="1">
                <a:solidFill>
                  <a:srgbClr val="39725C"/>
                </a:solidFill>
                <a:latin typeface="Arial"/>
                <a:ea typeface="Arial"/>
                <a:cs typeface="Arial"/>
              </a:defRPr>
            </a:pPr>
            <a:r>
              <a:rPr sz="2175" b="1">
                <a:solidFill>
                  <a:srgbClr val="39725C"/>
                </a:solidFill>
                <a:latin typeface="Arial"/>
                <a:ea typeface="Arial"/>
                <a:cs typeface="Arial"/>
              </a:rPr>
              <a:t>Training</a:t>
            </a:r>
          </a:p>
        </p:txBody>
      </p:sp>
      <p:sp>
        <p:nvSpPr>
          <p:cNvPr id="7" name="column-copy-0">
            <a:extLst xmlns:a="http://schemas.openxmlformats.org/drawingml/2006/main">
              <a:ext uri="{FF2B5EF4-FFF2-40B4-BE49-F238E27FC236}">
                <a16:creationId xmlns:a16="http://schemas.microsoft.com/office/drawing/2014/main" id="{D7BCB74F-8603-4BC5-A99D-765F16975A2A}"/>
              </a:ext>
            </a:extLst>
          </p:cNvPr>
          <p:cNvSpPr>
            <a:spLocks xmlns:a="http://schemas.openxmlformats.org/drawingml/2006/main" noGrp="1"/>
          </p:cNvSpPr>
          <p:nvPr/>
        </p:nvSpPr>
        <p:spPr>
          <a:xfrm xmlns:a="http://schemas.openxmlformats.org/drawingml/2006/main">
            <a:off x="685800" y="2552700"/>
            <a:ext cx="520065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26332E"/>
                </a:solidFill>
                <a:latin typeface="Arial"/>
                <a:ea typeface="Arial"/>
                <a:cs typeface="Arial"/>
              </a:defRPr>
            </a:defPPr>
          </a:lstStyle>
          <a:p xmlns:a="http://schemas.openxmlformats.org/drawingml/2006/main">
            <a:pPr algn="l">
              <a:defRPr sz="2175" b="0">
                <a:solidFill>
                  <a:srgbClr val="26332E"/>
                </a:solidFill>
                <a:latin typeface="Arial"/>
                <a:ea typeface="Arial"/>
                <a:cs typeface="Arial"/>
              </a:defRPr>
            </a:pPr>
            <a:r>
              <a:rPr sz="2175" b="0">
                <a:solidFill>
                  <a:srgbClr val="26332E"/>
                </a:solidFill>
                <a:latin typeface="Arial"/>
                <a:ea typeface="Arial"/>
                <a:cs typeface="Arial"/>
              </a:rPr>
              <a:t>One balanced logistic classifier learns absent, positive, negative, neutral and mixed for each of the ten categories.</a:t>
            </a:r>
          </a:p>
        </p:txBody>
      </p:sp>
      <p:sp>
        <p:nvSpPr>
          <p:cNvPr id="8" name="column-label-1">
            <a:extLst xmlns:a="http://schemas.openxmlformats.org/drawingml/2006/main">
              <a:ext uri="{FF2B5EF4-FFF2-40B4-BE49-F238E27FC236}">
                <a16:creationId xmlns:a16="http://schemas.microsoft.com/office/drawing/2014/main" id="{98348F2C-B7A7-4E36-87CF-9F00CA284B24}"/>
              </a:ext>
            </a:extLst>
          </p:cNvPr>
          <p:cNvSpPr>
            <a:spLocks xmlns:a="http://schemas.openxmlformats.org/drawingml/2006/main" noGrp="1"/>
          </p:cNvSpPr>
          <p:nvPr/>
        </p:nvSpPr>
        <p:spPr>
          <a:xfrm xmlns:a="http://schemas.openxmlformats.org/drawingml/2006/main">
            <a:off x="6305550" y="1905000"/>
            <a:ext cx="52006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39725C"/>
                </a:solidFill>
                <a:latin typeface="Arial"/>
                <a:ea typeface="Arial"/>
                <a:cs typeface="Arial"/>
              </a:defRPr>
            </a:defPPr>
          </a:lstStyle>
          <a:p xmlns:a="http://schemas.openxmlformats.org/drawingml/2006/main">
            <a:pPr algn="l">
              <a:defRPr sz="2175" b="1">
                <a:solidFill>
                  <a:srgbClr val="39725C"/>
                </a:solidFill>
                <a:latin typeface="Arial"/>
                <a:ea typeface="Arial"/>
                <a:cs typeface="Arial"/>
              </a:defRPr>
            </a:pPr>
            <a:r>
              <a:rPr sz="2175" b="1">
                <a:solidFill>
                  <a:srgbClr val="39725C"/>
                </a:solidFill>
                <a:latin typeface="Arial"/>
                <a:ea typeface="Arial"/>
                <a:cs typeface="Arial"/>
              </a:rPr>
              <a:t>Configuration</a:t>
            </a:r>
          </a:p>
        </p:txBody>
      </p:sp>
      <p:sp>
        <p:nvSpPr>
          <p:cNvPr id="9" name="column-copy-1">
            <a:extLst xmlns:a="http://schemas.openxmlformats.org/drawingml/2006/main">
              <a:ext uri="{FF2B5EF4-FFF2-40B4-BE49-F238E27FC236}">
                <a16:creationId xmlns:a16="http://schemas.microsoft.com/office/drawing/2014/main" id="{CB24C89D-D8D7-4A95-90C5-8F0E21A96B12}"/>
              </a:ext>
            </a:extLst>
          </p:cNvPr>
          <p:cNvSpPr>
            <a:spLocks xmlns:a="http://schemas.openxmlformats.org/drawingml/2006/main" noGrp="1"/>
          </p:cNvSpPr>
          <p:nvPr/>
        </p:nvSpPr>
        <p:spPr>
          <a:xfrm xmlns:a="http://schemas.openxmlformats.org/drawingml/2006/main">
            <a:off x="6305550" y="2552700"/>
            <a:ext cx="520065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26332E"/>
                </a:solidFill>
                <a:latin typeface="Arial"/>
                <a:ea typeface="Arial"/>
                <a:cs typeface="Arial"/>
              </a:defRPr>
            </a:defPPr>
          </a:lstStyle>
          <a:p xmlns:a="http://schemas.openxmlformats.org/drawingml/2006/main">
            <a:pPr algn="l">
              <a:defRPr sz="2175" b="0">
                <a:solidFill>
                  <a:srgbClr val="26332E"/>
                </a:solidFill>
                <a:latin typeface="Arial"/>
                <a:ea typeface="Arial"/>
                <a:cs typeface="Arial"/>
              </a:defRPr>
            </a:pPr>
            <a:r>
              <a:rPr sz="2175" b="0">
                <a:solidFill>
                  <a:srgbClr val="26332E"/>
                </a:solidFill>
                <a:latin typeface="Arial"/>
                <a:ea typeface="Arial"/>
                <a:cs typeface="Arial"/>
              </a:rPr>
              <a:t>Word uni/bigrams, C = 1, seed 42 and up to 1,000 solver iterations. A single observed state uses a constant classifier.</a:t>
            </a:r>
          </a:p>
        </p:txBody>
      </p:sp>
    </p:spTree>
    <p:extLst>
      <p:ext uri="{BB962C8B-B14F-4D97-AF65-F5344CB8AC3E}">
        <p14:creationId xmlns:p14="http://schemas.microsoft.com/office/powerpoint/2010/main" val="718687742"/>
      </p:ext>
    </p:extLst>
  </p:cSld>
</p:sld>
</file>

<file path=ppt/slides/slide28.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7" name="chapter">
            <a:extLst xmlns:a="http://schemas.openxmlformats.org/drawingml/2006/main">
              <a:ext uri="{FF2B5EF4-FFF2-40B4-BE49-F238E27FC236}">
                <a16:creationId xmlns:a16="http://schemas.microsoft.com/office/drawing/2014/main" id="{6DA157EE-6EFC-4E64-8323-6014E65E09E3}"/>
              </a:ext>
            </a:extLst>
          </p:cNvPr>
          <p:cNvSpPr>
            <a:spLocks xmlns:a="http://schemas.openxmlformats.org/drawingml/2006/main" noGrp="1"/>
          </p:cNvSpPr>
          <p:nvPr/>
        </p:nvSpPr>
        <p:spPr>
          <a:xfrm xmlns:a="http://schemas.openxmlformats.org/drawingml/2006/main">
            <a:off x="685800" y="381000"/>
            <a:ext cx="933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39725C"/>
                </a:solidFill>
                <a:latin typeface="Arial"/>
                <a:ea typeface="Arial"/>
                <a:cs typeface="Arial"/>
              </a:defRPr>
            </a:defPPr>
          </a:lstStyle>
          <a:p xmlns:a="http://schemas.openxmlformats.org/drawingml/2006/main">
            <a:pPr algn="l">
              <a:defRPr sz="1200" b="1">
                <a:solidFill>
                  <a:srgbClr val="39725C"/>
                </a:solidFill>
                <a:latin typeface="Arial"/>
                <a:ea typeface="Arial"/>
                <a:cs typeface="Arial"/>
              </a:defRPr>
            </a:pPr>
            <a:r>
              <a:rPr sz="1200" b="1">
                <a:solidFill>
                  <a:srgbClr val="39725C"/>
                </a:solidFill>
                <a:latin typeface="Arial"/>
                <a:ea typeface="Arial"/>
                <a:cs typeface="Arial"/>
              </a:rPr>
              <a:t>THE MODELS</a:t>
            </a:r>
          </a:p>
        </p:txBody>
      </p:sp>
      <p:sp>
        <p:nvSpPr>
          <p:cNvPr id="2" name="primary-heading">
            <a:extLst xmlns:a="http://schemas.openxmlformats.org/drawingml/2006/main">
              <a:ext uri="{FF2B5EF4-FFF2-40B4-BE49-F238E27FC236}">
                <a16:creationId xmlns:a16="http://schemas.microsoft.com/office/drawing/2014/main" id="{59ED4751-0FFC-478F-9354-01FEFEEC1C3A}"/>
              </a:ext>
            </a:extLst>
          </p:cNvPr>
          <p:cNvSpPr>
            <a:spLocks xmlns:a="http://schemas.openxmlformats.org/drawingml/2006/main" noGrp="1"/>
          </p:cNvSpPr>
          <p:nvPr/>
        </p:nvSpPr>
        <p:spPr>
          <a:xfrm xmlns:a="http://schemas.openxmlformats.org/drawingml/2006/main">
            <a:off x="685800" y="83820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6332E"/>
                </a:solidFill>
                <a:latin typeface="Arial"/>
                <a:ea typeface="Arial"/>
                <a:cs typeface="Arial"/>
              </a:defRPr>
            </a:defPPr>
          </a:lstStyle>
          <a:p xmlns:a="http://schemas.openxmlformats.org/drawingml/2006/main">
            <a:pPr algn="l">
              <a:defRPr sz="3300" b="1">
                <a:solidFill>
                  <a:srgbClr val="26332E"/>
                </a:solidFill>
                <a:latin typeface="Arial"/>
                <a:ea typeface="Arial"/>
                <a:cs typeface="Arial"/>
              </a:defRPr>
            </a:pPr>
            <a:r>
              <a:rPr sz="3300" b="1">
                <a:solidFill>
                  <a:srgbClr val="26332E"/>
                </a:solidFill>
                <a:latin typeface="Arial"/>
                <a:ea typeface="Arial"/>
                <a:cs typeface="Arial"/>
              </a:rPr>
              <a:t>Two-stage TF-IDF separates presence from sentiment</a:t>
            </a:r>
          </a:p>
        </p:txBody>
      </p:sp>
      <p:sp>
        <p:nvSpPr>
          <p:cNvPr id="3" name="footer-label">
            <a:extLst xmlns:a="http://schemas.openxmlformats.org/drawingml/2006/main">
              <a:ext uri="{FF2B5EF4-FFF2-40B4-BE49-F238E27FC236}">
                <a16:creationId xmlns:a16="http://schemas.microsoft.com/office/drawing/2014/main" id="{05521120-ED6A-438E-9BDD-9EC457D3A883}"/>
              </a:ext>
            </a:extLst>
          </p:cNvPr>
          <p:cNvSpPr>
            <a:spLocks xmlns:a="http://schemas.openxmlformats.org/drawingml/2006/main" noGrp="1"/>
          </p:cNvSpPr>
          <p:nvPr/>
        </p:nvSpPr>
        <p:spPr>
          <a:xfrm xmlns:a="http://schemas.openxmlformats.org/drawingml/2006/main">
            <a:off x="685800" y="6505575"/>
            <a:ext cx="952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0">
                <a:solidFill>
                  <a:srgbClr val="66736C"/>
                </a:solidFill>
                <a:latin typeface="Arial"/>
                <a:ea typeface="Arial"/>
                <a:cs typeface="Arial"/>
              </a:defRPr>
            </a:defPPr>
          </a:lstStyle>
          <a:p xmlns:a="http://schemas.openxmlformats.org/drawingml/2006/main">
            <a:pPr algn="l">
              <a:defRPr sz="900" b="0">
                <a:solidFill>
                  <a:srgbClr val="66736C"/>
                </a:solidFill>
                <a:latin typeface="Arial"/>
                <a:ea typeface="Arial"/>
                <a:cs typeface="Arial"/>
              </a:defRPr>
            </a:pPr>
            <a:r>
              <a:rPr sz="900" b="0">
                <a:solidFill>
                  <a:srgbClr val="66736C"/>
                </a:solidFill>
                <a:latin typeface="Arial"/>
                <a:ea typeface="Arial"/>
                <a:cs typeface="Arial"/>
              </a:rPr>
              <a:t>ASPECT  /  PROJECT REFERENCE  /  1.0.0</a:t>
            </a:r>
          </a:p>
        </p:txBody>
      </p:sp>
      <p:sp>
        <p:nvSpPr>
          <p:cNvPr id="4" name="page-number">
            <a:extLst xmlns:a="http://schemas.openxmlformats.org/drawingml/2006/main">
              <a:ext uri="{FF2B5EF4-FFF2-40B4-BE49-F238E27FC236}">
                <a16:creationId xmlns:a16="http://schemas.microsoft.com/office/drawing/2014/main" id="{AEC6B06E-6FE3-4E85-BA49-AEA53A79946F}"/>
              </a:ext>
            </a:extLst>
          </p:cNvPr>
          <p:cNvSpPr>
            <a:spLocks xmlns:a="http://schemas.openxmlformats.org/drawingml/2006/main" noGrp="1"/>
          </p:cNvSpPr>
          <p:nvPr/>
        </p:nvSpPr>
        <p:spPr>
          <a:xfrm xmlns:a="http://schemas.openxmlformats.org/drawingml/2006/main">
            <a:off x="10620375" y="6505575"/>
            <a:ext cx="8858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a:solidFill>
                  <a:srgbClr val="66736C"/>
                </a:solidFill>
                <a:latin typeface="Arial"/>
                <a:ea typeface="Arial"/>
                <a:cs typeface="Arial"/>
              </a:defRPr>
            </a:defPPr>
          </a:lstStyle>
          <a:p xmlns:a="http://schemas.openxmlformats.org/drawingml/2006/main">
            <a:pPr algn="r">
              <a:defRPr sz="900" b="0">
                <a:solidFill>
                  <a:srgbClr val="66736C"/>
                </a:solidFill>
                <a:latin typeface="Arial"/>
                <a:ea typeface="Arial"/>
                <a:cs typeface="Arial"/>
              </a:defRPr>
            </a:pPr>
            <a:r>
              <a:rPr sz="900" b="0">
                <a:solidFill>
                  <a:srgbClr val="66736C"/>
                </a:solidFill>
                <a:latin typeface="Arial"/>
                <a:ea typeface="Arial"/>
                <a:cs typeface="Arial"/>
              </a:rPr>
              <a:t>28 / 52</a:t>
            </a:r>
          </a:p>
        </p:txBody>
      </p:sp>
      <p:sp>
        <p:nvSpPr>
          <p:cNvPr id="5" name="context-note">
            <a:extLst xmlns:a="http://schemas.openxmlformats.org/drawingml/2006/main">
              <a:ext uri="{FF2B5EF4-FFF2-40B4-BE49-F238E27FC236}">
                <a16:creationId xmlns:a16="http://schemas.microsoft.com/office/drawing/2014/main" id="{BC737D22-9F6E-4D1C-A110-3F86A47308D8}"/>
              </a:ext>
            </a:extLst>
          </p:cNvPr>
          <p:cNvSpPr>
            <a:spLocks xmlns:a="http://schemas.openxmlformats.org/drawingml/2006/main" noGrp="1"/>
          </p:cNvSpPr>
          <p:nvPr/>
        </p:nvSpPr>
        <p:spPr>
          <a:xfrm xmlns:a="http://schemas.openxmlformats.org/drawingml/2006/main">
            <a:off x="685800" y="5924550"/>
            <a:ext cx="108204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39725C"/>
                </a:solidFill>
                <a:latin typeface="Arial"/>
                <a:ea typeface="Arial"/>
                <a:cs typeface="Arial"/>
              </a:defRPr>
            </a:defPPr>
          </a:lstStyle>
          <a:p xmlns:a="http://schemas.openxmlformats.org/drawingml/2006/main">
            <a:pPr algn="l">
              <a:defRPr sz="1725" b="0">
                <a:solidFill>
                  <a:srgbClr val="39725C"/>
                </a:solidFill>
                <a:latin typeface="Arial"/>
                <a:ea typeface="Arial"/>
                <a:cs typeface="Arial"/>
              </a:defRPr>
            </a:pPr>
            <a:r>
              <a:rPr sz="1725" b="0">
                <a:solidFill>
                  <a:srgbClr val="39725C"/>
                </a:solidFill>
                <a:latin typeface="Arial"/>
                <a:ea typeface="Arial"/>
                <a:cs typeface="Arial"/>
              </a:rPr>
              <a:t>Word and character features, C = 1 and the default presence boundary. No diagnostic threshold search.</a:t>
            </a:r>
          </a:p>
        </p:txBody>
      </p:sp>
      <p:graphicFrame>
        <p:nvGraphicFramePr>
          <p:cNvPr id="6" name="">
            <a:extLst xmlns:a="http://schemas.openxmlformats.org/drawingml/2006/main">
              <a:ext uri="{FF2B5EF4-FFF2-40B4-BE49-F238E27FC236}">
                <a16:creationId xmlns:a16="http://schemas.microsoft.com/office/drawing/2014/main" id="{F5101741-02F9-43B1-ABB3-551D6DE0119D}"/>
              </a:ext>
            </a:extLst>
          </p:cNvPr>
          <p:cNvGraphicFramePr/>
          <p:nvPr/>
        </p:nvGraphicFramePr>
        <p:xfrm>
          <a:off xmlns:a="http://schemas.openxmlformats.org/drawingml/2006/main" x="685800" y="1714500"/>
          <a:ext xmlns:a="http://schemas.openxmlformats.org/drawingml/2006/main" cx="10820400" cy="3543300"/>
        </p:xfrm>
        <a:graphic xmlns:a="http://schemas.openxmlformats.org/drawingml/2006/main">
          <a:graphicData uri="http://schemas.openxmlformats.org/drawingml/2006/table">
            <a:tbl>
              <a:tblPr firstRow="1" firstCol="0" lastCol="0" bandRow="0"/>
              <a:tblGrid>
                <a:gridCol w="2476500"/>
                <a:gridCol w="4095750"/>
                <a:gridCol w="4248150"/>
              </a:tblGrid>
              <a:tr h="419100">
                <a:tc>
                  <a:txBody>
                    <a:bodyPr wrap="square">
                      <a:noAutofit/>
                    </a:bodyPr>
                    <a:lstStyle/>
                    <a:p>
                      <a:r>
                        <a:rPr sz="1650" b="1">
                          <a:solidFill>
                            <a:srgbClr val="FFFFFF"/>
                          </a:solidFill>
                          <a:latin typeface="Arial"/>
                          <a:ea typeface="Arial"/>
                          <a:cs typeface="Arial"/>
                        </a:rPr>
                        <a:t>Stage</a:t>
                      </a:r>
                    </a:p>
                  </a:txBody>
                  <a:tcPr marL="114300" marR="114300" marT="47625" marB="47625" anchor="ctr">
                    <a:lnL w="6668">
                      <a:solidFill>
                        <a:srgbClr val="DCE3DA"/>
                      </a:solidFill>
                      <a:prstDash val="solid"/>
                    </a:lnL>
                    <a:lnR w="6668">
                      <a:solidFill>
                        <a:srgbClr val="DCE3DA"/>
                      </a:solidFill>
                      <a:prstDash val="solid"/>
                    </a:lnR>
                    <a:lnT w="6668">
                      <a:solidFill>
                        <a:srgbClr val="DCE3DA"/>
                      </a:solidFill>
                      <a:prstDash val="solid"/>
                    </a:lnT>
                    <a:lnB w="6668">
                      <a:solidFill>
                        <a:srgbClr val="DCE3DA"/>
                      </a:solidFill>
                      <a:prstDash val="solid"/>
                    </a:lnB>
                    <a:solidFill>
                      <a:srgbClr val="39725C"/>
                    </a:solidFill>
                  </a:tcPr>
                </a:tc>
                <a:tc>
                  <a:txBody>
                    <a:bodyPr wrap="square">
                      <a:noAutofit/>
                    </a:bodyPr>
                    <a:lstStyle/>
                    <a:p>
                      <a:r>
                        <a:rPr sz="1650" b="1">
                          <a:solidFill>
                            <a:srgbClr val="FFFFFF"/>
                          </a:solidFill>
                          <a:latin typeface="Arial"/>
                          <a:ea typeface="Arial"/>
                          <a:cs typeface="Arial"/>
                        </a:rPr>
                        <a:t>Training target</a:t>
                      </a:r>
                    </a:p>
                  </a:txBody>
                  <a:tcPr marL="114300" marR="114300" marT="47625" marB="47625" anchor="ctr">
                    <a:lnR w="6668">
                      <a:solidFill>
                        <a:srgbClr val="DCE3DA"/>
                      </a:solidFill>
                      <a:prstDash val="solid"/>
                    </a:lnR>
                    <a:lnT w="6668">
                      <a:solidFill>
                        <a:srgbClr val="DCE3DA"/>
                      </a:solidFill>
                      <a:prstDash val="solid"/>
                    </a:lnT>
                    <a:lnB w="6668">
                      <a:solidFill>
                        <a:srgbClr val="DCE3DA"/>
                      </a:solidFill>
                      <a:prstDash val="solid"/>
                    </a:lnB>
                    <a:solidFill>
                      <a:srgbClr val="39725C"/>
                    </a:solidFill>
                  </a:tcPr>
                </a:tc>
                <a:tc>
                  <a:txBody>
                    <a:bodyPr wrap="square">
                      <a:noAutofit/>
                    </a:bodyPr>
                    <a:lstStyle/>
                    <a:p>
                      <a:r>
                        <a:rPr sz="1650" b="1">
                          <a:solidFill>
                            <a:srgbClr val="FFFFFF"/>
                          </a:solidFill>
                          <a:latin typeface="Arial"/>
                          <a:ea typeface="Arial"/>
                          <a:cs typeface="Arial"/>
                        </a:rPr>
                        <a:t>Prediction role</a:t>
                      </a:r>
                    </a:p>
                  </a:txBody>
                  <a:tcPr marL="114300" marR="114300" marT="47625" marB="47625" anchor="ctr">
                    <a:lnR w="6668">
                      <a:solidFill>
                        <a:srgbClr val="DCE3DA"/>
                      </a:solidFill>
                      <a:prstDash val="solid"/>
                    </a:lnR>
                    <a:lnT w="6668">
                      <a:solidFill>
                        <a:srgbClr val="DCE3DA"/>
                      </a:solidFill>
                      <a:prstDash val="solid"/>
                    </a:lnT>
                    <a:lnB w="6668">
                      <a:solidFill>
                        <a:srgbClr val="DCE3DA"/>
                      </a:solidFill>
                      <a:prstDash val="solid"/>
                    </a:lnB>
                    <a:solidFill>
                      <a:srgbClr val="39725C"/>
                    </a:solidFill>
                  </a:tcPr>
                </a:tc>
              </a:tr>
              <a:tr h="781050">
                <a:tc>
                  <a:txBody>
                    <a:bodyPr wrap="square">
                      <a:noAutofit/>
                    </a:bodyPr>
                    <a:lstStyle/>
                    <a:p>
                      <a:r>
                        <a:rPr sz="1725" b="1">
                          <a:solidFill>
                            <a:srgbClr val="26332E"/>
                          </a:solidFill>
                          <a:latin typeface="Arial"/>
                          <a:ea typeface="Arial"/>
                          <a:cs typeface="Arial"/>
                        </a:rPr>
                        <a:t>1. Presence</a:t>
                      </a:r>
                    </a:p>
                  </a:txBody>
                  <a:tcPr marL="114300" marR="114300" marT="47625" marB="47625" anchor="ctr">
                    <a:lnL w="6668">
                      <a:solidFill>
                        <a:srgbClr val="DCE3DA"/>
                      </a:solidFill>
                      <a:prstDash val="solid"/>
                    </a:lnL>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Present versus absent for each category</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Decide whether sentiment classification is needed.</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r>
              <a:tr h="781050">
                <a:tc>
                  <a:txBody>
                    <a:bodyPr wrap="square">
                      <a:noAutofit/>
                    </a:bodyPr>
                    <a:lstStyle/>
                    <a:p>
                      <a:r>
                        <a:rPr sz="1725" b="1">
                          <a:solidFill>
                            <a:srgbClr val="26332E"/>
                          </a:solidFill>
                          <a:latin typeface="Arial"/>
                          <a:ea typeface="Arial"/>
                          <a:cs typeface="Arial"/>
                        </a:rPr>
                        <a:t>2. Sentiment</a:t>
                      </a:r>
                    </a:p>
                  </a:txBody>
                  <a:tcPr marL="114300" marR="114300" marT="47625" marB="47625" anchor="ctr">
                    <a:lnL w="6668">
                      <a:solidFill>
                        <a:srgbClr val="DCE3DA"/>
                      </a:solidFill>
                      <a:prstDash val="solid"/>
                    </a:lnL>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Only the present training examples</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Predict positive, negative, neutral or mixed.</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r>
              <a:tr h="781050">
                <a:tc>
                  <a:txBody>
                    <a:bodyPr wrap="square">
                      <a:noAutofit/>
                    </a:bodyPr>
                    <a:lstStyle/>
                    <a:p>
                      <a:r>
                        <a:rPr sz="1725" b="1">
                          <a:solidFill>
                            <a:srgbClr val="26332E"/>
                          </a:solidFill>
                          <a:latin typeface="Arial"/>
                          <a:ea typeface="Arial"/>
                          <a:cs typeface="Arial"/>
                        </a:rPr>
                        <a:t>No present examples</a:t>
                      </a:r>
                    </a:p>
                  </a:txBody>
                  <a:tcPr marL="114300" marR="114300" marT="47625" marB="47625" anchor="ctr">
                    <a:lnL w="6668">
                      <a:solidFill>
                        <a:srgbClr val="DCE3DA"/>
                      </a:solidFill>
                      <a:prstDash val="solid"/>
                    </a:lnL>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A disclosed constant presence outcome</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Return absent for that category.</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r>
              <a:tr h="781050">
                <a:tc>
                  <a:txBody>
                    <a:bodyPr wrap="square">
                      <a:noAutofit/>
                    </a:bodyPr>
                    <a:lstStyle/>
                    <a:p>
                      <a:r>
                        <a:rPr sz="1725" b="1">
                          <a:solidFill>
                            <a:srgbClr val="26332E"/>
                          </a:solidFill>
                          <a:latin typeface="Arial"/>
                          <a:ea typeface="Arial"/>
                          <a:cs typeface="Arial"/>
                        </a:rPr>
                        <a:t>One sentiment observed</a:t>
                      </a:r>
                    </a:p>
                  </a:txBody>
                  <a:tcPr marL="114300" marR="114300" marT="47625" marB="47625" anchor="ctr">
                    <a:lnL w="6668">
                      <a:solidFill>
                        <a:srgbClr val="DCE3DA"/>
                      </a:solidFill>
                      <a:prstDash val="solid"/>
                    </a:lnL>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A constant sentiment classifier</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Return the only learned present state when present.</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r>
            </a:tbl>
          </a:graphicData>
        </a:graphic>
      </p:graphicFrame>
    </p:spTree>
    <p:extLst>
      <p:ext uri="{BB962C8B-B14F-4D97-AF65-F5344CB8AC3E}">
        <p14:creationId xmlns:p14="http://schemas.microsoft.com/office/powerpoint/2010/main" val="182553339"/>
      </p:ext>
    </p:extLst>
  </p:cSld>
</p:sld>
</file>

<file path=ppt/slides/slide29.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6" name="chapter">
            <a:extLst xmlns:a="http://schemas.openxmlformats.org/drawingml/2006/main">
              <a:ext uri="{FF2B5EF4-FFF2-40B4-BE49-F238E27FC236}">
                <a16:creationId xmlns:a16="http://schemas.microsoft.com/office/drawing/2014/main" id="{10B87ECB-A539-4215-8C14-2AAA0B15F321}"/>
              </a:ext>
            </a:extLst>
          </p:cNvPr>
          <p:cNvSpPr>
            <a:spLocks xmlns:a="http://schemas.openxmlformats.org/drawingml/2006/main" noGrp="1"/>
          </p:cNvSpPr>
          <p:nvPr/>
        </p:nvSpPr>
        <p:spPr>
          <a:xfrm xmlns:a="http://schemas.openxmlformats.org/drawingml/2006/main">
            <a:off x="685800" y="381000"/>
            <a:ext cx="933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39725C"/>
                </a:solidFill>
                <a:latin typeface="Arial"/>
                <a:ea typeface="Arial"/>
                <a:cs typeface="Arial"/>
              </a:defRPr>
            </a:defPPr>
          </a:lstStyle>
          <a:p xmlns:a="http://schemas.openxmlformats.org/drawingml/2006/main">
            <a:pPr algn="l">
              <a:defRPr sz="1200" b="1">
                <a:solidFill>
                  <a:srgbClr val="39725C"/>
                </a:solidFill>
                <a:latin typeface="Arial"/>
                <a:ea typeface="Arial"/>
                <a:cs typeface="Arial"/>
              </a:defRPr>
            </a:pPr>
            <a:r>
              <a:rPr sz="1200" b="1">
                <a:solidFill>
                  <a:srgbClr val="39725C"/>
                </a:solidFill>
                <a:latin typeface="Arial"/>
                <a:ea typeface="Arial"/>
                <a:cs typeface="Arial"/>
              </a:rPr>
              <a:t>REPRODUCIBILITY</a:t>
            </a:r>
          </a:p>
        </p:txBody>
      </p:sp>
      <p:sp>
        <p:nvSpPr>
          <p:cNvPr id="2" name="primary-heading">
            <a:extLst xmlns:a="http://schemas.openxmlformats.org/drawingml/2006/main">
              <a:ext uri="{FF2B5EF4-FFF2-40B4-BE49-F238E27FC236}">
                <a16:creationId xmlns:a16="http://schemas.microsoft.com/office/drawing/2014/main" id="{242421E3-DD23-4D7B-BF46-6D86584EBC5E}"/>
              </a:ext>
            </a:extLst>
          </p:cNvPr>
          <p:cNvSpPr>
            <a:spLocks xmlns:a="http://schemas.openxmlformats.org/drawingml/2006/main" noGrp="1"/>
          </p:cNvSpPr>
          <p:nvPr/>
        </p:nvSpPr>
        <p:spPr>
          <a:xfrm xmlns:a="http://schemas.openxmlformats.org/drawingml/2006/main">
            <a:off x="685800" y="83820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6332E"/>
                </a:solidFill>
                <a:latin typeface="Arial"/>
                <a:ea typeface="Arial"/>
                <a:cs typeface="Arial"/>
              </a:defRPr>
            </a:defPPr>
          </a:lstStyle>
          <a:p xmlns:a="http://schemas.openxmlformats.org/drawingml/2006/main">
            <a:pPr algn="l">
              <a:defRPr sz="3300" b="1">
                <a:solidFill>
                  <a:srgbClr val="26332E"/>
                </a:solidFill>
                <a:latin typeface="Arial"/>
                <a:ea typeface="Arial"/>
                <a:cs typeface="Arial"/>
              </a:defRPr>
            </a:pPr>
            <a:r>
              <a:rPr sz="3300" b="1">
                <a:solidFill>
                  <a:srgbClr val="26332E"/>
                </a:solidFill>
                <a:latin typeface="Arial"/>
                <a:ea typeface="Arial"/>
                <a:cs typeface="Arial"/>
              </a:rPr>
              <a:t>Identity and provenance preserve comparisons</a:t>
            </a:r>
          </a:p>
        </p:txBody>
      </p:sp>
      <p:sp>
        <p:nvSpPr>
          <p:cNvPr id="3" name="footer-label">
            <a:extLst xmlns:a="http://schemas.openxmlformats.org/drawingml/2006/main">
              <a:ext uri="{FF2B5EF4-FFF2-40B4-BE49-F238E27FC236}">
                <a16:creationId xmlns:a16="http://schemas.microsoft.com/office/drawing/2014/main" id="{1A1D1778-64B0-49C3-BFB4-894F3A4B4828}"/>
              </a:ext>
            </a:extLst>
          </p:cNvPr>
          <p:cNvSpPr>
            <a:spLocks xmlns:a="http://schemas.openxmlformats.org/drawingml/2006/main" noGrp="1"/>
          </p:cNvSpPr>
          <p:nvPr/>
        </p:nvSpPr>
        <p:spPr>
          <a:xfrm xmlns:a="http://schemas.openxmlformats.org/drawingml/2006/main">
            <a:off x="685800" y="6505575"/>
            <a:ext cx="952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0">
                <a:solidFill>
                  <a:srgbClr val="66736C"/>
                </a:solidFill>
                <a:latin typeface="Arial"/>
                <a:ea typeface="Arial"/>
                <a:cs typeface="Arial"/>
              </a:defRPr>
            </a:defPPr>
          </a:lstStyle>
          <a:p xmlns:a="http://schemas.openxmlformats.org/drawingml/2006/main">
            <a:pPr algn="l">
              <a:defRPr sz="900" b="0">
                <a:solidFill>
                  <a:srgbClr val="66736C"/>
                </a:solidFill>
                <a:latin typeface="Arial"/>
                <a:ea typeface="Arial"/>
                <a:cs typeface="Arial"/>
              </a:defRPr>
            </a:pPr>
            <a:r>
              <a:rPr sz="900" b="0">
                <a:solidFill>
                  <a:srgbClr val="66736C"/>
                </a:solidFill>
                <a:latin typeface="Arial"/>
                <a:ea typeface="Arial"/>
                <a:cs typeface="Arial"/>
              </a:rPr>
              <a:t>ASPECT  /  PROJECT REFERENCE  /  1.0.0</a:t>
            </a:r>
          </a:p>
        </p:txBody>
      </p:sp>
      <p:sp>
        <p:nvSpPr>
          <p:cNvPr id="4" name="page-number">
            <a:extLst xmlns:a="http://schemas.openxmlformats.org/drawingml/2006/main">
              <a:ext uri="{FF2B5EF4-FFF2-40B4-BE49-F238E27FC236}">
                <a16:creationId xmlns:a16="http://schemas.microsoft.com/office/drawing/2014/main" id="{B7AC9B03-7004-4E16-899D-3AC74A154645}"/>
              </a:ext>
            </a:extLst>
          </p:cNvPr>
          <p:cNvSpPr>
            <a:spLocks xmlns:a="http://schemas.openxmlformats.org/drawingml/2006/main" noGrp="1"/>
          </p:cNvSpPr>
          <p:nvPr/>
        </p:nvSpPr>
        <p:spPr>
          <a:xfrm xmlns:a="http://schemas.openxmlformats.org/drawingml/2006/main">
            <a:off x="10620375" y="6505575"/>
            <a:ext cx="8858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a:solidFill>
                  <a:srgbClr val="66736C"/>
                </a:solidFill>
                <a:latin typeface="Arial"/>
                <a:ea typeface="Arial"/>
                <a:cs typeface="Arial"/>
              </a:defRPr>
            </a:defPPr>
          </a:lstStyle>
          <a:p xmlns:a="http://schemas.openxmlformats.org/drawingml/2006/main">
            <a:pPr algn="r">
              <a:defRPr sz="900" b="0">
                <a:solidFill>
                  <a:srgbClr val="66736C"/>
                </a:solidFill>
                <a:latin typeface="Arial"/>
                <a:ea typeface="Arial"/>
                <a:cs typeface="Arial"/>
              </a:defRPr>
            </a:pPr>
            <a:r>
              <a:rPr sz="900" b="0">
                <a:solidFill>
                  <a:srgbClr val="66736C"/>
                </a:solidFill>
                <a:latin typeface="Arial"/>
                <a:ea typeface="Arial"/>
                <a:cs typeface="Arial"/>
              </a:rPr>
              <a:t>29 / 52</a:t>
            </a:r>
          </a:p>
        </p:txBody>
      </p:sp>
      <p:graphicFrame>
        <p:nvGraphicFramePr>
          <p:cNvPr id="5" name="">
            <a:extLst xmlns:a="http://schemas.openxmlformats.org/drawingml/2006/main">
              <a:ext uri="{FF2B5EF4-FFF2-40B4-BE49-F238E27FC236}">
                <a16:creationId xmlns:a16="http://schemas.microsoft.com/office/drawing/2014/main" id="{0C709140-B9D3-49D7-8DCE-DC39F4A067A3}"/>
              </a:ext>
            </a:extLst>
          </p:cNvPr>
          <p:cNvGraphicFramePr/>
          <p:nvPr/>
        </p:nvGraphicFramePr>
        <p:xfrm>
          <a:off xmlns:a="http://schemas.openxmlformats.org/drawingml/2006/main" x="685800" y="1714500"/>
          <a:ext xmlns:a="http://schemas.openxmlformats.org/drawingml/2006/main" cx="10820400" cy="4133850"/>
        </p:xfrm>
        <a:graphic xmlns:a="http://schemas.openxmlformats.org/drawingml/2006/main">
          <a:graphicData uri="http://schemas.openxmlformats.org/drawingml/2006/table">
            <a:tbl>
              <a:tblPr firstRow="1" firstCol="0" lastCol="0" bandRow="0"/>
              <a:tblGrid>
                <a:gridCol w="3429000"/>
                <a:gridCol w="7391400"/>
              </a:tblGrid>
              <a:tr h="419100">
                <a:tc>
                  <a:txBody>
                    <a:bodyPr wrap="square">
                      <a:noAutofit/>
                    </a:bodyPr>
                    <a:lstStyle/>
                    <a:p>
                      <a:r>
                        <a:rPr sz="1650" b="1">
                          <a:solidFill>
                            <a:srgbClr val="FFFFFF"/>
                          </a:solidFill>
                          <a:latin typeface="Arial"/>
                          <a:ea typeface="Arial"/>
                          <a:cs typeface="Arial"/>
                        </a:rPr>
                        <a:t>Identity</a:t>
                      </a:r>
                    </a:p>
                  </a:txBody>
                  <a:tcPr marL="114300" marR="114300" marT="47625" marB="47625" anchor="ctr">
                    <a:lnL w="6668">
                      <a:solidFill>
                        <a:srgbClr val="DCE3DA"/>
                      </a:solidFill>
                      <a:prstDash val="solid"/>
                    </a:lnL>
                    <a:lnR w="6668">
                      <a:solidFill>
                        <a:srgbClr val="DCE3DA"/>
                      </a:solidFill>
                      <a:prstDash val="solid"/>
                    </a:lnR>
                    <a:lnT w="6668">
                      <a:solidFill>
                        <a:srgbClr val="DCE3DA"/>
                      </a:solidFill>
                      <a:prstDash val="solid"/>
                    </a:lnT>
                    <a:lnB w="6668">
                      <a:solidFill>
                        <a:srgbClr val="DCE3DA"/>
                      </a:solidFill>
                      <a:prstDash val="solid"/>
                    </a:lnB>
                    <a:solidFill>
                      <a:srgbClr val="39725C"/>
                    </a:solidFill>
                  </a:tcPr>
                </a:tc>
                <a:tc>
                  <a:txBody>
                    <a:bodyPr wrap="square">
                      <a:noAutofit/>
                    </a:bodyPr>
                    <a:lstStyle/>
                    <a:p>
                      <a:r>
                        <a:rPr sz="1650" b="1">
                          <a:solidFill>
                            <a:srgbClr val="FFFFFF"/>
                          </a:solidFill>
                          <a:latin typeface="Arial"/>
                          <a:ea typeface="Arial"/>
                          <a:cs typeface="Arial"/>
                        </a:rPr>
                        <a:t>What it binds</a:t>
                      </a:r>
                    </a:p>
                  </a:txBody>
                  <a:tcPr marL="114300" marR="114300" marT="47625" marB="47625" anchor="ctr">
                    <a:lnR w="6668">
                      <a:solidFill>
                        <a:srgbClr val="DCE3DA"/>
                      </a:solidFill>
                      <a:prstDash val="solid"/>
                    </a:lnR>
                    <a:lnT w="6668">
                      <a:solidFill>
                        <a:srgbClr val="DCE3DA"/>
                      </a:solidFill>
                      <a:prstDash val="solid"/>
                    </a:lnT>
                    <a:lnB w="6668">
                      <a:solidFill>
                        <a:srgbClr val="DCE3DA"/>
                      </a:solidFill>
                      <a:prstDash val="solid"/>
                    </a:lnB>
                    <a:solidFill>
                      <a:srgbClr val="39725C"/>
                    </a:solidFill>
                  </a:tcPr>
                </a:tc>
              </a:tr>
              <a:tr h="619125">
                <a:tc>
                  <a:txBody>
                    <a:bodyPr wrap="square">
                      <a:noAutofit/>
                    </a:bodyPr>
                    <a:lstStyle/>
                    <a:p>
                      <a:r>
                        <a:rPr sz="1725" b="1">
                          <a:solidFill>
                            <a:srgbClr val="26332E"/>
                          </a:solidFill>
                          <a:latin typeface="Arial"/>
                          <a:ea typeface="Arial"/>
                          <a:cs typeface="Arial"/>
                        </a:rPr>
                        <a:t>Source and selection hashes</a:t>
                      </a:r>
                    </a:p>
                  </a:txBody>
                  <a:tcPr marL="114300" marR="114300" marT="47625" marB="47625" anchor="ctr">
                    <a:lnL w="6668">
                      <a:solidFill>
                        <a:srgbClr val="DCE3DA"/>
                      </a:solidFill>
                      <a:prstDash val="solid"/>
                    </a:lnL>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Downloaded files and the selected listing configuration</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r>
              <a:tr h="619125">
                <a:tc>
                  <a:txBody>
                    <a:bodyPr wrap="square">
                      <a:noAutofit/>
                    </a:bodyPr>
                    <a:lstStyle/>
                    <a:p>
                      <a:r>
                        <a:rPr sz="1725" b="1">
                          <a:solidFill>
                            <a:srgbClr val="26332E"/>
                          </a:solidFill>
                          <a:latin typeface="Arial"/>
                          <a:ea typeface="Arial"/>
                          <a:cs typeface="Arial"/>
                        </a:rPr>
                        <a:t>Sentence and manifest hashes</a:t>
                      </a:r>
                    </a:p>
                  </a:txBody>
                  <a:tcPr marL="114300" marR="114300" marT="47625" marB="47625" anchor="ctr">
                    <a:lnL w="6668">
                      <a:solidFill>
                        <a:srgbClr val="DCE3DA"/>
                      </a:solidFill>
                      <a:prstDash val="solid"/>
                    </a:lnL>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Frozen text, review groups and partition assignments</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r>
              <a:tr h="619125">
                <a:tc>
                  <a:txBody>
                    <a:bodyPr wrap="square">
                      <a:noAutofit/>
                    </a:bodyPr>
                    <a:lstStyle/>
                    <a:p>
                      <a:r>
                        <a:rPr sz="1725" b="1">
                          <a:solidFill>
                            <a:srgbClr val="26332E"/>
                          </a:solidFill>
                          <a:latin typeface="Arial"/>
                          <a:ea typeface="Arial"/>
                          <a:cs typeface="Arial"/>
                        </a:rPr>
                        <a:t>Model identity</a:t>
                      </a:r>
                    </a:p>
                  </a:txBody>
                  <a:tcPr marL="114300" marR="114300" marT="47625" marB="47625" anchor="ctr">
                    <a:lnL w="6668">
                      <a:solidFill>
                        <a:srgbClr val="DCE3DA"/>
                      </a:solidFill>
                      <a:prstDash val="solid"/>
                    </a:lnL>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Pinned checkpoint, adapter policy or serialized classifier artifact</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r>
              <a:tr h="619125">
                <a:tc>
                  <a:txBody>
                    <a:bodyPr wrap="square">
                      <a:noAutofit/>
                    </a:bodyPr>
                    <a:lstStyle/>
                    <a:p>
                      <a:r>
                        <a:rPr sz="1725" b="1">
                          <a:solidFill>
                            <a:srgbClr val="26332E"/>
                          </a:solidFill>
                          <a:latin typeface="Arial"/>
                          <a:ea typeface="Arial"/>
                          <a:cs typeface="Arial"/>
                        </a:rPr>
                        <a:t>Run snapshot</a:t>
                      </a:r>
                    </a:p>
                  </a:txBody>
                  <a:tcPr marL="114300" marR="114300" marT="47625" marB="47625" anchor="ctr">
                    <a:lnL w="6668">
                      <a:solidFill>
                        <a:srgbClr val="DCE3DA"/>
                      </a:solidFill>
                      <a:prstDash val="solid"/>
                    </a:lnL>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Submitted labels, origins, training profile and input hashes</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r>
              <a:tr h="619125">
                <a:tc>
                  <a:txBody>
                    <a:bodyPr wrap="square">
                      <a:noAutofit/>
                    </a:bodyPr>
                    <a:lstStyle/>
                    <a:p>
                      <a:r>
                        <a:rPr sz="1725" b="1">
                          <a:solidFill>
                            <a:srgbClr val="26332E"/>
                          </a:solidFill>
                          <a:latin typeface="Arial"/>
                          <a:ea typeface="Arial"/>
                          <a:cs typeface="Arial"/>
                        </a:rPr>
                        <a:t>Prediction artifact hash</a:t>
                      </a:r>
                    </a:p>
                  </a:txBody>
                  <a:tcPr marL="114300" marR="114300" marT="47625" marB="47625" anchor="ctr">
                    <a:lnL w="6668">
                      <a:solidFill>
                        <a:srgbClr val="DCE3DA"/>
                      </a:solidFill>
                      <a:prstDash val="solid"/>
                    </a:lnL>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Every evaluated category state and its error class</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r>
              <a:tr h="619125">
                <a:tc>
                  <a:txBody>
                    <a:bodyPr wrap="square">
                      <a:noAutofit/>
                    </a:bodyPr>
                    <a:lstStyle/>
                    <a:p>
                      <a:r>
                        <a:rPr sz="1725" b="1">
                          <a:solidFill>
                            <a:srgbClr val="26332E"/>
                          </a:solidFill>
                          <a:latin typeface="Arial"/>
                          <a:ea typeface="Arial"/>
                          <a:cs typeface="Arial"/>
                        </a:rPr>
                        <a:t>Release commit</a:t>
                      </a:r>
                    </a:p>
                  </a:txBody>
                  <a:tcPr marL="114300" marR="114300" marT="47625" marB="47625" anchor="ctr">
                    <a:lnL w="6668">
                      <a:solidFill>
                        <a:srgbClr val="DCE3DA"/>
                      </a:solidFill>
                      <a:prstDash val="solid"/>
                    </a:lnL>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The source implementation used for the recorded workflow</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r>
            </a:tbl>
          </a:graphicData>
        </a:graphic>
      </p:graphicFrame>
    </p:spTree>
    <p:extLst>
      <p:ext uri="{BB962C8B-B14F-4D97-AF65-F5344CB8AC3E}">
        <p14:creationId xmlns:p14="http://schemas.microsoft.com/office/powerpoint/2010/main" val="1895061152"/>
      </p:ext>
    </p:extLst>
  </p:cSld>
</p:sld>
</file>

<file path=ppt/slides/slide30.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10" name="chapter">
            <a:extLst xmlns:a="http://schemas.openxmlformats.org/drawingml/2006/main">
              <a:ext uri="{FF2B5EF4-FFF2-40B4-BE49-F238E27FC236}">
                <a16:creationId xmlns:a16="http://schemas.microsoft.com/office/drawing/2014/main" id="{66D39A98-B959-48A9-81B6-82572ECF516B}"/>
              </a:ext>
            </a:extLst>
          </p:cNvPr>
          <p:cNvSpPr>
            <a:spLocks xmlns:a="http://schemas.openxmlformats.org/drawingml/2006/main" noGrp="1"/>
          </p:cNvSpPr>
          <p:nvPr/>
        </p:nvSpPr>
        <p:spPr>
          <a:xfrm xmlns:a="http://schemas.openxmlformats.org/drawingml/2006/main">
            <a:off x="685800" y="381000"/>
            <a:ext cx="933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39725C"/>
                </a:solidFill>
                <a:latin typeface="Arial"/>
                <a:ea typeface="Arial"/>
                <a:cs typeface="Arial"/>
              </a:defRPr>
            </a:defPPr>
          </a:lstStyle>
          <a:p xmlns:a="http://schemas.openxmlformats.org/drawingml/2006/main">
            <a:pPr algn="l">
              <a:defRPr sz="1200" b="1">
                <a:solidFill>
                  <a:srgbClr val="39725C"/>
                </a:solidFill>
                <a:latin typeface="Arial"/>
                <a:ea typeface="Arial"/>
                <a:cs typeface="Arial"/>
              </a:defRPr>
            </a:pPr>
            <a:r>
              <a:rPr sz="1200" b="1">
                <a:solidFill>
                  <a:srgbClr val="39725C"/>
                </a:solidFill>
                <a:latin typeface="Arial"/>
                <a:ea typeface="Arial"/>
                <a:cs typeface="Arial"/>
              </a:rPr>
              <a:t>THE INTERFACE</a:t>
            </a:r>
          </a:p>
        </p:txBody>
      </p:sp>
      <p:sp>
        <p:nvSpPr>
          <p:cNvPr id="2" name="primary-heading">
            <a:extLst xmlns:a="http://schemas.openxmlformats.org/drawingml/2006/main">
              <a:ext uri="{FF2B5EF4-FFF2-40B4-BE49-F238E27FC236}">
                <a16:creationId xmlns:a16="http://schemas.microsoft.com/office/drawing/2014/main" id="{7504F2A9-3C7E-4CC1-A71A-3442B6DDEE90}"/>
              </a:ext>
            </a:extLst>
          </p:cNvPr>
          <p:cNvSpPr>
            <a:spLocks xmlns:a="http://schemas.openxmlformats.org/drawingml/2006/main" noGrp="1"/>
          </p:cNvSpPr>
          <p:nvPr/>
        </p:nvSpPr>
        <p:spPr>
          <a:xfrm xmlns:a="http://schemas.openxmlformats.org/drawingml/2006/main">
            <a:off x="685800" y="83820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6332E"/>
                </a:solidFill>
                <a:latin typeface="Arial"/>
                <a:ea typeface="Arial"/>
                <a:cs typeface="Arial"/>
              </a:defRPr>
            </a:defPPr>
          </a:lstStyle>
          <a:p xmlns:a="http://schemas.openxmlformats.org/drawingml/2006/main">
            <a:pPr algn="l">
              <a:defRPr sz="3300" b="1">
                <a:solidFill>
                  <a:srgbClr val="26332E"/>
                </a:solidFill>
                <a:latin typeface="Arial"/>
                <a:ea typeface="Arial"/>
                <a:cs typeface="Arial"/>
              </a:defRPr>
            </a:pPr>
            <a:r>
              <a:rPr sz="3300" b="1">
                <a:solidFill>
                  <a:srgbClr val="26332E"/>
                </a:solidFill>
                <a:latin typeface="Arial"/>
                <a:ea typeface="Arial"/>
                <a:cs typeface="Arial"/>
              </a:rPr>
              <a:t>Overview links aggregate counts to evidence</a:t>
            </a:r>
          </a:p>
        </p:txBody>
      </p:sp>
      <p:sp>
        <p:nvSpPr>
          <p:cNvPr id="3" name="footer-label">
            <a:extLst xmlns:a="http://schemas.openxmlformats.org/drawingml/2006/main">
              <a:ext uri="{FF2B5EF4-FFF2-40B4-BE49-F238E27FC236}">
                <a16:creationId xmlns:a16="http://schemas.microsoft.com/office/drawing/2014/main" id="{24777F43-66BB-4D08-B8C2-3CD76007EED7}"/>
              </a:ext>
            </a:extLst>
          </p:cNvPr>
          <p:cNvSpPr>
            <a:spLocks xmlns:a="http://schemas.openxmlformats.org/drawingml/2006/main" noGrp="1"/>
          </p:cNvSpPr>
          <p:nvPr/>
        </p:nvSpPr>
        <p:spPr>
          <a:xfrm xmlns:a="http://schemas.openxmlformats.org/drawingml/2006/main">
            <a:off x="685800" y="6505575"/>
            <a:ext cx="952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0">
                <a:solidFill>
                  <a:srgbClr val="66736C"/>
                </a:solidFill>
                <a:latin typeface="Arial"/>
                <a:ea typeface="Arial"/>
                <a:cs typeface="Arial"/>
              </a:defRPr>
            </a:defPPr>
          </a:lstStyle>
          <a:p xmlns:a="http://schemas.openxmlformats.org/drawingml/2006/main">
            <a:pPr algn="l">
              <a:defRPr sz="900" b="0">
                <a:solidFill>
                  <a:srgbClr val="66736C"/>
                </a:solidFill>
                <a:latin typeface="Arial"/>
                <a:ea typeface="Arial"/>
                <a:cs typeface="Arial"/>
              </a:defRPr>
            </a:pPr>
            <a:r>
              <a:rPr sz="900" b="0">
                <a:solidFill>
                  <a:srgbClr val="66736C"/>
                </a:solidFill>
                <a:latin typeface="Arial"/>
                <a:ea typeface="Arial"/>
                <a:cs typeface="Arial"/>
              </a:rPr>
              <a:t>ASPECT  /  PROJECT REFERENCE  /  1.0.0</a:t>
            </a:r>
          </a:p>
        </p:txBody>
      </p:sp>
      <p:sp>
        <p:nvSpPr>
          <p:cNvPr id="4" name="page-number">
            <a:extLst xmlns:a="http://schemas.openxmlformats.org/drawingml/2006/main">
              <a:ext uri="{FF2B5EF4-FFF2-40B4-BE49-F238E27FC236}">
                <a16:creationId xmlns:a16="http://schemas.microsoft.com/office/drawing/2014/main" id="{D9D865AE-A497-49CF-A978-D021860AEADC}"/>
              </a:ext>
            </a:extLst>
          </p:cNvPr>
          <p:cNvSpPr>
            <a:spLocks xmlns:a="http://schemas.openxmlformats.org/drawingml/2006/main" noGrp="1"/>
          </p:cNvSpPr>
          <p:nvPr/>
        </p:nvSpPr>
        <p:spPr>
          <a:xfrm xmlns:a="http://schemas.openxmlformats.org/drawingml/2006/main">
            <a:off x="10620375" y="6505575"/>
            <a:ext cx="8858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a:solidFill>
                  <a:srgbClr val="66736C"/>
                </a:solidFill>
                <a:latin typeface="Arial"/>
                <a:ea typeface="Arial"/>
                <a:cs typeface="Arial"/>
              </a:defRPr>
            </a:defPPr>
          </a:lstStyle>
          <a:p xmlns:a="http://schemas.openxmlformats.org/drawingml/2006/main">
            <a:pPr algn="r">
              <a:defRPr sz="900" b="0">
                <a:solidFill>
                  <a:srgbClr val="66736C"/>
                </a:solidFill>
                <a:latin typeface="Arial"/>
                <a:ea typeface="Arial"/>
                <a:cs typeface="Arial"/>
              </a:defRPr>
            </a:pPr>
            <a:r>
              <a:rPr sz="900" b="0">
                <a:solidFill>
                  <a:srgbClr val="66736C"/>
                </a:solidFill>
                <a:latin typeface="Arial"/>
                <a:ea typeface="Arial"/>
                <a:cs typeface="Arial"/>
              </a:rPr>
              <a:t>30 / 52</a:t>
            </a:r>
          </a:p>
        </p:txBody>
      </p:sp>
      <p:pic>
        <p:nvPicPr>
          <p:cNvPr id="5" name="">
            <a:extLst xmlns:a="http://schemas.openxmlformats.org/drawingml/2006/main">
              <a:ext uri="{FF2B5EF4-FFF2-40B4-BE49-F238E27FC236}">
                <a16:creationId xmlns:a16="http://schemas.microsoft.com/office/drawing/2014/main" id="{D107CC61-EA61-4DDC-80E3-DB740C17EB9B}"/>
              </a:ext>
            </a:extLst>
          </p:cNvPr>
          <p:cNvPicPr>
            <a:picLocks xmlns:a="http://schemas.openxmlformats.org/drawingml/2006/main" noChangeAspect="1"/>
          </p:cNvPicPr>
          <p:nvPr/>
        </p:nvPicPr>
        <p:blipFill>
          <a:blip xmlns:r="http://schemas.openxmlformats.org/officeDocument/2006/relationships" xmlns:a="http://schemas.openxmlformats.org/drawingml/2006/main" r:embed="R531e5ecb6dfb47e5"/>
          <a:stretch xmlns:a="http://schemas.openxmlformats.org/drawingml/2006/main"/>
        </p:blipFill>
        <p:spPr>
          <a:xfrm xmlns:a="http://schemas.openxmlformats.org/drawingml/2006/main">
            <a:off x="4533900" y="1849041"/>
            <a:ext cx="6972300" cy="3921919"/>
          </a:xfrm>
          <a:prstGeom xmlns:a="http://schemas.openxmlformats.org/drawingml/2006/main" prst="rect">
            <a:avLst/>
          </a:prstGeom>
        </p:spPr>
      </p:pic>
      <p:sp>
        <p:nvSpPr>
          <p:cNvPr id="6" name="explanation-0">
            <a:extLst xmlns:a="http://schemas.openxmlformats.org/drawingml/2006/main">
              <a:ext uri="{FF2B5EF4-FFF2-40B4-BE49-F238E27FC236}">
                <a16:creationId xmlns:a16="http://schemas.microsoft.com/office/drawing/2014/main" id="{795505F7-70B9-490C-AFA1-DB0944196A0C}"/>
              </a:ext>
            </a:extLst>
          </p:cNvPr>
          <p:cNvSpPr>
            <a:spLocks xmlns:a="http://schemas.openxmlformats.org/drawingml/2006/main" noGrp="1"/>
          </p:cNvSpPr>
          <p:nvPr/>
        </p:nvSpPr>
        <p:spPr>
          <a:xfrm xmlns:a="http://schemas.openxmlformats.org/drawingml/2006/main">
            <a:off x="685800" y="1809750"/>
            <a:ext cx="33718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6332E"/>
                </a:solidFill>
                <a:latin typeface="Arial"/>
                <a:ea typeface="Arial"/>
                <a:cs typeface="Arial"/>
              </a:defRPr>
            </a:defPPr>
          </a:lstStyle>
          <a:p xmlns:a="http://schemas.openxmlformats.org/drawingml/2006/main">
            <a:pPr algn="l">
              <a:defRPr sz="1950" b="0">
                <a:solidFill>
                  <a:srgbClr val="26332E"/>
                </a:solidFill>
                <a:latin typeface="Arial"/>
                <a:ea typeface="Arial"/>
                <a:cs typeface="Arial"/>
              </a:defRPr>
            </a:pPr>
            <a:r>
              <a:rPr sz="1950" b="0">
                <a:solidFill>
                  <a:srgbClr val="26332E"/>
                </a:solidFill>
                <a:latin typeface="Arial"/>
                <a:ea typeface="Arial"/>
                <a:cs typeface="Arial"/>
              </a:rPr>
              <a:t>The active dataset and model determine every count.</a:t>
            </a:r>
          </a:p>
        </p:txBody>
      </p:sp>
      <p:sp>
        <p:nvSpPr>
          <p:cNvPr id="7" name="explanation-1">
            <a:extLst xmlns:a="http://schemas.openxmlformats.org/drawingml/2006/main">
              <a:ext uri="{FF2B5EF4-FFF2-40B4-BE49-F238E27FC236}">
                <a16:creationId xmlns:a16="http://schemas.microsoft.com/office/drawing/2014/main" id="{4324ECFD-11BC-4772-A935-B10AB01EB766}"/>
              </a:ext>
            </a:extLst>
          </p:cNvPr>
          <p:cNvSpPr>
            <a:spLocks xmlns:a="http://schemas.openxmlformats.org/drawingml/2006/main" noGrp="1"/>
          </p:cNvSpPr>
          <p:nvPr/>
        </p:nvSpPr>
        <p:spPr>
          <a:xfrm xmlns:a="http://schemas.openxmlformats.org/drawingml/2006/main">
            <a:off x="685800" y="2838450"/>
            <a:ext cx="33718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6332E"/>
                </a:solidFill>
                <a:latin typeface="Arial"/>
                <a:ea typeface="Arial"/>
                <a:cs typeface="Arial"/>
              </a:defRPr>
            </a:defPPr>
          </a:lstStyle>
          <a:p xmlns:a="http://schemas.openxmlformats.org/drawingml/2006/main">
            <a:pPr algn="l">
              <a:defRPr sz="1950" b="0">
                <a:solidFill>
                  <a:srgbClr val="26332E"/>
                </a:solidFill>
                <a:latin typeface="Arial"/>
                <a:ea typeface="Arial"/>
                <a:cs typeface="Arial"/>
              </a:defRPr>
            </a:pPr>
            <a:r>
              <a:rPr sz="1950" b="0">
                <a:solidFill>
                  <a:srgbClr val="26332E"/>
                </a:solidFill>
                <a:latin typeface="Arial"/>
                <a:ea typeface="Arial"/>
                <a:cs typeface="Arial"/>
              </a:rPr>
              <a:t>Aspect bars and the sentiment mix count each review/category once.</a:t>
            </a:r>
          </a:p>
        </p:txBody>
      </p:sp>
      <p:sp>
        <p:nvSpPr>
          <p:cNvPr id="8" name="explanation-2">
            <a:extLst xmlns:a="http://schemas.openxmlformats.org/drawingml/2006/main">
              <a:ext uri="{FF2B5EF4-FFF2-40B4-BE49-F238E27FC236}">
                <a16:creationId xmlns:a16="http://schemas.microsoft.com/office/drawing/2014/main" id="{13F19AAB-3F34-4563-8268-0EA8DA873646}"/>
              </a:ext>
            </a:extLst>
          </p:cNvPr>
          <p:cNvSpPr>
            <a:spLocks xmlns:a="http://schemas.openxmlformats.org/drawingml/2006/main" noGrp="1"/>
          </p:cNvSpPr>
          <p:nvPr/>
        </p:nvSpPr>
        <p:spPr>
          <a:xfrm xmlns:a="http://schemas.openxmlformats.org/drawingml/2006/main">
            <a:off x="685800" y="4048125"/>
            <a:ext cx="33718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6332E"/>
                </a:solidFill>
                <a:latin typeface="Arial"/>
                <a:ea typeface="Arial"/>
                <a:cs typeface="Arial"/>
              </a:defRPr>
            </a:defPPr>
          </a:lstStyle>
          <a:p xmlns:a="http://schemas.openxmlformats.org/drawingml/2006/main">
            <a:pPr algn="l">
              <a:defRPr sz="1950" b="0">
                <a:solidFill>
                  <a:srgbClr val="26332E"/>
                </a:solidFill>
                <a:latin typeface="Arial"/>
                <a:ea typeface="Arial"/>
                <a:cs typeface="Arial"/>
              </a:defRPr>
            </a:pPr>
            <a:r>
              <a:rPr sz="1950" b="0">
                <a:solidFill>
                  <a:srgbClr val="26332E"/>
                </a:solidFill>
                <a:latin typeface="Arial"/>
                <a:ea typeface="Arial"/>
                <a:cs typeface="Arial"/>
              </a:rPr>
              <a:t>Selecting an aspect opens the matching reviews.</a:t>
            </a:r>
          </a:p>
        </p:txBody>
      </p:sp>
      <p:sp>
        <p:nvSpPr>
          <p:cNvPr id="9" name="image-caption">
            <a:extLst xmlns:a="http://schemas.openxmlformats.org/drawingml/2006/main">
              <a:ext uri="{FF2B5EF4-FFF2-40B4-BE49-F238E27FC236}">
                <a16:creationId xmlns:a16="http://schemas.microsoft.com/office/drawing/2014/main" id="{4D8B7263-4726-4477-87DB-4EFC9800B44D}"/>
              </a:ext>
            </a:extLst>
          </p:cNvPr>
          <p:cNvSpPr>
            <a:spLocks xmlns:a="http://schemas.openxmlformats.org/drawingml/2006/main" noGrp="1"/>
          </p:cNvSpPr>
          <p:nvPr/>
        </p:nvSpPr>
        <p:spPr>
          <a:xfrm xmlns:a="http://schemas.openxmlformats.org/drawingml/2006/main">
            <a:off x="4533900" y="5991225"/>
            <a:ext cx="6972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66736C"/>
                </a:solidFill>
                <a:latin typeface="Arial"/>
                <a:ea typeface="Arial"/>
                <a:cs typeface="Arial"/>
              </a:defRPr>
            </a:defPPr>
          </a:lstStyle>
          <a:p xmlns:a="http://schemas.openxmlformats.org/drawingml/2006/main">
            <a:pPr algn="l">
              <a:defRPr sz="1275" b="0">
                <a:solidFill>
                  <a:srgbClr val="66736C"/>
                </a:solidFill>
                <a:latin typeface="Arial"/>
                <a:ea typeface="Arial"/>
                <a:cs typeface="Arial"/>
              </a:defRPr>
            </a:pPr>
            <a:r>
              <a:rPr sz="1275" b="0">
                <a:solidFill>
                  <a:srgbClr val="66736C"/>
                </a:solidFill>
                <a:latin typeface="Arial"/>
                <a:ea typeface="Arial"/>
                <a:cs typeface="Arial"/>
              </a:rPr>
              <a:t>Real corpus, Rules + VADER. The positive share describes model predictions.</a:t>
            </a:r>
          </a:p>
        </p:txBody>
      </p:sp>
    </p:spTree>
    <p:extLst>
      <p:ext uri="{BB962C8B-B14F-4D97-AF65-F5344CB8AC3E}">
        <p14:creationId xmlns:p14="http://schemas.microsoft.com/office/powerpoint/2010/main" val="748701869"/>
      </p:ext>
    </p:extLst>
  </p:cSld>
</p:sld>
</file>

<file path=ppt/slides/slide31.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10" name="chapter">
            <a:extLst xmlns:a="http://schemas.openxmlformats.org/drawingml/2006/main">
              <a:ext uri="{FF2B5EF4-FFF2-40B4-BE49-F238E27FC236}">
                <a16:creationId xmlns:a16="http://schemas.microsoft.com/office/drawing/2014/main" id="{05488303-4418-4830-8038-C2E2C4223FC0}"/>
              </a:ext>
            </a:extLst>
          </p:cNvPr>
          <p:cNvSpPr>
            <a:spLocks xmlns:a="http://schemas.openxmlformats.org/drawingml/2006/main" noGrp="1"/>
          </p:cNvSpPr>
          <p:nvPr/>
        </p:nvSpPr>
        <p:spPr>
          <a:xfrm xmlns:a="http://schemas.openxmlformats.org/drawingml/2006/main">
            <a:off x="685800" y="381000"/>
            <a:ext cx="933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39725C"/>
                </a:solidFill>
                <a:latin typeface="Arial"/>
                <a:ea typeface="Arial"/>
                <a:cs typeface="Arial"/>
              </a:defRPr>
            </a:defPPr>
          </a:lstStyle>
          <a:p xmlns:a="http://schemas.openxmlformats.org/drawingml/2006/main">
            <a:pPr algn="l">
              <a:defRPr sz="1200" b="1">
                <a:solidFill>
                  <a:srgbClr val="39725C"/>
                </a:solidFill>
                <a:latin typeface="Arial"/>
                <a:ea typeface="Arial"/>
                <a:cs typeface="Arial"/>
              </a:defRPr>
            </a:pPr>
            <a:r>
              <a:rPr sz="1200" b="1">
                <a:solidFill>
                  <a:srgbClr val="39725C"/>
                </a:solidFill>
                <a:latin typeface="Arial"/>
                <a:ea typeface="Arial"/>
                <a:cs typeface="Arial"/>
              </a:rPr>
              <a:t>THE INTERFACE</a:t>
            </a:r>
          </a:p>
        </p:txBody>
      </p:sp>
      <p:sp>
        <p:nvSpPr>
          <p:cNvPr id="2" name="primary-heading">
            <a:extLst xmlns:a="http://schemas.openxmlformats.org/drawingml/2006/main">
              <a:ext uri="{FF2B5EF4-FFF2-40B4-BE49-F238E27FC236}">
                <a16:creationId xmlns:a16="http://schemas.microsoft.com/office/drawing/2014/main" id="{675EC26B-043E-4722-8309-FA1CE86EB49F}"/>
              </a:ext>
            </a:extLst>
          </p:cNvPr>
          <p:cNvSpPr>
            <a:spLocks xmlns:a="http://schemas.openxmlformats.org/drawingml/2006/main" noGrp="1"/>
          </p:cNvSpPr>
          <p:nvPr/>
        </p:nvSpPr>
        <p:spPr>
          <a:xfrm xmlns:a="http://schemas.openxmlformats.org/drawingml/2006/main">
            <a:off x="685800" y="83820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6332E"/>
                </a:solidFill>
                <a:latin typeface="Arial"/>
                <a:ea typeface="Arial"/>
                <a:cs typeface="Arial"/>
              </a:defRPr>
            </a:defPPr>
          </a:lstStyle>
          <a:p xmlns:a="http://schemas.openxmlformats.org/drawingml/2006/main">
            <a:pPr algn="l">
              <a:defRPr sz="3300" b="1">
                <a:solidFill>
                  <a:srgbClr val="26332E"/>
                </a:solidFill>
                <a:latin typeface="Arial"/>
                <a:ea typeface="Arial"/>
                <a:cs typeface="Arial"/>
              </a:defRPr>
            </a:pPr>
            <a:r>
              <a:rPr sz="3300" b="1">
                <a:solidFill>
                  <a:srgbClr val="26332E"/>
                </a:solidFill>
                <a:latin typeface="Arial"/>
                <a:ea typeface="Arial"/>
                <a:cs typeface="Arial"/>
              </a:rPr>
              <a:t>The explorer preserves original wording</a:t>
            </a:r>
          </a:p>
        </p:txBody>
      </p:sp>
      <p:sp>
        <p:nvSpPr>
          <p:cNvPr id="3" name="footer-label">
            <a:extLst xmlns:a="http://schemas.openxmlformats.org/drawingml/2006/main">
              <a:ext uri="{FF2B5EF4-FFF2-40B4-BE49-F238E27FC236}">
                <a16:creationId xmlns:a16="http://schemas.microsoft.com/office/drawing/2014/main" id="{5E2870FD-30B2-451A-8184-C47F79E6E7AB}"/>
              </a:ext>
            </a:extLst>
          </p:cNvPr>
          <p:cNvSpPr>
            <a:spLocks xmlns:a="http://schemas.openxmlformats.org/drawingml/2006/main" noGrp="1"/>
          </p:cNvSpPr>
          <p:nvPr/>
        </p:nvSpPr>
        <p:spPr>
          <a:xfrm xmlns:a="http://schemas.openxmlformats.org/drawingml/2006/main">
            <a:off x="685800" y="6505575"/>
            <a:ext cx="952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0">
                <a:solidFill>
                  <a:srgbClr val="66736C"/>
                </a:solidFill>
                <a:latin typeface="Arial"/>
                <a:ea typeface="Arial"/>
                <a:cs typeface="Arial"/>
              </a:defRPr>
            </a:defPPr>
          </a:lstStyle>
          <a:p xmlns:a="http://schemas.openxmlformats.org/drawingml/2006/main">
            <a:pPr algn="l">
              <a:defRPr sz="900" b="0">
                <a:solidFill>
                  <a:srgbClr val="66736C"/>
                </a:solidFill>
                <a:latin typeface="Arial"/>
                <a:ea typeface="Arial"/>
                <a:cs typeface="Arial"/>
              </a:defRPr>
            </a:pPr>
            <a:r>
              <a:rPr sz="900" b="0">
                <a:solidFill>
                  <a:srgbClr val="66736C"/>
                </a:solidFill>
                <a:latin typeface="Arial"/>
                <a:ea typeface="Arial"/>
                <a:cs typeface="Arial"/>
              </a:rPr>
              <a:t>ASPECT  /  PROJECT REFERENCE  /  1.0.0</a:t>
            </a:r>
          </a:p>
        </p:txBody>
      </p:sp>
      <p:sp>
        <p:nvSpPr>
          <p:cNvPr id="4" name="page-number">
            <a:extLst xmlns:a="http://schemas.openxmlformats.org/drawingml/2006/main">
              <a:ext uri="{FF2B5EF4-FFF2-40B4-BE49-F238E27FC236}">
                <a16:creationId xmlns:a16="http://schemas.microsoft.com/office/drawing/2014/main" id="{B922FBDF-2404-4AD6-ACF8-2A82FEFFCB47}"/>
              </a:ext>
            </a:extLst>
          </p:cNvPr>
          <p:cNvSpPr>
            <a:spLocks xmlns:a="http://schemas.openxmlformats.org/drawingml/2006/main" noGrp="1"/>
          </p:cNvSpPr>
          <p:nvPr/>
        </p:nvSpPr>
        <p:spPr>
          <a:xfrm xmlns:a="http://schemas.openxmlformats.org/drawingml/2006/main">
            <a:off x="10620375" y="6505575"/>
            <a:ext cx="8858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a:solidFill>
                  <a:srgbClr val="66736C"/>
                </a:solidFill>
                <a:latin typeface="Arial"/>
                <a:ea typeface="Arial"/>
                <a:cs typeface="Arial"/>
              </a:defRPr>
            </a:defPPr>
          </a:lstStyle>
          <a:p xmlns:a="http://schemas.openxmlformats.org/drawingml/2006/main">
            <a:pPr algn="r">
              <a:defRPr sz="900" b="0">
                <a:solidFill>
                  <a:srgbClr val="66736C"/>
                </a:solidFill>
                <a:latin typeface="Arial"/>
                <a:ea typeface="Arial"/>
                <a:cs typeface="Arial"/>
              </a:defRPr>
            </a:pPr>
            <a:r>
              <a:rPr sz="900" b="0">
                <a:solidFill>
                  <a:srgbClr val="66736C"/>
                </a:solidFill>
                <a:latin typeface="Arial"/>
                <a:ea typeface="Arial"/>
                <a:cs typeface="Arial"/>
              </a:rPr>
              <a:t>31 / 52</a:t>
            </a:r>
          </a:p>
        </p:txBody>
      </p:sp>
      <p:pic>
        <p:nvPicPr>
          <p:cNvPr id="5" name="">
            <a:extLst xmlns:a="http://schemas.openxmlformats.org/drawingml/2006/main">
              <a:ext uri="{FF2B5EF4-FFF2-40B4-BE49-F238E27FC236}">
                <a16:creationId xmlns:a16="http://schemas.microsoft.com/office/drawing/2014/main" id="{725468D9-2F31-46C6-BACD-88FDE3223781}"/>
              </a:ext>
            </a:extLst>
          </p:cNvPr>
          <p:cNvPicPr>
            <a:picLocks xmlns:a="http://schemas.openxmlformats.org/drawingml/2006/main" noChangeAspect="1"/>
          </p:cNvPicPr>
          <p:nvPr/>
        </p:nvPicPr>
        <p:blipFill>
          <a:blip xmlns:r="http://schemas.openxmlformats.org/officeDocument/2006/relationships" xmlns:a="http://schemas.openxmlformats.org/drawingml/2006/main" r:embed="R60fffede70fd4a36"/>
          <a:stretch xmlns:a="http://schemas.openxmlformats.org/drawingml/2006/main"/>
        </p:blipFill>
        <p:spPr>
          <a:xfrm xmlns:a="http://schemas.openxmlformats.org/drawingml/2006/main">
            <a:off x="4533900" y="1849041"/>
            <a:ext cx="6972300" cy="3921919"/>
          </a:xfrm>
          <a:prstGeom xmlns:a="http://schemas.openxmlformats.org/drawingml/2006/main" prst="rect">
            <a:avLst/>
          </a:prstGeom>
        </p:spPr>
      </p:pic>
      <p:sp>
        <p:nvSpPr>
          <p:cNvPr id="6" name="explanation-0">
            <a:extLst xmlns:a="http://schemas.openxmlformats.org/drawingml/2006/main">
              <a:ext uri="{FF2B5EF4-FFF2-40B4-BE49-F238E27FC236}">
                <a16:creationId xmlns:a16="http://schemas.microsoft.com/office/drawing/2014/main" id="{25E75D19-448D-4A47-93B8-593CB3AABD19}"/>
              </a:ext>
            </a:extLst>
          </p:cNvPr>
          <p:cNvSpPr>
            <a:spLocks xmlns:a="http://schemas.openxmlformats.org/drawingml/2006/main" noGrp="1"/>
          </p:cNvSpPr>
          <p:nvPr/>
        </p:nvSpPr>
        <p:spPr>
          <a:xfrm xmlns:a="http://schemas.openxmlformats.org/drawingml/2006/main">
            <a:off x="685800" y="1809750"/>
            <a:ext cx="33718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6332E"/>
                </a:solidFill>
                <a:latin typeface="Arial"/>
                <a:ea typeface="Arial"/>
                <a:cs typeface="Arial"/>
              </a:defRPr>
            </a:defPPr>
          </a:lstStyle>
          <a:p xmlns:a="http://schemas.openxmlformats.org/drawingml/2006/main">
            <a:pPr algn="l">
              <a:defRPr sz="1950" b="0">
                <a:solidFill>
                  <a:srgbClr val="26332E"/>
                </a:solidFill>
                <a:latin typeface="Arial"/>
                <a:ea typeface="Arial"/>
                <a:cs typeface="Arial"/>
              </a:defRPr>
            </a:pPr>
            <a:r>
              <a:rPr sz="1950" b="0">
                <a:solidFill>
                  <a:srgbClr val="26332E"/>
                </a:solidFill>
                <a:latin typeface="Arial"/>
                <a:ea typeface="Arial"/>
                <a:cs typeface="Arial"/>
              </a:rPr>
              <a:t>Combine product, aspect, sentiment and text filters.</a:t>
            </a:r>
          </a:p>
        </p:txBody>
      </p:sp>
      <p:sp>
        <p:nvSpPr>
          <p:cNvPr id="7" name="explanation-1">
            <a:extLst xmlns:a="http://schemas.openxmlformats.org/drawingml/2006/main">
              <a:ext uri="{FF2B5EF4-FFF2-40B4-BE49-F238E27FC236}">
                <a16:creationId xmlns:a16="http://schemas.microsoft.com/office/drawing/2014/main" id="{97E1B4EF-30A6-490D-B296-54A466B73D17}"/>
              </a:ext>
            </a:extLst>
          </p:cNvPr>
          <p:cNvSpPr>
            <a:spLocks xmlns:a="http://schemas.openxmlformats.org/drawingml/2006/main" noGrp="1"/>
          </p:cNvSpPr>
          <p:nvPr/>
        </p:nvSpPr>
        <p:spPr>
          <a:xfrm xmlns:a="http://schemas.openxmlformats.org/drawingml/2006/main">
            <a:off x="685800" y="2838450"/>
            <a:ext cx="33718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6332E"/>
                </a:solidFill>
                <a:latin typeface="Arial"/>
                <a:ea typeface="Arial"/>
                <a:cs typeface="Arial"/>
              </a:defRPr>
            </a:defPPr>
          </a:lstStyle>
          <a:p xmlns:a="http://schemas.openxmlformats.org/drawingml/2006/main">
            <a:pPr algn="l">
              <a:defRPr sz="1950" b="0">
                <a:solidFill>
                  <a:srgbClr val="26332E"/>
                </a:solidFill>
                <a:latin typeface="Arial"/>
                <a:ea typeface="Arial"/>
                <a:cs typeface="Arial"/>
              </a:defRPr>
            </a:pPr>
            <a:r>
              <a:rPr sz="1950" b="0">
                <a:solidFill>
                  <a:srgbClr val="26332E"/>
                </a:solidFill>
                <a:latin typeface="Arial"/>
                <a:ea typeface="Arial"/>
                <a:cs typeface="Arial"/>
              </a:rPr>
              <a:t>Expand a review to inspect all detected features and original evidence.</a:t>
            </a:r>
          </a:p>
        </p:txBody>
      </p:sp>
      <p:sp>
        <p:nvSpPr>
          <p:cNvPr id="8" name="explanation-2">
            <a:extLst xmlns:a="http://schemas.openxmlformats.org/drawingml/2006/main">
              <a:ext uri="{FF2B5EF4-FFF2-40B4-BE49-F238E27FC236}">
                <a16:creationId xmlns:a16="http://schemas.microsoft.com/office/drawing/2014/main" id="{8BDB806E-64A1-4E49-A63E-361AB5CD585E}"/>
              </a:ext>
            </a:extLst>
          </p:cNvPr>
          <p:cNvSpPr>
            <a:spLocks xmlns:a="http://schemas.openxmlformats.org/drawingml/2006/main" noGrp="1"/>
          </p:cNvSpPr>
          <p:nvPr/>
        </p:nvSpPr>
        <p:spPr>
          <a:xfrm xmlns:a="http://schemas.openxmlformats.org/drawingml/2006/main">
            <a:off x="685800" y="4048125"/>
            <a:ext cx="33718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6332E"/>
                </a:solidFill>
                <a:latin typeface="Arial"/>
                <a:ea typeface="Arial"/>
                <a:cs typeface="Arial"/>
              </a:defRPr>
            </a:defPPr>
          </a:lstStyle>
          <a:p xmlns:a="http://schemas.openxmlformats.org/drawingml/2006/main">
            <a:pPr algn="l">
              <a:defRPr sz="1950" b="0">
                <a:solidFill>
                  <a:srgbClr val="26332E"/>
                </a:solidFill>
                <a:latin typeface="Arial"/>
                <a:ea typeface="Arial"/>
                <a:cs typeface="Arial"/>
              </a:defRPr>
            </a:pPr>
            <a:r>
              <a:rPr sz="1950" b="0">
                <a:solidFill>
                  <a:srgbClr val="26332E"/>
                </a:solidFill>
                <a:latin typeface="Arial"/>
                <a:ea typeface="Arial"/>
                <a:cs typeface="Arial"/>
              </a:rPr>
              <a:t>Exports follow the active selection and model identity.</a:t>
            </a:r>
          </a:p>
        </p:txBody>
      </p:sp>
      <p:sp>
        <p:nvSpPr>
          <p:cNvPr id="9" name="image-caption">
            <a:extLst xmlns:a="http://schemas.openxmlformats.org/drawingml/2006/main">
              <a:ext uri="{FF2B5EF4-FFF2-40B4-BE49-F238E27FC236}">
                <a16:creationId xmlns:a16="http://schemas.microsoft.com/office/drawing/2014/main" id="{C61375E5-7A8B-4BFC-9C41-B4EF88B97F7A}"/>
              </a:ext>
            </a:extLst>
          </p:cNvPr>
          <p:cNvSpPr>
            <a:spLocks xmlns:a="http://schemas.openxmlformats.org/drawingml/2006/main" noGrp="1"/>
          </p:cNvSpPr>
          <p:nvPr/>
        </p:nvSpPr>
        <p:spPr>
          <a:xfrm xmlns:a="http://schemas.openxmlformats.org/drawingml/2006/main">
            <a:off x="4533900" y="5991225"/>
            <a:ext cx="6972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66736C"/>
                </a:solidFill>
                <a:latin typeface="Arial"/>
                <a:ea typeface="Arial"/>
                <a:cs typeface="Arial"/>
              </a:defRPr>
            </a:defPPr>
          </a:lstStyle>
          <a:p xmlns:a="http://schemas.openxmlformats.org/drawingml/2006/main">
            <a:pPr algn="l">
              <a:defRPr sz="1275" b="0">
                <a:solidFill>
                  <a:srgbClr val="66736C"/>
                </a:solidFill>
                <a:latin typeface="Arial"/>
                <a:ea typeface="Arial"/>
                <a:cs typeface="Arial"/>
              </a:defRPr>
            </a:pPr>
            <a:r>
              <a:rPr sz="1275" b="0">
                <a:solidFill>
                  <a:srgbClr val="66736C"/>
                </a:solidFill>
                <a:latin typeface="Arial"/>
                <a:ea typeface="Arial"/>
                <a:cs typeface="Arial"/>
              </a:rPr>
              <a:t>The screenshot filters the historical corpus by camera and negative sentiment.</a:t>
            </a:r>
          </a:p>
        </p:txBody>
      </p:sp>
    </p:spTree>
    <p:extLst>
      <p:ext uri="{BB962C8B-B14F-4D97-AF65-F5344CB8AC3E}">
        <p14:creationId xmlns:p14="http://schemas.microsoft.com/office/powerpoint/2010/main" val="1427200529"/>
      </p:ext>
    </p:extLst>
  </p:cSld>
</p:sld>
</file>

<file path=ppt/slides/slide32.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10" name="chapter">
            <a:extLst xmlns:a="http://schemas.openxmlformats.org/drawingml/2006/main">
              <a:ext uri="{FF2B5EF4-FFF2-40B4-BE49-F238E27FC236}">
                <a16:creationId xmlns:a16="http://schemas.microsoft.com/office/drawing/2014/main" id="{E0D0EE24-7130-4EEF-B448-790D817144B5}"/>
              </a:ext>
            </a:extLst>
          </p:cNvPr>
          <p:cNvSpPr>
            <a:spLocks xmlns:a="http://schemas.openxmlformats.org/drawingml/2006/main" noGrp="1"/>
          </p:cNvSpPr>
          <p:nvPr/>
        </p:nvSpPr>
        <p:spPr>
          <a:xfrm xmlns:a="http://schemas.openxmlformats.org/drawingml/2006/main">
            <a:off x="685800" y="381000"/>
            <a:ext cx="933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39725C"/>
                </a:solidFill>
                <a:latin typeface="Arial"/>
                <a:ea typeface="Arial"/>
                <a:cs typeface="Arial"/>
              </a:defRPr>
            </a:defPPr>
          </a:lstStyle>
          <a:p xmlns:a="http://schemas.openxmlformats.org/drawingml/2006/main">
            <a:pPr algn="l">
              <a:defRPr sz="1200" b="1">
                <a:solidFill>
                  <a:srgbClr val="39725C"/>
                </a:solidFill>
                <a:latin typeface="Arial"/>
                <a:ea typeface="Arial"/>
                <a:cs typeface="Arial"/>
              </a:defRPr>
            </a:pPr>
            <a:r>
              <a:rPr sz="1200" b="1">
                <a:solidFill>
                  <a:srgbClr val="39725C"/>
                </a:solidFill>
                <a:latin typeface="Arial"/>
                <a:ea typeface="Arial"/>
                <a:cs typeface="Arial"/>
              </a:rPr>
              <a:t>THE INTERFACE</a:t>
            </a:r>
          </a:p>
        </p:txBody>
      </p:sp>
      <p:sp>
        <p:nvSpPr>
          <p:cNvPr id="2" name="primary-heading">
            <a:extLst xmlns:a="http://schemas.openxmlformats.org/drawingml/2006/main">
              <a:ext uri="{FF2B5EF4-FFF2-40B4-BE49-F238E27FC236}">
                <a16:creationId xmlns:a16="http://schemas.microsoft.com/office/drawing/2014/main" id="{BE46F0FB-BFC3-4246-BB87-5FE19900705F}"/>
              </a:ext>
            </a:extLst>
          </p:cNvPr>
          <p:cNvSpPr>
            <a:spLocks xmlns:a="http://schemas.openxmlformats.org/drawingml/2006/main" noGrp="1"/>
          </p:cNvSpPr>
          <p:nvPr/>
        </p:nvSpPr>
        <p:spPr>
          <a:xfrm xmlns:a="http://schemas.openxmlformats.org/drawingml/2006/main">
            <a:off x="685800" y="83820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6332E"/>
                </a:solidFill>
                <a:latin typeface="Arial"/>
                <a:ea typeface="Arial"/>
                <a:cs typeface="Arial"/>
              </a:defRPr>
            </a:defPPr>
          </a:lstStyle>
          <a:p xmlns:a="http://schemas.openxmlformats.org/drawingml/2006/main">
            <a:pPr algn="l">
              <a:defRPr sz="3300" b="1">
                <a:solidFill>
                  <a:srgbClr val="26332E"/>
                </a:solidFill>
                <a:latin typeface="Arial"/>
                <a:ea typeface="Arial"/>
                <a:cs typeface="Arial"/>
              </a:defRPr>
            </a:pPr>
            <a:r>
              <a:rPr sz="3300" b="1">
                <a:solidFill>
                  <a:srgbClr val="26332E"/>
                </a:solidFill>
                <a:latin typeface="Arial"/>
                <a:ea typeface="Arial"/>
                <a:cs typeface="Arial"/>
              </a:rPr>
              <a:t>Single-review analysis compares model behaviour</a:t>
            </a:r>
          </a:p>
        </p:txBody>
      </p:sp>
      <p:sp>
        <p:nvSpPr>
          <p:cNvPr id="3" name="footer-label">
            <a:extLst xmlns:a="http://schemas.openxmlformats.org/drawingml/2006/main">
              <a:ext uri="{FF2B5EF4-FFF2-40B4-BE49-F238E27FC236}">
                <a16:creationId xmlns:a16="http://schemas.microsoft.com/office/drawing/2014/main" id="{5A780316-954D-4640-93D6-F888867E188E}"/>
              </a:ext>
            </a:extLst>
          </p:cNvPr>
          <p:cNvSpPr>
            <a:spLocks xmlns:a="http://schemas.openxmlformats.org/drawingml/2006/main" noGrp="1"/>
          </p:cNvSpPr>
          <p:nvPr/>
        </p:nvSpPr>
        <p:spPr>
          <a:xfrm xmlns:a="http://schemas.openxmlformats.org/drawingml/2006/main">
            <a:off x="685800" y="6505575"/>
            <a:ext cx="952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0">
                <a:solidFill>
                  <a:srgbClr val="66736C"/>
                </a:solidFill>
                <a:latin typeface="Arial"/>
                <a:ea typeface="Arial"/>
                <a:cs typeface="Arial"/>
              </a:defRPr>
            </a:defPPr>
          </a:lstStyle>
          <a:p xmlns:a="http://schemas.openxmlformats.org/drawingml/2006/main">
            <a:pPr algn="l">
              <a:defRPr sz="900" b="0">
                <a:solidFill>
                  <a:srgbClr val="66736C"/>
                </a:solidFill>
                <a:latin typeface="Arial"/>
                <a:ea typeface="Arial"/>
                <a:cs typeface="Arial"/>
              </a:defRPr>
            </a:pPr>
            <a:r>
              <a:rPr sz="900" b="0">
                <a:solidFill>
                  <a:srgbClr val="66736C"/>
                </a:solidFill>
                <a:latin typeface="Arial"/>
                <a:ea typeface="Arial"/>
                <a:cs typeface="Arial"/>
              </a:rPr>
              <a:t>ASPECT  /  PROJECT REFERENCE  /  1.0.0</a:t>
            </a:r>
          </a:p>
        </p:txBody>
      </p:sp>
      <p:sp>
        <p:nvSpPr>
          <p:cNvPr id="4" name="page-number">
            <a:extLst xmlns:a="http://schemas.openxmlformats.org/drawingml/2006/main">
              <a:ext uri="{FF2B5EF4-FFF2-40B4-BE49-F238E27FC236}">
                <a16:creationId xmlns:a16="http://schemas.microsoft.com/office/drawing/2014/main" id="{72661284-DDAC-4131-B64C-82379DA26C68}"/>
              </a:ext>
            </a:extLst>
          </p:cNvPr>
          <p:cNvSpPr>
            <a:spLocks xmlns:a="http://schemas.openxmlformats.org/drawingml/2006/main" noGrp="1"/>
          </p:cNvSpPr>
          <p:nvPr/>
        </p:nvSpPr>
        <p:spPr>
          <a:xfrm xmlns:a="http://schemas.openxmlformats.org/drawingml/2006/main">
            <a:off x="10620375" y="6505575"/>
            <a:ext cx="8858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a:solidFill>
                  <a:srgbClr val="66736C"/>
                </a:solidFill>
                <a:latin typeface="Arial"/>
                <a:ea typeface="Arial"/>
                <a:cs typeface="Arial"/>
              </a:defRPr>
            </a:defPPr>
          </a:lstStyle>
          <a:p xmlns:a="http://schemas.openxmlformats.org/drawingml/2006/main">
            <a:pPr algn="r">
              <a:defRPr sz="900" b="0">
                <a:solidFill>
                  <a:srgbClr val="66736C"/>
                </a:solidFill>
                <a:latin typeface="Arial"/>
                <a:ea typeface="Arial"/>
                <a:cs typeface="Arial"/>
              </a:defRPr>
            </a:pPr>
            <a:r>
              <a:rPr sz="900" b="0">
                <a:solidFill>
                  <a:srgbClr val="66736C"/>
                </a:solidFill>
                <a:latin typeface="Arial"/>
                <a:ea typeface="Arial"/>
                <a:cs typeface="Arial"/>
              </a:rPr>
              <a:t>32 / 52</a:t>
            </a:r>
          </a:p>
        </p:txBody>
      </p:sp>
      <p:pic>
        <p:nvPicPr>
          <p:cNvPr id="5" name="">
            <a:extLst xmlns:a="http://schemas.openxmlformats.org/drawingml/2006/main">
              <a:ext uri="{FF2B5EF4-FFF2-40B4-BE49-F238E27FC236}">
                <a16:creationId xmlns:a16="http://schemas.microsoft.com/office/drawing/2014/main" id="{71143A0B-16CD-4461-A4D2-03EEBD3A659A}"/>
              </a:ext>
            </a:extLst>
          </p:cNvPr>
          <p:cNvPicPr>
            <a:picLocks xmlns:a="http://schemas.openxmlformats.org/drawingml/2006/main" noChangeAspect="1"/>
          </p:cNvPicPr>
          <p:nvPr/>
        </p:nvPicPr>
        <p:blipFill>
          <a:blip xmlns:r="http://schemas.openxmlformats.org/officeDocument/2006/relationships" xmlns:a="http://schemas.openxmlformats.org/drawingml/2006/main" r:embed="R1ef1f5fd7af34a03"/>
          <a:stretch xmlns:a="http://schemas.openxmlformats.org/drawingml/2006/main"/>
        </p:blipFill>
        <p:spPr>
          <a:xfrm xmlns:a="http://schemas.openxmlformats.org/drawingml/2006/main">
            <a:off x="4533900" y="1849041"/>
            <a:ext cx="6972300" cy="3921919"/>
          </a:xfrm>
          <a:prstGeom xmlns:a="http://schemas.openxmlformats.org/drawingml/2006/main" prst="rect">
            <a:avLst/>
          </a:prstGeom>
        </p:spPr>
      </p:pic>
      <p:sp>
        <p:nvSpPr>
          <p:cNvPr id="6" name="explanation-0">
            <a:extLst xmlns:a="http://schemas.openxmlformats.org/drawingml/2006/main">
              <a:ext uri="{FF2B5EF4-FFF2-40B4-BE49-F238E27FC236}">
                <a16:creationId xmlns:a16="http://schemas.microsoft.com/office/drawing/2014/main" id="{A57139F6-1A5D-45B7-AA90-1EC3AB70BDFC}"/>
              </a:ext>
            </a:extLst>
          </p:cNvPr>
          <p:cNvSpPr>
            <a:spLocks xmlns:a="http://schemas.openxmlformats.org/drawingml/2006/main" noGrp="1"/>
          </p:cNvSpPr>
          <p:nvPr/>
        </p:nvSpPr>
        <p:spPr>
          <a:xfrm xmlns:a="http://schemas.openxmlformats.org/drawingml/2006/main">
            <a:off x="685800" y="1809750"/>
            <a:ext cx="33718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6332E"/>
                </a:solidFill>
                <a:latin typeface="Arial"/>
                <a:ea typeface="Arial"/>
                <a:cs typeface="Arial"/>
              </a:defRPr>
            </a:defPPr>
          </a:lstStyle>
          <a:p xmlns:a="http://schemas.openxmlformats.org/drawingml/2006/main">
            <a:pPr algn="l">
              <a:defRPr sz="1950" b="0">
                <a:solidFill>
                  <a:srgbClr val="26332E"/>
                </a:solidFill>
                <a:latin typeface="Arial"/>
                <a:ea typeface="Arial"/>
                <a:cs typeface="Arial"/>
              </a:defRPr>
            </a:pPr>
            <a:r>
              <a:rPr sz="1950" b="0">
                <a:solidFill>
                  <a:srgbClr val="26332E"/>
                </a:solidFill>
                <a:latin typeface="Arial"/>
                <a:ea typeface="Arial"/>
                <a:cs typeface="Arial"/>
              </a:rPr>
              <a:t>Choose a model and keep the review’s wording.</a:t>
            </a:r>
          </a:p>
        </p:txBody>
      </p:sp>
      <p:sp>
        <p:nvSpPr>
          <p:cNvPr id="7" name="explanation-1">
            <a:extLst xmlns:a="http://schemas.openxmlformats.org/drawingml/2006/main">
              <a:ext uri="{FF2B5EF4-FFF2-40B4-BE49-F238E27FC236}">
                <a16:creationId xmlns:a16="http://schemas.microsoft.com/office/drawing/2014/main" id="{29B2F0B9-994B-4D2A-B34C-350A8A48D8FC}"/>
              </a:ext>
            </a:extLst>
          </p:cNvPr>
          <p:cNvSpPr>
            <a:spLocks xmlns:a="http://schemas.openxmlformats.org/drawingml/2006/main" noGrp="1"/>
          </p:cNvSpPr>
          <p:nvPr/>
        </p:nvSpPr>
        <p:spPr>
          <a:xfrm xmlns:a="http://schemas.openxmlformats.org/drawingml/2006/main">
            <a:off x="685800" y="2838450"/>
            <a:ext cx="33718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6332E"/>
                </a:solidFill>
                <a:latin typeface="Arial"/>
                <a:ea typeface="Arial"/>
                <a:cs typeface="Arial"/>
              </a:defRPr>
            </a:defPPr>
          </a:lstStyle>
          <a:p xmlns:a="http://schemas.openxmlformats.org/drawingml/2006/main">
            <a:pPr algn="l">
              <a:defRPr sz="1950" b="0">
                <a:solidFill>
                  <a:srgbClr val="26332E"/>
                </a:solidFill>
                <a:latin typeface="Arial"/>
                <a:ea typeface="Arial"/>
                <a:cs typeface="Arial"/>
              </a:defRPr>
            </a:pPr>
            <a:r>
              <a:rPr sz="1950" b="0">
                <a:solidFill>
                  <a:srgbClr val="26332E"/>
                </a:solidFill>
                <a:latin typeface="Arial"/>
                <a:ea typeface="Arial"/>
                <a:cs typeface="Arial"/>
              </a:rPr>
              <a:t>Optional comparison runs the same text through Rules + VADER.</a:t>
            </a:r>
          </a:p>
        </p:txBody>
      </p:sp>
      <p:sp>
        <p:nvSpPr>
          <p:cNvPr id="8" name="explanation-2">
            <a:extLst xmlns:a="http://schemas.openxmlformats.org/drawingml/2006/main">
              <a:ext uri="{FF2B5EF4-FFF2-40B4-BE49-F238E27FC236}">
                <a16:creationId xmlns:a16="http://schemas.microsoft.com/office/drawing/2014/main" id="{593AD02E-494C-4BD8-A3B0-58089405CE79}"/>
              </a:ext>
            </a:extLst>
          </p:cNvPr>
          <p:cNvSpPr>
            <a:spLocks xmlns:a="http://schemas.openxmlformats.org/drawingml/2006/main" noGrp="1"/>
          </p:cNvSpPr>
          <p:nvPr/>
        </p:nvSpPr>
        <p:spPr>
          <a:xfrm xmlns:a="http://schemas.openxmlformats.org/drawingml/2006/main">
            <a:off x="685800" y="4048125"/>
            <a:ext cx="33718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6332E"/>
                </a:solidFill>
                <a:latin typeface="Arial"/>
                <a:ea typeface="Arial"/>
                <a:cs typeface="Arial"/>
              </a:defRPr>
            </a:defPPr>
          </a:lstStyle>
          <a:p xmlns:a="http://schemas.openxmlformats.org/drawingml/2006/main">
            <a:pPr algn="l">
              <a:defRPr sz="1950" b="0">
                <a:solidFill>
                  <a:srgbClr val="26332E"/>
                </a:solidFill>
                <a:latin typeface="Arial"/>
                <a:ea typeface="Arial"/>
                <a:cs typeface="Arial"/>
              </a:defRPr>
            </a:pPr>
            <a:r>
              <a:rPr sz="1950" b="0">
                <a:solidFill>
                  <a:srgbClr val="26332E"/>
                </a:solidFill>
                <a:latin typeface="Arial"/>
                <a:ea typeface="Arial"/>
                <a:cs typeface="Arial"/>
              </a:rPr>
              <a:t>Each result shows its category, sentiment, evidence and limitations.</a:t>
            </a:r>
          </a:p>
        </p:txBody>
      </p:sp>
      <p:sp>
        <p:nvSpPr>
          <p:cNvPr id="9" name="image-caption">
            <a:extLst xmlns:a="http://schemas.openxmlformats.org/drawingml/2006/main">
              <a:ext uri="{FF2B5EF4-FFF2-40B4-BE49-F238E27FC236}">
                <a16:creationId xmlns:a16="http://schemas.microsoft.com/office/drawing/2014/main" id="{C72B6AD3-9C6C-484B-BAAF-D4DAED6CEAC3}"/>
              </a:ext>
            </a:extLst>
          </p:cNvPr>
          <p:cNvSpPr>
            <a:spLocks xmlns:a="http://schemas.openxmlformats.org/drawingml/2006/main" noGrp="1"/>
          </p:cNvSpPr>
          <p:nvPr/>
        </p:nvSpPr>
        <p:spPr>
          <a:xfrm xmlns:a="http://schemas.openxmlformats.org/drawingml/2006/main">
            <a:off x="4533900" y="5991225"/>
            <a:ext cx="6972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66736C"/>
                </a:solidFill>
                <a:latin typeface="Arial"/>
                <a:ea typeface="Arial"/>
                <a:cs typeface="Arial"/>
              </a:defRPr>
            </a:defPPr>
          </a:lstStyle>
          <a:p xmlns:a="http://schemas.openxmlformats.org/drawingml/2006/main">
            <a:pPr algn="l">
              <a:defRPr sz="1275" b="0">
                <a:solidFill>
                  <a:srgbClr val="66736C"/>
                </a:solidFill>
                <a:latin typeface="Arial"/>
                <a:ea typeface="Arial"/>
                <a:cs typeface="Arial"/>
              </a:defRPr>
            </a:pPr>
            <a:r>
              <a:rPr sz="1275" b="0">
                <a:solidFill>
                  <a:srgbClr val="66736C"/>
                </a:solidFill>
                <a:latin typeface="Arial"/>
                <a:ea typeface="Arial"/>
                <a:cs typeface="Arial"/>
              </a:rPr>
              <a:t>Illustrative input outside the evaluation set. Request timing is separate from accuracy.</a:t>
            </a:r>
          </a:p>
        </p:txBody>
      </p:sp>
    </p:spTree>
    <p:extLst>
      <p:ext uri="{BB962C8B-B14F-4D97-AF65-F5344CB8AC3E}">
        <p14:creationId xmlns:p14="http://schemas.microsoft.com/office/powerpoint/2010/main" val="1217682017"/>
      </p:ext>
    </p:extLst>
  </p:cSld>
</p:sld>
</file>

<file path=ppt/slides/slide33.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10" name="chapter">
            <a:extLst xmlns:a="http://schemas.openxmlformats.org/drawingml/2006/main">
              <a:ext uri="{FF2B5EF4-FFF2-40B4-BE49-F238E27FC236}">
                <a16:creationId xmlns:a16="http://schemas.microsoft.com/office/drawing/2014/main" id="{1B7AB83F-0E0E-4A19-BBAF-85D90B5EB503}"/>
              </a:ext>
            </a:extLst>
          </p:cNvPr>
          <p:cNvSpPr>
            <a:spLocks xmlns:a="http://schemas.openxmlformats.org/drawingml/2006/main" noGrp="1"/>
          </p:cNvSpPr>
          <p:nvPr/>
        </p:nvSpPr>
        <p:spPr>
          <a:xfrm xmlns:a="http://schemas.openxmlformats.org/drawingml/2006/main">
            <a:off x="685800" y="381000"/>
            <a:ext cx="933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39725C"/>
                </a:solidFill>
                <a:latin typeface="Arial"/>
                <a:ea typeface="Arial"/>
                <a:cs typeface="Arial"/>
              </a:defRPr>
            </a:defPPr>
          </a:lstStyle>
          <a:p xmlns:a="http://schemas.openxmlformats.org/drawingml/2006/main">
            <a:pPr algn="l">
              <a:defRPr sz="1200" b="1">
                <a:solidFill>
                  <a:srgbClr val="39725C"/>
                </a:solidFill>
                <a:latin typeface="Arial"/>
                <a:ea typeface="Arial"/>
                <a:cs typeface="Arial"/>
              </a:defRPr>
            </a:pPr>
            <a:r>
              <a:rPr sz="1200" b="1">
                <a:solidFill>
                  <a:srgbClr val="39725C"/>
                </a:solidFill>
                <a:latin typeface="Arial"/>
                <a:ea typeface="Arial"/>
                <a:cs typeface="Arial"/>
              </a:rPr>
              <a:t>THE INTERFACE</a:t>
            </a:r>
          </a:p>
        </p:txBody>
      </p:sp>
      <p:sp>
        <p:nvSpPr>
          <p:cNvPr id="2" name="primary-heading">
            <a:extLst xmlns:a="http://schemas.openxmlformats.org/drawingml/2006/main">
              <a:ext uri="{FF2B5EF4-FFF2-40B4-BE49-F238E27FC236}">
                <a16:creationId xmlns:a16="http://schemas.microsoft.com/office/drawing/2014/main" id="{A7079300-0982-4480-A1ED-B2EDEC5B04F3}"/>
              </a:ext>
            </a:extLst>
          </p:cNvPr>
          <p:cNvSpPr>
            <a:spLocks xmlns:a="http://schemas.openxmlformats.org/drawingml/2006/main" noGrp="1"/>
          </p:cNvSpPr>
          <p:nvPr/>
        </p:nvSpPr>
        <p:spPr>
          <a:xfrm xmlns:a="http://schemas.openxmlformats.org/drawingml/2006/main">
            <a:off x="685800" y="83820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6332E"/>
                </a:solidFill>
                <a:latin typeface="Arial"/>
                <a:ea typeface="Arial"/>
                <a:cs typeface="Arial"/>
              </a:defRPr>
            </a:defPPr>
          </a:lstStyle>
          <a:p xmlns:a="http://schemas.openxmlformats.org/drawingml/2006/main">
            <a:pPr algn="l">
              <a:defRPr sz="3300" b="1">
                <a:solidFill>
                  <a:srgbClr val="26332E"/>
                </a:solidFill>
                <a:latin typeface="Arial"/>
                <a:ea typeface="Arial"/>
                <a:cs typeface="Arial"/>
              </a:defRPr>
            </a:pPr>
            <a:r>
              <a:rPr sz="3300" b="1">
                <a:solidFill>
                  <a:srgbClr val="26332E"/>
                </a:solidFill>
                <a:latin typeface="Arial"/>
                <a:ea typeface="Arial"/>
                <a:cs typeface="Arial"/>
              </a:rPr>
              <a:t>Phone comparison includes evidence counts</a:t>
            </a:r>
          </a:p>
        </p:txBody>
      </p:sp>
      <p:sp>
        <p:nvSpPr>
          <p:cNvPr id="3" name="footer-label">
            <a:extLst xmlns:a="http://schemas.openxmlformats.org/drawingml/2006/main">
              <a:ext uri="{FF2B5EF4-FFF2-40B4-BE49-F238E27FC236}">
                <a16:creationId xmlns:a16="http://schemas.microsoft.com/office/drawing/2014/main" id="{2C8E1DD6-4CB9-4898-AEF4-71673C7217C4}"/>
              </a:ext>
            </a:extLst>
          </p:cNvPr>
          <p:cNvSpPr>
            <a:spLocks xmlns:a="http://schemas.openxmlformats.org/drawingml/2006/main" noGrp="1"/>
          </p:cNvSpPr>
          <p:nvPr/>
        </p:nvSpPr>
        <p:spPr>
          <a:xfrm xmlns:a="http://schemas.openxmlformats.org/drawingml/2006/main">
            <a:off x="685800" y="6505575"/>
            <a:ext cx="952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0">
                <a:solidFill>
                  <a:srgbClr val="66736C"/>
                </a:solidFill>
                <a:latin typeface="Arial"/>
                <a:ea typeface="Arial"/>
                <a:cs typeface="Arial"/>
              </a:defRPr>
            </a:defPPr>
          </a:lstStyle>
          <a:p xmlns:a="http://schemas.openxmlformats.org/drawingml/2006/main">
            <a:pPr algn="l">
              <a:defRPr sz="900" b="0">
                <a:solidFill>
                  <a:srgbClr val="66736C"/>
                </a:solidFill>
                <a:latin typeface="Arial"/>
                <a:ea typeface="Arial"/>
                <a:cs typeface="Arial"/>
              </a:defRPr>
            </a:pPr>
            <a:r>
              <a:rPr sz="900" b="0">
                <a:solidFill>
                  <a:srgbClr val="66736C"/>
                </a:solidFill>
                <a:latin typeface="Arial"/>
                <a:ea typeface="Arial"/>
                <a:cs typeface="Arial"/>
              </a:rPr>
              <a:t>ASPECT  /  PROJECT REFERENCE  /  1.0.0</a:t>
            </a:r>
          </a:p>
        </p:txBody>
      </p:sp>
      <p:sp>
        <p:nvSpPr>
          <p:cNvPr id="4" name="page-number">
            <a:extLst xmlns:a="http://schemas.openxmlformats.org/drawingml/2006/main">
              <a:ext uri="{FF2B5EF4-FFF2-40B4-BE49-F238E27FC236}">
                <a16:creationId xmlns:a16="http://schemas.microsoft.com/office/drawing/2014/main" id="{322C40FF-C683-4708-AA25-DE847B972C1B}"/>
              </a:ext>
            </a:extLst>
          </p:cNvPr>
          <p:cNvSpPr>
            <a:spLocks xmlns:a="http://schemas.openxmlformats.org/drawingml/2006/main" noGrp="1"/>
          </p:cNvSpPr>
          <p:nvPr/>
        </p:nvSpPr>
        <p:spPr>
          <a:xfrm xmlns:a="http://schemas.openxmlformats.org/drawingml/2006/main">
            <a:off x="10620375" y="6505575"/>
            <a:ext cx="8858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a:solidFill>
                  <a:srgbClr val="66736C"/>
                </a:solidFill>
                <a:latin typeface="Arial"/>
                <a:ea typeface="Arial"/>
                <a:cs typeface="Arial"/>
              </a:defRPr>
            </a:defPPr>
          </a:lstStyle>
          <a:p xmlns:a="http://schemas.openxmlformats.org/drawingml/2006/main">
            <a:pPr algn="r">
              <a:defRPr sz="900" b="0">
                <a:solidFill>
                  <a:srgbClr val="66736C"/>
                </a:solidFill>
                <a:latin typeface="Arial"/>
                <a:ea typeface="Arial"/>
                <a:cs typeface="Arial"/>
              </a:defRPr>
            </a:pPr>
            <a:r>
              <a:rPr sz="900" b="0">
                <a:solidFill>
                  <a:srgbClr val="66736C"/>
                </a:solidFill>
                <a:latin typeface="Arial"/>
                <a:ea typeface="Arial"/>
                <a:cs typeface="Arial"/>
              </a:rPr>
              <a:t>33 / 52</a:t>
            </a:r>
          </a:p>
        </p:txBody>
      </p:sp>
      <p:pic>
        <p:nvPicPr>
          <p:cNvPr id="5" name="">
            <a:extLst xmlns:a="http://schemas.openxmlformats.org/drawingml/2006/main">
              <a:ext uri="{FF2B5EF4-FFF2-40B4-BE49-F238E27FC236}">
                <a16:creationId xmlns:a16="http://schemas.microsoft.com/office/drawing/2014/main" id="{FEB7B6B2-A91B-48BB-95D7-851EE91708E6}"/>
              </a:ext>
            </a:extLst>
          </p:cNvPr>
          <p:cNvPicPr>
            <a:picLocks xmlns:a="http://schemas.openxmlformats.org/drawingml/2006/main" noChangeAspect="1"/>
          </p:cNvPicPr>
          <p:nvPr/>
        </p:nvPicPr>
        <p:blipFill>
          <a:blip xmlns:r="http://schemas.openxmlformats.org/officeDocument/2006/relationships" xmlns:a="http://schemas.openxmlformats.org/drawingml/2006/main" r:embed="Re974029f663348bc"/>
          <a:stretch xmlns:a="http://schemas.openxmlformats.org/drawingml/2006/main"/>
        </p:blipFill>
        <p:spPr>
          <a:xfrm xmlns:a="http://schemas.openxmlformats.org/drawingml/2006/main">
            <a:off x="4533900" y="1849041"/>
            <a:ext cx="6972300" cy="3921919"/>
          </a:xfrm>
          <a:prstGeom xmlns:a="http://schemas.openxmlformats.org/drawingml/2006/main" prst="rect">
            <a:avLst/>
          </a:prstGeom>
        </p:spPr>
      </p:pic>
      <p:sp>
        <p:nvSpPr>
          <p:cNvPr id="6" name="explanation-0">
            <a:extLst xmlns:a="http://schemas.openxmlformats.org/drawingml/2006/main">
              <a:ext uri="{FF2B5EF4-FFF2-40B4-BE49-F238E27FC236}">
                <a16:creationId xmlns:a16="http://schemas.microsoft.com/office/drawing/2014/main" id="{40839CDF-C8B3-4FC2-BA7E-BF00B8D65978}"/>
              </a:ext>
            </a:extLst>
          </p:cNvPr>
          <p:cNvSpPr>
            <a:spLocks xmlns:a="http://schemas.openxmlformats.org/drawingml/2006/main" noGrp="1"/>
          </p:cNvSpPr>
          <p:nvPr/>
        </p:nvSpPr>
        <p:spPr>
          <a:xfrm xmlns:a="http://schemas.openxmlformats.org/drawingml/2006/main">
            <a:off x="685800" y="1809750"/>
            <a:ext cx="33718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6332E"/>
                </a:solidFill>
                <a:latin typeface="Arial"/>
                <a:ea typeface="Arial"/>
                <a:cs typeface="Arial"/>
              </a:defRPr>
            </a:defPPr>
          </a:lstStyle>
          <a:p xmlns:a="http://schemas.openxmlformats.org/drawingml/2006/main">
            <a:pPr algn="l">
              <a:defRPr sz="1950" b="0">
                <a:solidFill>
                  <a:srgbClr val="26332E"/>
                </a:solidFill>
                <a:latin typeface="Arial"/>
                <a:ea typeface="Arial"/>
                <a:cs typeface="Arial"/>
              </a:defRPr>
            </a:pPr>
            <a:r>
              <a:rPr sz="1950" b="0">
                <a:solidFill>
                  <a:srgbClr val="26332E"/>
                </a:solidFill>
                <a:latin typeface="Arial"/>
                <a:ea typeface="Arial"/>
                <a:cs typeface="Arial"/>
              </a:rPr>
              <a:t>Select two or three distinct listings.</a:t>
            </a:r>
          </a:p>
        </p:txBody>
      </p:sp>
      <p:sp>
        <p:nvSpPr>
          <p:cNvPr id="7" name="explanation-1">
            <a:extLst xmlns:a="http://schemas.openxmlformats.org/drawingml/2006/main">
              <a:ext uri="{FF2B5EF4-FFF2-40B4-BE49-F238E27FC236}">
                <a16:creationId xmlns:a16="http://schemas.microsoft.com/office/drawing/2014/main" id="{4304F3BB-69DC-4C91-B0CB-0BF9BEA51FB6}"/>
              </a:ext>
            </a:extLst>
          </p:cNvPr>
          <p:cNvSpPr>
            <a:spLocks xmlns:a="http://schemas.openxmlformats.org/drawingml/2006/main" noGrp="1"/>
          </p:cNvSpPr>
          <p:nvPr/>
        </p:nvSpPr>
        <p:spPr>
          <a:xfrm xmlns:a="http://schemas.openxmlformats.org/drawingml/2006/main">
            <a:off x="685800" y="2838450"/>
            <a:ext cx="33718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6332E"/>
                </a:solidFill>
                <a:latin typeface="Arial"/>
                <a:ea typeface="Arial"/>
                <a:cs typeface="Arial"/>
              </a:defRPr>
            </a:defPPr>
          </a:lstStyle>
          <a:p xmlns:a="http://schemas.openxmlformats.org/drawingml/2006/main">
            <a:pPr algn="l">
              <a:defRPr sz="1950" b="0">
                <a:solidFill>
                  <a:srgbClr val="26332E"/>
                </a:solidFill>
                <a:latin typeface="Arial"/>
                <a:ea typeface="Arial"/>
                <a:cs typeface="Arial"/>
              </a:defRPr>
            </a:pPr>
            <a:r>
              <a:rPr sz="1950" b="0">
                <a:solidFill>
                  <a:srgbClr val="26332E"/>
                </a:solidFill>
                <a:latin typeface="Arial"/>
                <a:ea typeface="Arial"/>
                <a:cs typeface="Arial"/>
              </a:rPr>
              <a:t>Read the mention count, review dates and limited-evidence indicator with each score.</a:t>
            </a:r>
          </a:p>
        </p:txBody>
      </p:sp>
      <p:sp>
        <p:nvSpPr>
          <p:cNvPr id="8" name="explanation-2">
            <a:extLst xmlns:a="http://schemas.openxmlformats.org/drawingml/2006/main">
              <a:ext uri="{FF2B5EF4-FFF2-40B4-BE49-F238E27FC236}">
                <a16:creationId xmlns:a16="http://schemas.microsoft.com/office/drawing/2014/main" id="{D033124B-AB9A-4CF0-987E-A927365ACAF4}"/>
              </a:ext>
            </a:extLst>
          </p:cNvPr>
          <p:cNvSpPr>
            <a:spLocks xmlns:a="http://schemas.openxmlformats.org/drawingml/2006/main" noGrp="1"/>
          </p:cNvSpPr>
          <p:nvPr/>
        </p:nvSpPr>
        <p:spPr>
          <a:xfrm xmlns:a="http://schemas.openxmlformats.org/drawingml/2006/main">
            <a:off x="685800" y="4343400"/>
            <a:ext cx="33718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6332E"/>
                </a:solidFill>
                <a:latin typeface="Arial"/>
                <a:ea typeface="Arial"/>
                <a:cs typeface="Arial"/>
              </a:defRPr>
            </a:defPPr>
          </a:lstStyle>
          <a:p xmlns:a="http://schemas.openxmlformats.org/drawingml/2006/main">
            <a:pPr algn="l">
              <a:defRPr sz="1950" b="0">
                <a:solidFill>
                  <a:srgbClr val="26332E"/>
                </a:solidFill>
                <a:latin typeface="Arial"/>
                <a:ea typeface="Arial"/>
                <a:cs typeface="Arial"/>
              </a:defRPr>
            </a:pPr>
            <a:r>
              <a:rPr sz="1950" b="0">
                <a:solidFill>
                  <a:srgbClr val="26332E"/>
                </a:solidFill>
                <a:latin typeface="Arial"/>
                <a:ea typeface="Arial"/>
                <a:cs typeface="Arial"/>
              </a:rPr>
              <a:t>Renewed conditions and historical coverage affect interpretation.</a:t>
            </a:r>
          </a:p>
        </p:txBody>
      </p:sp>
      <p:sp>
        <p:nvSpPr>
          <p:cNvPr id="9" name="image-caption">
            <a:extLst xmlns:a="http://schemas.openxmlformats.org/drawingml/2006/main">
              <a:ext uri="{FF2B5EF4-FFF2-40B4-BE49-F238E27FC236}">
                <a16:creationId xmlns:a16="http://schemas.microsoft.com/office/drawing/2014/main" id="{4DFD085A-B66A-4987-85B8-E4D91AA83F98}"/>
              </a:ext>
            </a:extLst>
          </p:cNvPr>
          <p:cNvSpPr>
            <a:spLocks xmlns:a="http://schemas.openxmlformats.org/drawingml/2006/main" noGrp="1"/>
          </p:cNvSpPr>
          <p:nvPr/>
        </p:nvSpPr>
        <p:spPr>
          <a:xfrm xmlns:a="http://schemas.openxmlformats.org/drawingml/2006/main">
            <a:off x="4533900" y="5991225"/>
            <a:ext cx="6972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66736C"/>
                </a:solidFill>
                <a:latin typeface="Arial"/>
                <a:ea typeface="Arial"/>
                <a:cs typeface="Arial"/>
              </a:defRPr>
            </a:defPPr>
          </a:lstStyle>
          <a:p xmlns:a="http://schemas.openxmlformats.org/drawingml/2006/main">
            <a:pPr algn="l">
              <a:defRPr sz="1275" b="0">
                <a:solidFill>
                  <a:srgbClr val="66736C"/>
                </a:solidFill>
                <a:latin typeface="Arial"/>
                <a:ea typeface="Arial"/>
                <a:cs typeface="Arial"/>
              </a:defRPr>
            </a:pPr>
            <a:r>
              <a:rPr sz="1275" b="0">
                <a:solidFill>
                  <a:srgbClr val="66736C"/>
                </a:solidFill>
                <a:latin typeface="Arial"/>
                <a:ea typeface="Arial"/>
                <a:cs typeface="Arial"/>
              </a:rPr>
              <a:t>Net sentiment = 100 × (positive − negative) / all present-state mentions.</a:t>
            </a:r>
          </a:p>
        </p:txBody>
      </p:sp>
    </p:spTree>
    <p:extLst>
      <p:ext uri="{BB962C8B-B14F-4D97-AF65-F5344CB8AC3E}">
        <p14:creationId xmlns:p14="http://schemas.microsoft.com/office/powerpoint/2010/main" val="1883804634"/>
      </p:ext>
    </p:extLst>
  </p:cSld>
</p:sld>
</file>

<file path=ppt/slides/slide34.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10" name="chapter">
            <a:extLst xmlns:a="http://schemas.openxmlformats.org/drawingml/2006/main">
              <a:ext uri="{FF2B5EF4-FFF2-40B4-BE49-F238E27FC236}">
                <a16:creationId xmlns:a16="http://schemas.microsoft.com/office/drawing/2014/main" id="{9654BA44-F6D3-45F3-B038-65A57DA8BD9C}"/>
              </a:ext>
            </a:extLst>
          </p:cNvPr>
          <p:cNvSpPr>
            <a:spLocks xmlns:a="http://schemas.openxmlformats.org/drawingml/2006/main" noGrp="1"/>
          </p:cNvSpPr>
          <p:nvPr/>
        </p:nvSpPr>
        <p:spPr>
          <a:xfrm xmlns:a="http://schemas.openxmlformats.org/drawingml/2006/main">
            <a:off x="685800" y="381000"/>
            <a:ext cx="933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39725C"/>
                </a:solidFill>
                <a:latin typeface="Arial"/>
                <a:ea typeface="Arial"/>
                <a:cs typeface="Arial"/>
              </a:defRPr>
            </a:defPPr>
          </a:lstStyle>
          <a:p xmlns:a="http://schemas.openxmlformats.org/drawingml/2006/main">
            <a:pPr algn="l">
              <a:defRPr sz="1200" b="1">
                <a:solidFill>
                  <a:srgbClr val="39725C"/>
                </a:solidFill>
                <a:latin typeface="Arial"/>
                <a:ea typeface="Arial"/>
                <a:cs typeface="Arial"/>
              </a:defRPr>
            </a:pPr>
            <a:r>
              <a:rPr sz="1200" b="1">
                <a:solidFill>
                  <a:srgbClr val="39725C"/>
                </a:solidFill>
                <a:latin typeface="Arial"/>
                <a:ea typeface="Arial"/>
                <a:cs typeface="Arial"/>
              </a:rPr>
              <a:t>THE INTERFACE</a:t>
            </a:r>
          </a:p>
        </p:txBody>
      </p:sp>
      <p:sp>
        <p:nvSpPr>
          <p:cNvPr id="2" name="primary-heading">
            <a:extLst xmlns:a="http://schemas.openxmlformats.org/drawingml/2006/main">
              <a:ext uri="{FF2B5EF4-FFF2-40B4-BE49-F238E27FC236}">
                <a16:creationId xmlns:a16="http://schemas.microsoft.com/office/drawing/2014/main" id="{C2864A7F-87A8-47FE-8B3E-243139318DF6}"/>
              </a:ext>
            </a:extLst>
          </p:cNvPr>
          <p:cNvSpPr>
            <a:spLocks xmlns:a="http://schemas.openxmlformats.org/drawingml/2006/main" noGrp="1"/>
          </p:cNvSpPr>
          <p:nvPr/>
        </p:nvSpPr>
        <p:spPr>
          <a:xfrm xmlns:a="http://schemas.openxmlformats.org/drawingml/2006/main">
            <a:off x="685800" y="83820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6332E"/>
                </a:solidFill>
                <a:latin typeface="Arial"/>
                <a:ea typeface="Arial"/>
                <a:cs typeface="Arial"/>
              </a:defRPr>
            </a:defPPr>
          </a:lstStyle>
          <a:p xmlns:a="http://schemas.openxmlformats.org/drawingml/2006/main">
            <a:pPr algn="l">
              <a:defRPr sz="3300" b="1">
                <a:solidFill>
                  <a:srgbClr val="26332E"/>
                </a:solidFill>
                <a:latin typeface="Arial"/>
                <a:ea typeface="Arial"/>
                <a:cs typeface="Arial"/>
              </a:defRPr>
            </a:pPr>
            <a:r>
              <a:rPr sz="3300" b="1">
                <a:solidFill>
                  <a:srgbClr val="26332E"/>
                </a:solidFill>
                <a:latin typeface="Arial"/>
                <a:ea typeface="Arial"/>
                <a:cs typeface="Arial"/>
              </a:rPr>
              <a:t>Dataset details expose preparation decisions</a:t>
            </a:r>
          </a:p>
        </p:txBody>
      </p:sp>
      <p:sp>
        <p:nvSpPr>
          <p:cNvPr id="3" name="footer-label">
            <a:extLst xmlns:a="http://schemas.openxmlformats.org/drawingml/2006/main">
              <a:ext uri="{FF2B5EF4-FFF2-40B4-BE49-F238E27FC236}">
                <a16:creationId xmlns:a16="http://schemas.microsoft.com/office/drawing/2014/main" id="{6707F3A7-6594-4DD9-9652-E1DDA465B310}"/>
              </a:ext>
            </a:extLst>
          </p:cNvPr>
          <p:cNvSpPr>
            <a:spLocks xmlns:a="http://schemas.openxmlformats.org/drawingml/2006/main" noGrp="1"/>
          </p:cNvSpPr>
          <p:nvPr/>
        </p:nvSpPr>
        <p:spPr>
          <a:xfrm xmlns:a="http://schemas.openxmlformats.org/drawingml/2006/main">
            <a:off x="685800" y="6505575"/>
            <a:ext cx="952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0">
                <a:solidFill>
                  <a:srgbClr val="66736C"/>
                </a:solidFill>
                <a:latin typeface="Arial"/>
                <a:ea typeface="Arial"/>
                <a:cs typeface="Arial"/>
              </a:defRPr>
            </a:defPPr>
          </a:lstStyle>
          <a:p xmlns:a="http://schemas.openxmlformats.org/drawingml/2006/main">
            <a:pPr algn="l">
              <a:defRPr sz="900" b="0">
                <a:solidFill>
                  <a:srgbClr val="66736C"/>
                </a:solidFill>
                <a:latin typeface="Arial"/>
                <a:ea typeface="Arial"/>
                <a:cs typeface="Arial"/>
              </a:defRPr>
            </a:pPr>
            <a:r>
              <a:rPr sz="900" b="0">
                <a:solidFill>
                  <a:srgbClr val="66736C"/>
                </a:solidFill>
                <a:latin typeface="Arial"/>
                <a:ea typeface="Arial"/>
                <a:cs typeface="Arial"/>
              </a:rPr>
              <a:t>ASPECT  /  PROJECT REFERENCE  /  1.0.0</a:t>
            </a:r>
          </a:p>
        </p:txBody>
      </p:sp>
      <p:sp>
        <p:nvSpPr>
          <p:cNvPr id="4" name="page-number">
            <a:extLst xmlns:a="http://schemas.openxmlformats.org/drawingml/2006/main">
              <a:ext uri="{FF2B5EF4-FFF2-40B4-BE49-F238E27FC236}">
                <a16:creationId xmlns:a16="http://schemas.microsoft.com/office/drawing/2014/main" id="{0C56DA0C-52E4-46F6-AEC4-312AC89DA4E6}"/>
              </a:ext>
            </a:extLst>
          </p:cNvPr>
          <p:cNvSpPr>
            <a:spLocks xmlns:a="http://schemas.openxmlformats.org/drawingml/2006/main" noGrp="1"/>
          </p:cNvSpPr>
          <p:nvPr/>
        </p:nvSpPr>
        <p:spPr>
          <a:xfrm xmlns:a="http://schemas.openxmlformats.org/drawingml/2006/main">
            <a:off x="10620375" y="6505575"/>
            <a:ext cx="8858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a:solidFill>
                  <a:srgbClr val="66736C"/>
                </a:solidFill>
                <a:latin typeface="Arial"/>
                <a:ea typeface="Arial"/>
                <a:cs typeface="Arial"/>
              </a:defRPr>
            </a:defPPr>
          </a:lstStyle>
          <a:p xmlns:a="http://schemas.openxmlformats.org/drawingml/2006/main">
            <a:pPr algn="r">
              <a:defRPr sz="900" b="0">
                <a:solidFill>
                  <a:srgbClr val="66736C"/>
                </a:solidFill>
                <a:latin typeface="Arial"/>
                <a:ea typeface="Arial"/>
                <a:cs typeface="Arial"/>
              </a:defRPr>
            </a:pPr>
            <a:r>
              <a:rPr sz="900" b="0">
                <a:solidFill>
                  <a:srgbClr val="66736C"/>
                </a:solidFill>
                <a:latin typeface="Arial"/>
                <a:ea typeface="Arial"/>
                <a:cs typeface="Arial"/>
              </a:rPr>
              <a:t>34 / 52</a:t>
            </a:r>
          </a:p>
        </p:txBody>
      </p:sp>
      <p:pic>
        <p:nvPicPr>
          <p:cNvPr id="5" name="">
            <a:extLst xmlns:a="http://schemas.openxmlformats.org/drawingml/2006/main">
              <a:ext uri="{FF2B5EF4-FFF2-40B4-BE49-F238E27FC236}">
                <a16:creationId xmlns:a16="http://schemas.microsoft.com/office/drawing/2014/main" id="{CABACF23-17D7-41D3-A0C6-95ED561BAECB}"/>
              </a:ext>
            </a:extLst>
          </p:cNvPr>
          <p:cNvPicPr>
            <a:picLocks xmlns:a="http://schemas.openxmlformats.org/drawingml/2006/main" noChangeAspect="1"/>
          </p:cNvPicPr>
          <p:nvPr/>
        </p:nvPicPr>
        <p:blipFill>
          <a:blip xmlns:r="http://schemas.openxmlformats.org/officeDocument/2006/relationships" xmlns:a="http://schemas.openxmlformats.org/drawingml/2006/main" r:embed="R35882b367caf49ee"/>
          <a:stretch xmlns:a="http://schemas.openxmlformats.org/drawingml/2006/main"/>
        </p:blipFill>
        <p:spPr>
          <a:xfrm xmlns:a="http://schemas.openxmlformats.org/drawingml/2006/main">
            <a:off x="4533900" y="1849041"/>
            <a:ext cx="6972300" cy="3921919"/>
          </a:xfrm>
          <a:prstGeom xmlns:a="http://schemas.openxmlformats.org/drawingml/2006/main" prst="rect">
            <a:avLst/>
          </a:prstGeom>
        </p:spPr>
      </p:pic>
      <p:sp>
        <p:nvSpPr>
          <p:cNvPr id="6" name="explanation-0">
            <a:extLst xmlns:a="http://schemas.openxmlformats.org/drawingml/2006/main">
              <a:ext uri="{FF2B5EF4-FFF2-40B4-BE49-F238E27FC236}">
                <a16:creationId xmlns:a16="http://schemas.microsoft.com/office/drawing/2014/main" id="{250139A1-AB6D-4C1D-B655-77BEAE6CC29D}"/>
              </a:ext>
            </a:extLst>
          </p:cNvPr>
          <p:cNvSpPr>
            <a:spLocks xmlns:a="http://schemas.openxmlformats.org/drawingml/2006/main" noGrp="1"/>
          </p:cNvSpPr>
          <p:nvPr/>
        </p:nvSpPr>
        <p:spPr>
          <a:xfrm xmlns:a="http://schemas.openxmlformats.org/drawingml/2006/main">
            <a:off x="685800" y="1809750"/>
            <a:ext cx="33718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6332E"/>
                </a:solidFill>
                <a:latin typeface="Arial"/>
                <a:ea typeface="Arial"/>
                <a:cs typeface="Arial"/>
              </a:defRPr>
            </a:defPPr>
          </a:lstStyle>
          <a:p xmlns:a="http://schemas.openxmlformats.org/drawingml/2006/main">
            <a:pPr algn="l">
              <a:defRPr sz="1950" b="0">
                <a:solidFill>
                  <a:srgbClr val="26332E"/>
                </a:solidFill>
                <a:latin typeface="Arial"/>
                <a:ea typeface="Arial"/>
                <a:cs typeface="Arial"/>
              </a:defRPr>
            </a:pPr>
            <a:r>
              <a:rPr sz="1950" b="0">
                <a:solidFill>
                  <a:srgbClr val="26332E"/>
                </a:solidFill>
                <a:latin typeface="Arial"/>
                <a:ea typeface="Arial"/>
                <a:cs typeface="Arial"/>
              </a:rPr>
              <a:t>Inspect source identity, accepted reviews and excluded rows.</a:t>
            </a:r>
          </a:p>
        </p:txBody>
      </p:sp>
      <p:sp>
        <p:nvSpPr>
          <p:cNvPr id="7" name="explanation-1">
            <a:extLst xmlns:a="http://schemas.openxmlformats.org/drawingml/2006/main">
              <a:ext uri="{FF2B5EF4-FFF2-40B4-BE49-F238E27FC236}">
                <a16:creationId xmlns:a16="http://schemas.microsoft.com/office/drawing/2014/main" id="{3C7FEFB1-3500-40DE-8E75-BDD42E08D6DF}"/>
              </a:ext>
            </a:extLst>
          </p:cNvPr>
          <p:cNvSpPr>
            <a:spLocks xmlns:a="http://schemas.openxmlformats.org/drawingml/2006/main" noGrp="1"/>
          </p:cNvSpPr>
          <p:nvPr/>
        </p:nvSpPr>
        <p:spPr>
          <a:xfrm xmlns:a="http://schemas.openxmlformats.org/drawingml/2006/main">
            <a:off x="685800" y="3019425"/>
            <a:ext cx="33718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6332E"/>
                </a:solidFill>
                <a:latin typeface="Arial"/>
                <a:ea typeface="Arial"/>
                <a:cs typeface="Arial"/>
              </a:defRPr>
            </a:defPPr>
          </a:lstStyle>
          <a:p xmlns:a="http://schemas.openxmlformats.org/drawingml/2006/main">
            <a:pPr algn="l">
              <a:defRPr sz="1950" b="0">
                <a:solidFill>
                  <a:srgbClr val="26332E"/>
                </a:solidFill>
                <a:latin typeface="Arial"/>
                <a:ea typeface="Arial"/>
                <a:cs typeface="Arial"/>
              </a:defRPr>
            </a:pPr>
            <a:r>
              <a:rPr sz="1950" b="0">
                <a:solidFill>
                  <a:srgbClr val="26332E"/>
                </a:solidFill>
                <a:latin typeface="Arial"/>
                <a:ea typeface="Arial"/>
                <a:cs typeface="Arial"/>
              </a:rPr>
              <a:t>Read exclusion reasons or CSV rejection examples.</a:t>
            </a:r>
          </a:p>
        </p:txBody>
      </p:sp>
      <p:sp>
        <p:nvSpPr>
          <p:cNvPr id="8" name="explanation-2">
            <a:extLst xmlns:a="http://schemas.openxmlformats.org/drawingml/2006/main">
              <a:ext uri="{FF2B5EF4-FFF2-40B4-BE49-F238E27FC236}">
                <a16:creationId xmlns:a16="http://schemas.microsoft.com/office/drawing/2014/main" id="{F0A81F98-978E-4778-AB5B-8F2418F0596E}"/>
              </a:ext>
            </a:extLst>
          </p:cNvPr>
          <p:cNvSpPr>
            <a:spLocks xmlns:a="http://schemas.openxmlformats.org/drawingml/2006/main" noGrp="1"/>
          </p:cNvSpPr>
          <p:nvPr/>
        </p:nvSpPr>
        <p:spPr>
          <a:xfrm xmlns:a="http://schemas.openxmlformats.org/drawingml/2006/main">
            <a:off x="685800" y="4048125"/>
            <a:ext cx="33718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6332E"/>
                </a:solidFill>
                <a:latin typeface="Arial"/>
                <a:ea typeface="Arial"/>
                <a:cs typeface="Arial"/>
              </a:defRPr>
            </a:defPPr>
          </a:lstStyle>
          <a:p xmlns:a="http://schemas.openxmlformats.org/drawingml/2006/main">
            <a:pPr algn="l">
              <a:defRPr sz="1950" b="0">
                <a:solidFill>
                  <a:srgbClr val="26332E"/>
                </a:solidFill>
                <a:latin typeface="Arial"/>
                <a:ea typeface="Arial"/>
                <a:cs typeface="Arial"/>
              </a:defRPr>
            </a:pPr>
            <a:r>
              <a:rPr sz="1950" b="0">
                <a:solidFill>
                  <a:srgbClr val="26332E"/>
                </a:solidFill>
                <a:latin typeface="Arial"/>
                <a:ea typeface="Arial"/>
                <a:cs typeface="Arial"/>
              </a:rPr>
              <a:t>Download the manifest to retain the source and preparation record.</a:t>
            </a:r>
          </a:p>
        </p:txBody>
      </p:sp>
      <p:sp>
        <p:nvSpPr>
          <p:cNvPr id="9" name="image-caption">
            <a:extLst xmlns:a="http://schemas.openxmlformats.org/drawingml/2006/main">
              <a:ext uri="{FF2B5EF4-FFF2-40B4-BE49-F238E27FC236}">
                <a16:creationId xmlns:a16="http://schemas.microsoft.com/office/drawing/2014/main" id="{D8F70691-597C-457F-B45D-5A8B7C0462B0}"/>
              </a:ext>
            </a:extLst>
          </p:cNvPr>
          <p:cNvSpPr>
            <a:spLocks xmlns:a="http://schemas.openxmlformats.org/drawingml/2006/main" noGrp="1"/>
          </p:cNvSpPr>
          <p:nvPr/>
        </p:nvSpPr>
        <p:spPr>
          <a:xfrm xmlns:a="http://schemas.openxmlformats.org/drawingml/2006/main">
            <a:off x="4533900" y="5991225"/>
            <a:ext cx="6972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66736C"/>
                </a:solidFill>
                <a:latin typeface="Arial"/>
                <a:ea typeface="Arial"/>
                <a:cs typeface="Arial"/>
              </a:defRPr>
            </a:defPPr>
          </a:lstStyle>
          <a:p xmlns:a="http://schemas.openxmlformats.org/drawingml/2006/main">
            <a:pPr algn="l">
              <a:defRPr sz="1275" b="0">
                <a:solidFill>
                  <a:srgbClr val="66736C"/>
                </a:solidFill>
                <a:latin typeface="Arial"/>
                <a:ea typeface="Arial"/>
                <a:cs typeface="Arial"/>
              </a:defRPr>
            </a:pPr>
            <a:r>
              <a:rPr sz="1275" b="0">
                <a:solidFill>
                  <a:srgbClr val="66736C"/>
                </a:solidFill>
                <a:latin typeface="Arial"/>
                <a:ea typeface="Arial"/>
                <a:cs typeface="Arial"/>
              </a:rPr>
              <a:t>The source corpus excludes 63,640 rows through scope, language, duplicates and sampling.</a:t>
            </a:r>
          </a:p>
        </p:txBody>
      </p:sp>
    </p:spTree>
    <p:extLst>
      <p:ext uri="{BB962C8B-B14F-4D97-AF65-F5344CB8AC3E}">
        <p14:creationId xmlns:p14="http://schemas.microsoft.com/office/powerpoint/2010/main" val="542325808"/>
      </p:ext>
    </p:extLst>
  </p:cSld>
</p:sld>
</file>

<file path=ppt/slides/slide35.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10" name="chapter">
            <a:extLst xmlns:a="http://schemas.openxmlformats.org/drawingml/2006/main">
              <a:ext uri="{FF2B5EF4-FFF2-40B4-BE49-F238E27FC236}">
                <a16:creationId xmlns:a16="http://schemas.microsoft.com/office/drawing/2014/main" id="{9B1FABEE-374B-4730-B39E-23A1CF7C18C3}"/>
              </a:ext>
            </a:extLst>
          </p:cNvPr>
          <p:cNvSpPr>
            <a:spLocks xmlns:a="http://schemas.openxmlformats.org/drawingml/2006/main" noGrp="1"/>
          </p:cNvSpPr>
          <p:nvPr/>
        </p:nvSpPr>
        <p:spPr>
          <a:xfrm xmlns:a="http://schemas.openxmlformats.org/drawingml/2006/main">
            <a:off x="685800" y="381000"/>
            <a:ext cx="933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39725C"/>
                </a:solidFill>
                <a:latin typeface="Arial"/>
                <a:ea typeface="Arial"/>
                <a:cs typeface="Arial"/>
              </a:defRPr>
            </a:defPPr>
          </a:lstStyle>
          <a:p xmlns:a="http://schemas.openxmlformats.org/drawingml/2006/main">
            <a:pPr algn="l">
              <a:defRPr sz="1200" b="1">
                <a:solidFill>
                  <a:srgbClr val="39725C"/>
                </a:solidFill>
                <a:latin typeface="Arial"/>
                <a:ea typeface="Arial"/>
                <a:cs typeface="Arial"/>
              </a:defRPr>
            </a:pPr>
            <a:r>
              <a:rPr sz="1200" b="1">
                <a:solidFill>
                  <a:srgbClr val="39725C"/>
                </a:solidFill>
                <a:latin typeface="Arial"/>
                <a:ea typeface="Arial"/>
                <a:cs typeface="Arial"/>
              </a:rPr>
              <a:t>THE INTERFACE</a:t>
            </a:r>
          </a:p>
        </p:txBody>
      </p:sp>
      <p:sp>
        <p:nvSpPr>
          <p:cNvPr id="2" name="primary-heading">
            <a:extLst xmlns:a="http://schemas.openxmlformats.org/drawingml/2006/main">
              <a:ext uri="{FF2B5EF4-FFF2-40B4-BE49-F238E27FC236}">
                <a16:creationId xmlns:a16="http://schemas.microsoft.com/office/drawing/2014/main" id="{68E9A0AD-A689-4920-9FB3-C7D5D4AA2ABF}"/>
              </a:ext>
            </a:extLst>
          </p:cNvPr>
          <p:cNvSpPr>
            <a:spLocks xmlns:a="http://schemas.openxmlformats.org/drawingml/2006/main" noGrp="1"/>
          </p:cNvSpPr>
          <p:nvPr/>
        </p:nvSpPr>
        <p:spPr>
          <a:xfrm xmlns:a="http://schemas.openxmlformats.org/drawingml/2006/main">
            <a:off x="685800" y="83820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6332E"/>
                </a:solidFill>
                <a:latin typeface="Arial"/>
                <a:ea typeface="Arial"/>
                <a:cs typeface="Arial"/>
              </a:defRPr>
            </a:defPPr>
          </a:lstStyle>
          <a:p xmlns:a="http://schemas.openxmlformats.org/drawingml/2006/main">
            <a:pPr algn="l">
              <a:defRPr sz="3300" b="1">
                <a:solidFill>
                  <a:srgbClr val="26332E"/>
                </a:solidFill>
                <a:latin typeface="Arial"/>
                <a:ea typeface="Arial"/>
                <a:cs typeface="Arial"/>
              </a:defRPr>
            </a:pPr>
            <a:r>
              <a:rPr sz="3300" b="1">
                <a:solidFill>
                  <a:srgbClr val="26332E"/>
                </a:solidFill>
                <a:latin typeface="Arial"/>
                <a:ea typeface="Arial"/>
                <a:cs typeface="Arial"/>
              </a:rPr>
              <a:t>Annotation stays separate from predictions</a:t>
            </a:r>
          </a:p>
        </p:txBody>
      </p:sp>
      <p:sp>
        <p:nvSpPr>
          <p:cNvPr id="3" name="footer-label">
            <a:extLst xmlns:a="http://schemas.openxmlformats.org/drawingml/2006/main">
              <a:ext uri="{FF2B5EF4-FFF2-40B4-BE49-F238E27FC236}">
                <a16:creationId xmlns:a16="http://schemas.microsoft.com/office/drawing/2014/main" id="{59C49F7F-73FA-4156-8D24-8BE27BDB8BB6}"/>
              </a:ext>
            </a:extLst>
          </p:cNvPr>
          <p:cNvSpPr>
            <a:spLocks xmlns:a="http://schemas.openxmlformats.org/drawingml/2006/main" noGrp="1"/>
          </p:cNvSpPr>
          <p:nvPr/>
        </p:nvSpPr>
        <p:spPr>
          <a:xfrm xmlns:a="http://schemas.openxmlformats.org/drawingml/2006/main">
            <a:off x="685800" y="6505575"/>
            <a:ext cx="952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0">
                <a:solidFill>
                  <a:srgbClr val="66736C"/>
                </a:solidFill>
                <a:latin typeface="Arial"/>
                <a:ea typeface="Arial"/>
                <a:cs typeface="Arial"/>
              </a:defRPr>
            </a:defPPr>
          </a:lstStyle>
          <a:p xmlns:a="http://schemas.openxmlformats.org/drawingml/2006/main">
            <a:pPr algn="l">
              <a:defRPr sz="900" b="0">
                <a:solidFill>
                  <a:srgbClr val="66736C"/>
                </a:solidFill>
                <a:latin typeface="Arial"/>
                <a:ea typeface="Arial"/>
                <a:cs typeface="Arial"/>
              </a:defRPr>
            </a:pPr>
            <a:r>
              <a:rPr sz="900" b="0">
                <a:solidFill>
                  <a:srgbClr val="66736C"/>
                </a:solidFill>
                <a:latin typeface="Arial"/>
                <a:ea typeface="Arial"/>
                <a:cs typeface="Arial"/>
              </a:rPr>
              <a:t>ASPECT  /  PROJECT REFERENCE  /  1.0.0</a:t>
            </a:r>
          </a:p>
        </p:txBody>
      </p:sp>
      <p:sp>
        <p:nvSpPr>
          <p:cNvPr id="4" name="page-number">
            <a:extLst xmlns:a="http://schemas.openxmlformats.org/drawingml/2006/main">
              <a:ext uri="{FF2B5EF4-FFF2-40B4-BE49-F238E27FC236}">
                <a16:creationId xmlns:a16="http://schemas.microsoft.com/office/drawing/2014/main" id="{60241EFC-BC91-4781-B06C-7536700B2884}"/>
              </a:ext>
            </a:extLst>
          </p:cNvPr>
          <p:cNvSpPr>
            <a:spLocks xmlns:a="http://schemas.openxmlformats.org/drawingml/2006/main" noGrp="1"/>
          </p:cNvSpPr>
          <p:nvPr/>
        </p:nvSpPr>
        <p:spPr>
          <a:xfrm xmlns:a="http://schemas.openxmlformats.org/drawingml/2006/main">
            <a:off x="10620375" y="6505575"/>
            <a:ext cx="8858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a:solidFill>
                  <a:srgbClr val="66736C"/>
                </a:solidFill>
                <a:latin typeface="Arial"/>
                <a:ea typeface="Arial"/>
                <a:cs typeface="Arial"/>
              </a:defRPr>
            </a:defPPr>
          </a:lstStyle>
          <a:p xmlns:a="http://schemas.openxmlformats.org/drawingml/2006/main">
            <a:pPr algn="r">
              <a:defRPr sz="900" b="0">
                <a:solidFill>
                  <a:srgbClr val="66736C"/>
                </a:solidFill>
                <a:latin typeface="Arial"/>
                <a:ea typeface="Arial"/>
                <a:cs typeface="Arial"/>
              </a:defRPr>
            </a:pPr>
            <a:r>
              <a:rPr sz="900" b="0">
                <a:solidFill>
                  <a:srgbClr val="66736C"/>
                </a:solidFill>
                <a:latin typeface="Arial"/>
                <a:ea typeface="Arial"/>
                <a:cs typeface="Arial"/>
              </a:rPr>
              <a:t>35 / 52</a:t>
            </a:r>
          </a:p>
        </p:txBody>
      </p:sp>
      <p:pic>
        <p:nvPicPr>
          <p:cNvPr id="5" name="">
            <a:extLst xmlns:a="http://schemas.openxmlformats.org/drawingml/2006/main">
              <a:ext uri="{FF2B5EF4-FFF2-40B4-BE49-F238E27FC236}">
                <a16:creationId xmlns:a16="http://schemas.microsoft.com/office/drawing/2014/main" id="{AAB80394-D6A2-4EDF-A4E5-9D0CA8D5EE0F}"/>
              </a:ext>
            </a:extLst>
          </p:cNvPr>
          <p:cNvPicPr>
            <a:picLocks xmlns:a="http://schemas.openxmlformats.org/drawingml/2006/main" noChangeAspect="1"/>
          </p:cNvPicPr>
          <p:nvPr/>
        </p:nvPicPr>
        <p:blipFill>
          <a:blip xmlns:r="http://schemas.openxmlformats.org/officeDocument/2006/relationships" xmlns:a="http://schemas.openxmlformats.org/drawingml/2006/main" r:embed="Rbe80abd37f024f6f"/>
          <a:stretch xmlns:a="http://schemas.openxmlformats.org/drawingml/2006/main"/>
        </p:blipFill>
        <p:spPr>
          <a:xfrm xmlns:a="http://schemas.openxmlformats.org/drawingml/2006/main">
            <a:off x="4533900" y="1849041"/>
            <a:ext cx="6972300" cy="3921919"/>
          </a:xfrm>
          <a:prstGeom xmlns:a="http://schemas.openxmlformats.org/drawingml/2006/main" prst="rect">
            <a:avLst/>
          </a:prstGeom>
        </p:spPr>
      </p:pic>
      <p:sp>
        <p:nvSpPr>
          <p:cNvPr id="6" name="explanation-0">
            <a:extLst xmlns:a="http://schemas.openxmlformats.org/drawingml/2006/main">
              <a:ext uri="{FF2B5EF4-FFF2-40B4-BE49-F238E27FC236}">
                <a16:creationId xmlns:a16="http://schemas.microsoft.com/office/drawing/2014/main" id="{84F918D0-7571-4231-A94D-96BD4998FA7B}"/>
              </a:ext>
            </a:extLst>
          </p:cNvPr>
          <p:cNvSpPr>
            <a:spLocks xmlns:a="http://schemas.openxmlformats.org/drawingml/2006/main" noGrp="1"/>
          </p:cNvSpPr>
          <p:nvPr/>
        </p:nvSpPr>
        <p:spPr>
          <a:xfrm xmlns:a="http://schemas.openxmlformats.org/drawingml/2006/main">
            <a:off x="685800" y="1809750"/>
            <a:ext cx="33718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6332E"/>
                </a:solidFill>
                <a:latin typeface="Arial"/>
                <a:ea typeface="Arial"/>
                <a:cs typeface="Arial"/>
              </a:defRPr>
            </a:defPPr>
          </a:lstStyle>
          <a:p xmlns:a="http://schemas.openxmlformats.org/drawingml/2006/main">
            <a:pPr algn="l">
              <a:defRPr sz="1950" b="0">
                <a:solidFill>
                  <a:srgbClr val="26332E"/>
                </a:solidFill>
                <a:latin typeface="Arial"/>
                <a:ea typeface="Arial"/>
                <a:cs typeface="Arial"/>
              </a:defRPr>
            </a:pPr>
            <a:r>
              <a:rPr sz="1950" b="0">
                <a:solidFill>
                  <a:srgbClr val="26332E"/>
                </a:solidFill>
                <a:latin typeface="Arial"/>
                <a:ea typeface="Arial"/>
                <a:cs typeface="Arial"/>
              </a:rPr>
              <a:t>Choose the study, partition and completion filter.</a:t>
            </a:r>
          </a:p>
        </p:txBody>
      </p:sp>
      <p:sp>
        <p:nvSpPr>
          <p:cNvPr id="7" name="explanation-1">
            <a:extLst xmlns:a="http://schemas.openxmlformats.org/drawingml/2006/main">
              <a:ext uri="{FF2B5EF4-FFF2-40B4-BE49-F238E27FC236}">
                <a16:creationId xmlns:a16="http://schemas.microsoft.com/office/drawing/2014/main" id="{A298FBBB-5FB8-4B0F-9914-F0DF3BCE693B}"/>
              </a:ext>
            </a:extLst>
          </p:cNvPr>
          <p:cNvSpPr>
            <a:spLocks xmlns:a="http://schemas.openxmlformats.org/drawingml/2006/main" noGrp="1"/>
          </p:cNvSpPr>
          <p:nvPr/>
        </p:nvSpPr>
        <p:spPr>
          <a:xfrm xmlns:a="http://schemas.openxmlformats.org/drawingml/2006/main">
            <a:off x="685800" y="2838450"/>
            <a:ext cx="33718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6332E"/>
                </a:solidFill>
                <a:latin typeface="Arial"/>
                <a:ea typeface="Arial"/>
                <a:cs typeface="Arial"/>
              </a:defRPr>
            </a:defPPr>
          </a:lstStyle>
          <a:p xmlns:a="http://schemas.openxmlformats.org/drawingml/2006/main">
            <a:pPr algn="l">
              <a:defRPr sz="1950" b="0">
                <a:solidFill>
                  <a:srgbClr val="26332E"/>
                </a:solidFill>
                <a:latin typeface="Arial"/>
                <a:ea typeface="Arial"/>
                <a:cs typeface="Arial"/>
              </a:defRPr>
            </a:pPr>
            <a:r>
              <a:rPr sz="1950" b="0">
                <a:solidFill>
                  <a:srgbClr val="26332E"/>
                </a:solidFill>
                <a:latin typeface="Arial"/>
                <a:ea typeface="Arial"/>
                <a:cs typeface="Arial"/>
              </a:rPr>
              <a:t>Assign every category state and explicit or implicit references.</a:t>
            </a:r>
          </a:p>
        </p:txBody>
      </p:sp>
      <p:sp>
        <p:nvSpPr>
          <p:cNvPr id="8" name="explanation-2">
            <a:extLst xmlns:a="http://schemas.openxmlformats.org/drawingml/2006/main">
              <a:ext uri="{FF2B5EF4-FFF2-40B4-BE49-F238E27FC236}">
                <a16:creationId xmlns:a16="http://schemas.microsoft.com/office/drawing/2014/main" id="{64C2948C-2202-4854-953B-51998E5878E7}"/>
              </a:ext>
            </a:extLst>
          </p:cNvPr>
          <p:cNvSpPr>
            <a:spLocks xmlns:a="http://schemas.openxmlformats.org/drawingml/2006/main" noGrp="1"/>
          </p:cNvSpPr>
          <p:nvPr/>
        </p:nvSpPr>
        <p:spPr>
          <a:xfrm xmlns:a="http://schemas.openxmlformats.org/drawingml/2006/main">
            <a:off x="685800" y="4048125"/>
            <a:ext cx="33718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6332E"/>
                </a:solidFill>
                <a:latin typeface="Arial"/>
                <a:ea typeface="Arial"/>
                <a:cs typeface="Arial"/>
              </a:defRPr>
            </a:defPPr>
          </a:lstStyle>
          <a:p xmlns:a="http://schemas.openxmlformats.org/drawingml/2006/main">
            <a:pPr algn="l">
              <a:defRPr sz="1950" b="0">
                <a:solidFill>
                  <a:srgbClr val="26332E"/>
                </a:solidFill>
                <a:latin typeface="Arial"/>
                <a:ea typeface="Arial"/>
                <a:cs typeface="Arial"/>
              </a:defRPr>
            </a:pPr>
            <a:r>
              <a:rPr sz="1950" b="0">
                <a:solidFill>
                  <a:srgbClr val="26332E"/>
                </a:solidFill>
                <a:latin typeface="Arial"/>
                <a:ea typeface="Arial"/>
                <a:cs typeface="Arial"/>
              </a:rPr>
              <a:t>Save a draft or complete a sentence. Edits retain origin and history.</a:t>
            </a:r>
          </a:p>
        </p:txBody>
      </p:sp>
      <p:sp>
        <p:nvSpPr>
          <p:cNvPr id="9" name="image-caption">
            <a:extLst xmlns:a="http://schemas.openxmlformats.org/drawingml/2006/main">
              <a:ext uri="{FF2B5EF4-FFF2-40B4-BE49-F238E27FC236}">
                <a16:creationId xmlns:a16="http://schemas.microsoft.com/office/drawing/2014/main" id="{64C40BFD-D7C8-4EA2-803D-FAE504FF23A0}"/>
              </a:ext>
            </a:extLst>
          </p:cNvPr>
          <p:cNvSpPr>
            <a:spLocks xmlns:a="http://schemas.openxmlformats.org/drawingml/2006/main" noGrp="1"/>
          </p:cNvSpPr>
          <p:nvPr/>
        </p:nvSpPr>
        <p:spPr>
          <a:xfrm xmlns:a="http://schemas.openxmlformats.org/drawingml/2006/main">
            <a:off x="4533900" y="5991225"/>
            <a:ext cx="6972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66736C"/>
                </a:solidFill>
                <a:latin typeface="Arial"/>
                <a:ea typeface="Arial"/>
                <a:cs typeface="Arial"/>
              </a:defRPr>
            </a:defPPr>
          </a:lstStyle>
          <a:p xmlns:a="http://schemas.openxmlformats.org/drawingml/2006/main">
            <a:pPr algn="l">
              <a:defRPr sz="1275" b="0">
                <a:solidFill>
                  <a:srgbClr val="66736C"/>
                </a:solidFill>
                <a:latin typeface="Arial"/>
                <a:ea typeface="Arial"/>
                <a:cs typeface="Arial"/>
              </a:defRPr>
            </a:pPr>
            <a:r>
              <a:rPr sz="1275" b="0">
                <a:solidFill>
                  <a:srgbClr val="66736C"/>
                </a:solidFill>
                <a:latin typeface="Arial"/>
                <a:ea typeface="Arial"/>
                <a:cs typeface="Arial"/>
              </a:rPr>
              <a:t>Actual reviewed validation partition. Human and AI-assisted origins remain distinct.</a:t>
            </a:r>
          </a:p>
        </p:txBody>
      </p:sp>
    </p:spTree>
    <p:extLst>
      <p:ext uri="{BB962C8B-B14F-4D97-AF65-F5344CB8AC3E}">
        <p14:creationId xmlns:p14="http://schemas.microsoft.com/office/powerpoint/2010/main" val="1316908860"/>
      </p:ext>
    </p:extLst>
  </p:cSld>
</p:sld>
</file>

<file path=ppt/slides/slide36.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10" name="chapter">
            <a:extLst xmlns:a="http://schemas.openxmlformats.org/drawingml/2006/main">
              <a:ext uri="{FF2B5EF4-FFF2-40B4-BE49-F238E27FC236}">
                <a16:creationId xmlns:a16="http://schemas.microsoft.com/office/drawing/2014/main" id="{9840C255-6AA2-401F-A18F-CDEBE3647064}"/>
              </a:ext>
            </a:extLst>
          </p:cNvPr>
          <p:cNvSpPr>
            <a:spLocks xmlns:a="http://schemas.openxmlformats.org/drawingml/2006/main" noGrp="1"/>
          </p:cNvSpPr>
          <p:nvPr/>
        </p:nvSpPr>
        <p:spPr>
          <a:xfrm xmlns:a="http://schemas.openxmlformats.org/drawingml/2006/main">
            <a:off x="685800" y="381000"/>
            <a:ext cx="933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39725C"/>
                </a:solidFill>
                <a:latin typeface="Arial"/>
                <a:ea typeface="Arial"/>
                <a:cs typeface="Arial"/>
              </a:defRPr>
            </a:defPPr>
          </a:lstStyle>
          <a:p xmlns:a="http://schemas.openxmlformats.org/drawingml/2006/main">
            <a:pPr algn="l">
              <a:defRPr sz="1200" b="1">
                <a:solidFill>
                  <a:srgbClr val="39725C"/>
                </a:solidFill>
                <a:latin typeface="Arial"/>
                <a:ea typeface="Arial"/>
                <a:cs typeface="Arial"/>
              </a:defRPr>
            </a:pPr>
            <a:r>
              <a:rPr sz="1200" b="1">
                <a:solidFill>
                  <a:srgbClr val="39725C"/>
                </a:solidFill>
                <a:latin typeface="Arial"/>
                <a:ea typeface="Arial"/>
                <a:cs typeface="Arial"/>
              </a:rPr>
              <a:t>THE INTERFACE</a:t>
            </a:r>
          </a:p>
        </p:txBody>
      </p:sp>
      <p:sp>
        <p:nvSpPr>
          <p:cNvPr id="2" name="primary-heading">
            <a:extLst xmlns:a="http://schemas.openxmlformats.org/drawingml/2006/main">
              <a:ext uri="{FF2B5EF4-FFF2-40B4-BE49-F238E27FC236}">
                <a16:creationId xmlns:a16="http://schemas.microsoft.com/office/drawing/2014/main" id="{5DC948FF-DAA0-41A3-9EE7-71E5FE885F59}"/>
              </a:ext>
            </a:extLst>
          </p:cNvPr>
          <p:cNvSpPr>
            <a:spLocks xmlns:a="http://schemas.openxmlformats.org/drawingml/2006/main" noGrp="1"/>
          </p:cNvSpPr>
          <p:nvPr/>
        </p:nvSpPr>
        <p:spPr>
          <a:xfrm xmlns:a="http://schemas.openxmlformats.org/drawingml/2006/main">
            <a:off x="685800" y="83820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6332E"/>
                </a:solidFill>
                <a:latin typeface="Arial"/>
                <a:ea typeface="Arial"/>
                <a:cs typeface="Arial"/>
              </a:defRPr>
            </a:defPPr>
          </a:lstStyle>
          <a:p xmlns:a="http://schemas.openxmlformats.org/drawingml/2006/main">
            <a:pPr algn="l">
              <a:defRPr sz="3300" b="1">
                <a:solidFill>
                  <a:srgbClr val="26332E"/>
                </a:solidFill>
                <a:latin typeface="Arial"/>
                <a:ea typeface="Arial"/>
                <a:cs typeface="Arial"/>
              </a:defRPr>
            </a:pPr>
            <a:r>
              <a:rPr sz="3300" b="1">
                <a:solidFill>
                  <a:srgbClr val="26332E"/>
                </a:solidFill>
                <a:latin typeface="Arial"/>
                <a:ea typeface="Arial"/>
                <a:cs typeface="Arial"/>
              </a:rPr>
              <a:t>Evaluation exposes both results and their limits</a:t>
            </a:r>
          </a:p>
        </p:txBody>
      </p:sp>
      <p:sp>
        <p:nvSpPr>
          <p:cNvPr id="3" name="footer-label">
            <a:extLst xmlns:a="http://schemas.openxmlformats.org/drawingml/2006/main">
              <a:ext uri="{FF2B5EF4-FFF2-40B4-BE49-F238E27FC236}">
                <a16:creationId xmlns:a16="http://schemas.microsoft.com/office/drawing/2014/main" id="{7B333EBE-6CD4-43A6-AF7A-976C41252CD9}"/>
              </a:ext>
            </a:extLst>
          </p:cNvPr>
          <p:cNvSpPr>
            <a:spLocks xmlns:a="http://schemas.openxmlformats.org/drawingml/2006/main" noGrp="1"/>
          </p:cNvSpPr>
          <p:nvPr/>
        </p:nvSpPr>
        <p:spPr>
          <a:xfrm xmlns:a="http://schemas.openxmlformats.org/drawingml/2006/main">
            <a:off x="685800" y="6505575"/>
            <a:ext cx="952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0">
                <a:solidFill>
                  <a:srgbClr val="66736C"/>
                </a:solidFill>
                <a:latin typeface="Arial"/>
                <a:ea typeface="Arial"/>
                <a:cs typeface="Arial"/>
              </a:defRPr>
            </a:defPPr>
          </a:lstStyle>
          <a:p xmlns:a="http://schemas.openxmlformats.org/drawingml/2006/main">
            <a:pPr algn="l">
              <a:defRPr sz="900" b="0">
                <a:solidFill>
                  <a:srgbClr val="66736C"/>
                </a:solidFill>
                <a:latin typeface="Arial"/>
                <a:ea typeface="Arial"/>
                <a:cs typeface="Arial"/>
              </a:defRPr>
            </a:pPr>
            <a:r>
              <a:rPr sz="900" b="0">
                <a:solidFill>
                  <a:srgbClr val="66736C"/>
                </a:solidFill>
                <a:latin typeface="Arial"/>
                <a:ea typeface="Arial"/>
                <a:cs typeface="Arial"/>
              </a:rPr>
              <a:t>ASPECT  /  PROJECT REFERENCE  /  1.0.0</a:t>
            </a:r>
          </a:p>
        </p:txBody>
      </p:sp>
      <p:sp>
        <p:nvSpPr>
          <p:cNvPr id="4" name="page-number">
            <a:extLst xmlns:a="http://schemas.openxmlformats.org/drawingml/2006/main">
              <a:ext uri="{FF2B5EF4-FFF2-40B4-BE49-F238E27FC236}">
                <a16:creationId xmlns:a16="http://schemas.microsoft.com/office/drawing/2014/main" id="{E671D99B-CBB5-4EA5-BB5F-B720239C16CE}"/>
              </a:ext>
            </a:extLst>
          </p:cNvPr>
          <p:cNvSpPr>
            <a:spLocks xmlns:a="http://schemas.openxmlformats.org/drawingml/2006/main" noGrp="1"/>
          </p:cNvSpPr>
          <p:nvPr/>
        </p:nvSpPr>
        <p:spPr>
          <a:xfrm xmlns:a="http://schemas.openxmlformats.org/drawingml/2006/main">
            <a:off x="10620375" y="6505575"/>
            <a:ext cx="8858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a:solidFill>
                  <a:srgbClr val="66736C"/>
                </a:solidFill>
                <a:latin typeface="Arial"/>
                <a:ea typeface="Arial"/>
                <a:cs typeface="Arial"/>
              </a:defRPr>
            </a:defPPr>
          </a:lstStyle>
          <a:p xmlns:a="http://schemas.openxmlformats.org/drawingml/2006/main">
            <a:pPr algn="r">
              <a:defRPr sz="900" b="0">
                <a:solidFill>
                  <a:srgbClr val="66736C"/>
                </a:solidFill>
                <a:latin typeface="Arial"/>
                <a:ea typeface="Arial"/>
                <a:cs typeface="Arial"/>
              </a:defRPr>
            </a:pPr>
            <a:r>
              <a:rPr sz="900" b="0">
                <a:solidFill>
                  <a:srgbClr val="66736C"/>
                </a:solidFill>
                <a:latin typeface="Arial"/>
                <a:ea typeface="Arial"/>
                <a:cs typeface="Arial"/>
              </a:rPr>
              <a:t>36 / 52</a:t>
            </a:r>
          </a:p>
        </p:txBody>
      </p:sp>
      <p:pic>
        <p:nvPicPr>
          <p:cNvPr id="5" name="">
            <a:extLst xmlns:a="http://schemas.openxmlformats.org/drawingml/2006/main">
              <a:ext uri="{FF2B5EF4-FFF2-40B4-BE49-F238E27FC236}">
                <a16:creationId xmlns:a16="http://schemas.microsoft.com/office/drawing/2014/main" id="{471E6762-E7F0-4A9E-BF49-F10C2E061860}"/>
              </a:ext>
            </a:extLst>
          </p:cNvPr>
          <p:cNvPicPr>
            <a:picLocks xmlns:a="http://schemas.openxmlformats.org/drawingml/2006/main" noChangeAspect="1"/>
          </p:cNvPicPr>
          <p:nvPr/>
        </p:nvPicPr>
        <p:blipFill>
          <a:blip xmlns:r="http://schemas.openxmlformats.org/officeDocument/2006/relationships" xmlns:a="http://schemas.openxmlformats.org/drawingml/2006/main" r:embed="R137f0020c2df49fc"/>
          <a:stretch xmlns:a="http://schemas.openxmlformats.org/drawingml/2006/main"/>
        </p:blipFill>
        <p:spPr>
          <a:xfrm xmlns:a="http://schemas.openxmlformats.org/drawingml/2006/main">
            <a:off x="4533900" y="1849041"/>
            <a:ext cx="6972300" cy="3921919"/>
          </a:xfrm>
          <a:prstGeom xmlns:a="http://schemas.openxmlformats.org/drawingml/2006/main" prst="rect">
            <a:avLst/>
          </a:prstGeom>
        </p:spPr>
      </p:pic>
      <p:sp>
        <p:nvSpPr>
          <p:cNvPr id="6" name="explanation-0">
            <a:extLst xmlns:a="http://schemas.openxmlformats.org/drawingml/2006/main">
              <a:ext uri="{FF2B5EF4-FFF2-40B4-BE49-F238E27FC236}">
                <a16:creationId xmlns:a16="http://schemas.microsoft.com/office/drawing/2014/main" id="{DF0C10D2-70A0-47C8-B0CD-E305C42418E0}"/>
              </a:ext>
            </a:extLst>
          </p:cNvPr>
          <p:cNvSpPr>
            <a:spLocks xmlns:a="http://schemas.openxmlformats.org/drawingml/2006/main" noGrp="1"/>
          </p:cNvSpPr>
          <p:nvPr/>
        </p:nvSpPr>
        <p:spPr>
          <a:xfrm xmlns:a="http://schemas.openxmlformats.org/drawingml/2006/main">
            <a:off x="685800" y="1809750"/>
            <a:ext cx="33718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6332E"/>
                </a:solidFill>
                <a:latin typeface="Arial"/>
                <a:ea typeface="Arial"/>
                <a:cs typeface="Arial"/>
              </a:defRPr>
            </a:defPPr>
          </a:lstStyle>
          <a:p xmlns:a="http://schemas.openxmlformats.org/drawingml/2006/main">
            <a:pPr algn="l">
              <a:defRPr sz="1950" b="0">
                <a:solidFill>
                  <a:srgbClr val="26332E"/>
                </a:solidFill>
                <a:latin typeface="Arial"/>
                <a:ea typeface="Arial"/>
                <a:cs typeface="Arial"/>
              </a:defRPr>
            </a:pPr>
            <a:r>
              <a:rPr sz="1950" b="0">
                <a:solidFill>
                  <a:srgbClr val="26332E"/>
                </a:solidFill>
                <a:latin typeface="Arial"/>
                <a:ea typeface="Arial"/>
                <a:cs typeface="Arial"/>
              </a:rPr>
              <a:t>Compare installed models or train a TF-IDF profile.</a:t>
            </a:r>
          </a:p>
        </p:txBody>
      </p:sp>
      <p:sp>
        <p:nvSpPr>
          <p:cNvPr id="7" name="explanation-1">
            <a:extLst xmlns:a="http://schemas.openxmlformats.org/drawingml/2006/main">
              <a:ext uri="{FF2B5EF4-FFF2-40B4-BE49-F238E27FC236}">
                <a16:creationId xmlns:a16="http://schemas.microsoft.com/office/drawing/2014/main" id="{5DCF78A3-ECBC-461C-ADCA-36661EFE257A}"/>
              </a:ext>
            </a:extLst>
          </p:cNvPr>
          <p:cNvSpPr>
            <a:spLocks xmlns:a="http://schemas.openxmlformats.org/drawingml/2006/main" noGrp="1"/>
          </p:cNvSpPr>
          <p:nvPr/>
        </p:nvSpPr>
        <p:spPr>
          <a:xfrm xmlns:a="http://schemas.openxmlformats.org/drawingml/2006/main">
            <a:off x="685800" y="2838450"/>
            <a:ext cx="33718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6332E"/>
                </a:solidFill>
                <a:latin typeface="Arial"/>
                <a:ea typeface="Arial"/>
                <a:cs typeface="Arial"/>
              </a:defRPr>
            </a:defPPr>
          </a:lstStyle>
          <a:p xmlns:a="http://schemas.openxmlformats.org/drawingml/2006/main">
            <a:pPr algn="l">
              <a:defRPr sz="1950" b="0">
                <a:solidFill>
                  <a:srgbClr val="26332E"/>
                </a:solidFill>
                <a:latin typeface="Arial"/>
                <a:ea typeface="Arial"/>
                <a:cs typeface="Arial"/>
              </a:defRPr>
            </a:pPr>
            <a:r>
              <a:rPr sz="1950" b="0">
                <a:solidFill>
                  <a:srgbClr val="26332E"/>
                </a:solidFill>
                <a:latin typeface="Arial"/>
                <a:ea typeface="Arial"/>
                <a:cs typeface="Arial"/>
              </a:rPr>
              <a:t>AI-assisted validation requires an explicit diagnostic selection.</a:t>
            </a:r>
          </a:p>
        </p:txBody>
      </p:sp>
      <p:sp>
        <p:nvSpPr>
          <p:cNvPr id="8" name="explanation-2">
            <a:extLst xmlns:a="http://schemas.openxmlformats.org/drawingml/2006/main">
              <a:ext uri="{FF2B5EF4-FFF2-40B4-BE49-F238E27FC236}">
                <a16:creationId xmlns:a16="http://schemas.microsoft.com/office/drawing/2014/main" id="{304686A8-1089-4AA1-B8C7-03C2D1DE3CAB}"/>
              </a:ext>
            </a:extLst>
          </p:cNvPr>
          <p:cNvSpPr>
            <a:spLocks xmlns:a="http://schemas.openxmlformats.org/drawingml/2006/main" noGrp="1"/>
          </p:cNvSpPr>
          <p:nvPr/>
        </p:nvSpPr>
        <p:spPr>
          <a:xfrm xmlns:a="http://schemas.openxmlformats.org/drawingml/2006/main">
            <a:off x="685800" y="4048125"/>
            <a:ext cx="33718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6332E"/>
                </a:solidFill>
                <a:latin typeface="Arial"/>
                <a:ea typeface="Arial"/>
                <a:cs typeface="Arial"/>
              </a:defRPr>
            </a:defPPr>
          </a:lstStyle>
          <a:p xmlns:a="http://schemas.openxmlformats.org/drawingml/2006/main">
            <a:pPr algn="l">
              <a:defRPr sz="1950" b="0">
                <a:solidFill>
                  <a:srgbClr val="26332E"/>
                </a:solidFill>
                <a:latin typeface="Arial"/>
                <a:ea typeface="Arial"/>
                <a:cs typeface="Arial"/>
              </a:defRPr>
            </a:pPr>
            <a:r>
              <a:rPr sz="1950" b="0">
                <a:solidFill>
                  <a:srgbClr val="26332E"/>
                </a:solidFill>
                <a:latin typeface="Arial"/>
                <a:ea typeface="Arial"/>
                <a:cs typeface="Arial"/>
              </a:rPr>
              <a:t>Inspect per-aspect support, confusion matrices and individual errors.</a:t>
            </a:r>
          </a:p>
        </p:txBody>
      </p:sp>
      <p:sp>
        <p:nvSpPr>
          <p:cNvPr id="9" name="image-caption">
            <a:extLst xmlns:a="http://schemas.openxmlformats.org/drawingml/2006/main">
              <a:ext uri="{FF2B5EF4-FFF2-40B4-BE49-F238E27FC236}">
                <a16:creationId xmlns:a16="http://schemas.microsoft.com/office/drawing/2014/main" id="{90EE77B9-5EA6-4FF3-BC5D-C0DBE1C5BEAE}"/>
              </a:ext>
            </a:extLst>
          </p:cNvPr>
          <p:cNvSpPr>
            <a:spLocks xmlns:a="http://schemas.openxmlformats.org/drawingml/2006/main" noGrp="1"/>
          </p:cNvSpPr>
          <p:nvPr/>
        </p:nvSpPr>
        <p:spPr>
          <a:xfrm xmlns:a="http://schemas.openxmlformats.org/drawingml/2006/main">
            <a:off x="4533900" y="5991225"/>
            <a:ext cx="6972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66736C"/>
                </a:solidFill>
                <a:latin typeface="Arial"/>
                <a:ea typeface="Arial"/>
                <a:cs typeface="Arial"/>
              </a:defRPr>
            </a:defPPr>
          </a:lstStyle>
          <a:p xmlns:a="http://schemas.openxmlformats.org/drawingml/2006/main">
            <a:pPr algn="l">
              <a:defRPr sz="1275" b="0">
                <a:solidFill>
                  <a:srgbClr val="66736C"/>
                </a:solidFill>
                <a:latin typeface="Arial"/>
                <a:ea typeface="Arial"/>
                <a:cs typeface="Arial"/>
              </a:defRPr>
            </a:pPr>
            <a:r>
              <a:rPr sz="1275" b="0">
                <a:solidFill>
                  <a:srgbClr val="66736C"/>
                </a:solidFill>
                <a:latin typeface="Arial"/>
                <a:ea typeface="Arial"/>
                <a:cs typeface="Arial"/>
              </a:rPr>
              <a:t>Domain adapter v2 on the inspected AI-assisted development reference.</a:t>
            </a:r>
          </a:p>
        </p:txBody>
      </p:sp>
    </p:spTree>
    <p:extLst>
      <p:ext uri="{BB962C8B-B14F-4D97-AF65-F5344CB8AC3E}">
        <p14:creationId xmlns:p14="http://schemas.microsoft.com/office/powerpoint/2010/main" val="305777400"/>
      </p:ext>
    </p:extLst>
  </p:cSld>
</p:sld>
</file>

<file path=ppt/slides/slide37.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8" name="chapter">
            <a:extLst xmlns:a="http://schemas.openxmlformats.org/drawingml/2006/main">
              <a:ext uri="{FF2B5EF4-FFF2-40B4-BE49-F238E27FC236}">
                <a16:creationId xmlns:a16="http://schemas.microsoft.com/office/drawing/2014/main" id="{A8B7AE4A-A71A-4FD0-AA41-C23321D40FEF}"/>
              </a:ext>
            </a:extLst>
          </p:cNvPr>
          <p:cNvSpPr>
            <a:spLocks xmlns:a="http://schemas.openxmlformats.org/drawingml/2006/main" noGrp="1"/>
          </p:cNvSpPr>
          <p:nvPr/>
        </p:nvSpPr>
        <p:spPr>
          <a:xfrm xmlns:a="http://schemas.openxmlformats.org/drawingml/2006/main">
            <a:off x="685800" y="381000"/>
            <a:ext cx="933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39725C"/>
                </a:solidFill>
                <a:latin typeface="Arial"/>
                <a:ea typeface="Arial"/>
                <a:cs typeface="Arial"/>
              </a:defRPr>
            </a:defPPr>
          </a:lstStyle>
          <a:p xmlns:a="http://schemas.openxmlformats.org/drawingml/2006/main">
            <a:pPr algn="l">
              <a:defRPr sz="1200" b="1">
                <a:solidFill>
                  <a:srgbClr val="39725C"/>
                </a:solidFill>
                <a:latin typeface="Arial"/>
                <a:ea typeface="Arial"/>
                <a:cs typeface="Arial"/>
              </a:defRPr>
            </a:pPr>
            <a:r>
              <a:rPr sz="1200" b="1">
                <a:solidFill>
                  <a:srgbClr val="39725C"/>
                </a:solidFill>
                <a:latin typeface="Arial"/>
                <a:ea typeface="Arial"/>
                <a:cs typeface="Arial"/>
              </a:rPr>
              <a:t>MEASUREMENT</a:t>
            </a:r>
          </a:p>
        </p:txBody>
      </p:sp>
      <p:sp>
        <p:nvSpPr>
          <p:cNvPr id="2" name="primary-heading">
            <a:extLst xmlns:a="http://schemas.openxmlformats.org/drawingml/2006/main">
              <a:ext uri="{FF2B5EF4-FFF2-40B4-BE49-F238E27FC236}">
                <a16:creationId xmlns:a16="http://schemas.microsoft.com/office/drawing/2014/main" id="{2F44115F-808A-4156-8113-0F5B1BB22969}"/>
              </a:ext>
            </a:extLst>
          </p:cNvPr>
          <p:cNvSpPr>
            <a:spLocks xmlns:a="http://schemas.openxmlformats.org/drawingml/2006/main" noGrp="1"/>
          </p:cNvSpPr>
          <p:nvPr/>
        </p:nvSpPr>
        <p:spPr>
          <a:xfrm xmlns:a="http://schemas.openxmlformats.org/drawingml/2006/main">
            <a:off x="685800" y="83820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6332E"/>
                </a:solidFill>
                <a:latin typeface="Arial"/>
                <a:ea typeface="Arial"/>
                <a:cs typeface="Arial"/>
              </a:defRPr>
            </a:defPPr>
          </a:lstStyle>
          <a:p xmlns:a="http://schemas.openxmlformats.org/drawingml/2006/main">
            <a:pPr algn="l">
              <a:defRPr sz="3300" b="1">
                <a:solidFill>
                  <a:srgbClr val="26332E"/>
                </a:solidFill>
                <a:latin typeface="Arial"/>
                <a:ea typeface="Arial"/>
                <a:cs typeface="Arial"/>
              </a:defRPr>
            </a:pPr>
            <a:r>
              <a:rPr sz="3300" b="1">
                <a:solidFill>
                  <a:srgbClr val="26332E"/>
                </a:solidFill>
                <a:latin typeface="Arial"/>
                <a:ea typeface="Arial"/>
                <a:cs typeface="Arial"/>
              </a:rPr>
              <a:t>Exact tuple F1 rewards the right aspect and sentiment</a:t>
            </a:r>
          </a:p>
        </p:txBody>
      </p:sp>
      <p:sp>
        <p:nvSpPr>
          <p:cNvPr id="3" name="footer-label">
            <a:extLst xmlns:a="http://schemas.openxmlformats.org/drawingml/2006/main">
              <a:ext uri="{FF2B5EF4-FFF2-40B4-BE49-F238E27FC236}">
                <a16:creationId xmlns:a16="http://schemas.microsoft.com/office/drawing/2014/main" id="{DEB3182C-F6B3-4EB7-AE2A-B064BDDBF960}"/>
              </a:ext>
            </a:extLst>
          </p:cNvPr>
          <p:cNvSpPr>
            <a:spLocks xmlns:a="http://schemas.openxmlformats.org/drawingml/2006/main" noGrp="1"/>
          </p:cNvSpPr>
          <p:nvPr/>
        </p:nvSpPr>
        <p:spPr>
          <a:xfrm xmlns:a="http://schemas.openxmlformats.org/drawingml/2006/main">
            <a:off x="685800" y="6505575"/>
            <a:ext cx="952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0">
                <a:solidFill>
                  <a:srgbClr val="66736C"/>
                </a:solidFill>
                <a:latin typeface="Arial"/>
                <a:ea typeface="Arial"/>
                <a:cs typeface="Arial"/>
              </a:defRPr>
            </a:defPPr>
          </a:lstStyle>
          <a:p xmlns:a="http://schemas.openxmlformats.org/drawingml/2006/main">
            <a:pPr algn="l">
              <a:defRPr sz="900" b="0">
                <a:solidFill>
                  <a:srgbClr val="66736C"/>
                </a:solidFill>
                <a:latin typeface="Arial"/>
                <a:ea typeface="Arial"/>
                <a:cs typeface="Arial"/>
              </a:defRPr>
            </a:pPr>
            <a:r>
              <a:rPr sz="900" b="0">
                <a:solidFill>
                  <a:srgbClr val="66736C"/>
                </a:solidFill>
                <a:latin typeface="Arial"/>
                <a:ea typeface="Arial"/>
                <a:cs typeface="Arial"/>
              </a:rPr>
              <a:t>ASPECT  /  PROJECT REFERENCE  /  1.0.0</a:t>
            </a:r>
          </a:p>
        </p:txBody>
      </p:sp>
      <p:sp>
        <p:nvSpPr>
          <p:cNvPr id="4" name="page-number">
            <a:extLst xmlns:a="http://schemas.openxmlformats.org/drawingml/2006/main">
              <a:ext uri="{FF2B5EF4-FFF2-40B4-BE49-F238E27FC236}">
                <a16:creationId xmlns:a16="http://schemas.microsoft.com/office/drawing/2014/main" id="{E683A438-DF8F-455A-9F53-47D30EEE37DF}"/>
              </a:ext>
            </a:extLst>
          </p:cNvPr>
          <p:cNvSpPr>
            <a:spLocks xmlns:a="http://schemas.openxmlformats.org/drawingml/2006/main" noGrp="1"/>
          </p:cNvSpPr>
          <p:nvPr/>
        </p:nvSpPr>
        <p:spPr>
          <a:xfrm xmlns:a="http://schemas.openxmlformats.org/drawingml/2006/main">
            <a:off x="10620375" y="6505575"/>
            <a:ext cx="8858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a:solidFill>
                  <a:srgbClr val="66736C"/>
                </a:solidFill>
                <a:latin typeface="Arial"/>
                <a:ea typeface="Arial"/>
                <a:cs typeface="Arial"/>
              </a:defRPr>
            </a:defPPr>
          </a:lstStyle>
          <a:p xmlns:a="http://schemas.openxmlformats.org/drawingml/2006/main">
            <a:pPr algn="r">
              <a:defRPr sz="900" b="0">
                <a:solidFill>
                  <a:srgbClr val="66736C"/>
                </a:solidFill>
                <a:latin typeface="Arial"/>
                <a:ea typeface="Arial"/>
                <a:cs typeface="Arial"/>
              </a:defRPr>
            </a:pPr>
            <a:r>
              <a:rPr sz="900" b="0">
                <a:solidFill>
                  <a:srgbClr val="66736C"/>
                </a:solidFill>
                <a:latin typeface="Arial"/>
                <a:ea typeface="Arial"/>
                <a:cs typeface="Arial"/>
              </a:rPr>
              <a:t>37 / 52</a:t>
            </a:r>
          </a:p>
        </p:txBody>
      </p:sp>
      <p:sp>
        <p:nvSpPr>
          <p:cNvPr id="5" name="lead">
            <a:extLst xmlns:a="http://schemas.openxmlformats.org/drawingml/2006/main">
              <a:ext uri="{FF2B5EF4-FFF2-40B4-BE49-F238E27FC236}">
                <a16:creationId xmlns:a16="http://schemas.microsoft.com/office/drawing/2014/main" id="{7F044B37-E682-4EB8-8B42-2E8B349A600E}"/>
              </a:ext>
            </a:extLst>
          </p:cNvPr>
          <p:cNvSpPr>
            <a:spLocks xmlns:a="http://schemas.openxmlformats.org/drawingml/2006/main" noGrp="1"/>
          </p:cNvSpPr>
          <p:nvPr/>
        </p:nvSpPr>
        <p:spPr>
          <a:xfrm xmlns:a="http://schemas.openxmlformats.org/drawingml/2006/main">
            <a:off x="685800" y="1524000"/>
            <a:ext cx="10820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66736C"/>
                </a:solidFill>
                <a:latin typeface="Arial"/>
                <a:ea typeface="Arial"/>
                <a:cs typeface="Arial"/>
              </a:defRPr>
            </a:defPPr>
          </a:lstStyle>
          <a:p xmlns:a="http://schemas.openxmlformats.org/drawingml/2006/main">
            <a:pPr algn="l">
              <a:defRPr sz="1800" b="0">
                <a:solidFill>
                  <a:srgbClr val="66736C"/>
                </a:solidFill>
                <a:latin typeface="Arial"/>
                <a:ea typeface="Arial"/>
                <a:cs typeface="Arial"/>
              </a:defRPr>
            </a:pPr>
            <a:r>
              <a:rPr sz="1800" b="0">
                <a:solidFill>
                  <a:srgbClr val="66736C"/>
                </a:solidFill>
                <a:latin typeface="Arial"/>
                <a:ea typeface="Arial"/>
                <a:cs typeface="Arial"/>
              </a:rPr>
              <a:t>Precision = TP / (TP + FP)     Recall = TP / (TP + FN)     F1 = 2PR / (P + R)</a:t>
            </a:r>
          </a:p>
        </p:txBody>
      </p:sp>
      <p:sp>
        <p:nvSpPr>
          <p:cNvPr id="6" name="context-note">
            <a:extLst xmlns:a="http://schemas.openxmlformats.org/drawingml/2006/main">
              <a:ext uri="{FF2B5EF4-FFF2-40B4-BE49-F238E27FC236}">
                <a16:creationId xmlns:a16="http://schemas.microsoft.com/office/drawing/2014/main" id="{942CD531-BCC4-4A16-99EF-F9D204A91AC2}"/>
              </a:ext>
            </a:extLst>
          </p:cNvPr>
          <p:cNvSpPr>
            <a:spLocks xmlns:a="http://schemas.openxmlformats.org/drawingml/2006/main" noGrp="1"/>
          </p:cNvSpPr>
          <p:nvPr/>
        </p:nvSpPr>
        <p:spPr>
          <a:xfrm xmlns:a="http://schemas.openxmlformats.org/drawingml/2006/main">
            <a:off x="685800" y="5924550"/>
            <a:ext cx="108204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39725C"/>
                </a:solidFill>
                <a:latin typeface="Arial"/>
                <a:ea typeface="Arial"/>
                <a:cs typeface="Arial"/>
              </a:defRPr>
            </a:defPPr>
          </a:lstStyle>
          <a:p xmlns:a="http://schemas.openxmlformats.org/drawingml/2006/main">
            <a:pPr algn="l">
              <a:defRPr sz="1725" b="0">
                <a:solidFill>
                  <a:srgbClr val="39725C"/>
                </a:solidFill>
                <a:latin typeface="Arial"/>
                <a:ea typeface="Arial"/>
                <a:cs typeface="Arial"/>
              </a:defRPr>
            </a:pPr>
            <a:r>
              <a:rPr sz="1725" b="0">
                <a:solidFill>
                  <a:srgbClr val="39725C"/>
                </a:solidFill>
                <a:latin typeface="Arial"/>
                <a:ea typeface="Arial"/>
                <a:cs typeface="Arial"/>
              </a:rPr>
              <a:t>Presence F1 ignores polarity. Tuple micro-F1 requires both category and sentiment to match.</a:t>
            </a:r>
          </a:p>
        </p:txBody>
      </p:sp>
      <p:graphicFrame>
        <p:nvGraphicFramePr>
          <p:cNvPr id="7" name="">
            <a:extLst xmlns:a="http://schemas.openxmlformats.org/drawingml/2006/main">
              <a:ext uri="{FF2B5EF4-FFF2-40B4-BE49-F238E27FC236}">
                <a16:creationId xmlns:a16="http://schemas.microsoft.com/office/drawing/2014/main" id="{9C6CD26E-B20B-4F78-9DE0-3FC25DCC6E0B}"/>
              </a:ext>
            </a:extLst>
          </p:cNvPr>
          <p:cNvGraphicFramePr/>
          <p:nvPr/>
        </p:nvGraphicFramePr>
        <p:xfrm>
          <a:off xmlns:a="http://schemas.openxmlformats.org/drawingml/2006/main" x="685800" y="2114550"/>
          <a:ext xmlns:a="http://schemas.openxmlformats.org/drawingml/2006/main" cx="10820400" cy="3238500"/>
        </p:xfrm>
        <a:graphic xmlns:a="http://schemas.openxmlformats.org/drawingml/2006/main">
          <a:graphicData uri="http://schemas.openxmlformats.org/drawingml/2006/table">
            <a:tbl>
              <a:tblPr firstRow="1" firstCol="0" lastCol="0" bandRow="0"/>
              <a:tblGrid>
                <a:gridCol w="2667000"/>
                <a:gridCol w="2667000"/>
                <a:gridCol w="5486400"/>
              </a:tblGrid>
              <a:tr h="419100">
                <a:tc>
                  <a:txBody>
                    <a:bodyPr wrap="square">
                      <a:noAutofit/>
                    </a:bodyPr>
                    <a:lstStyle/>
                    <a:p>
                      <a:r>
                        <a:rPr sz="1650" b="1">
                          <a:solidFill>
                            <a:srgbClr val="FFFFFF"/>
                          </a:solidFill>
                          <a:latin typeface="Arial"/>
                          <a:ea typeface="Arial"/>
                          <a:cs typeface="Arial"/>
                        </a:rPr>
                        <a:t>Reference</a:t>
                      </a:r>
                    </a:p>
                  </a:txBody>
                  <a:tcPr marL="114300" marR="114300" marT="47625" marB="47625" anchor="ctr">
                    <a:lnL w="6668">
                      <a:solidFill>
                        <a:srgbClr val="DCE3DA"/>
                      </a:solidFill>
                      <a:prstDash val="solid"/>
                    </a:lnL>
                    <a:lnR w="6668">
                      <a:solidFill>
                        <a:srgbClr val="DCE3DA"/>
                      </a:solidFill>
                      <a:prstDash val="solid"/>
                    </a:lnR>
                    <a:lnT w="6668">
                      <a:solidFill>
                        <a:srgbClr val="DCE3DA"/>
                      </a:solidFill>
                      <a:prstDash val="solid"/>
                    </a:lnT>
                    <a:lnB w="6668">
                      <a:solidFill>
                        <a:srgbClr val="DCE3DA"/>
                      </a:solidFill>
                      <a:prstDash val="solid"/>
                    </a:lnB>
                    <a:solidFill>
                      <a:srgbClr val="39725C"/>
                    </a:solidFill>
                  </a:tcPr>
                </a:tc>
                <a:tc>
                  <a:txBody>
                    <a:bodyPr wrap="square">
                      <a:noAutofit/>
                    </a:bodyPr>
                    <a:lstStyle/>
                    <a:p>
                      <a:r>
                        <a:rPr sz="1650" b="1">
                          <a:solidFill>
                            <a:srgbClr val="FFFFFF"/>
                          </a:solidFill>
                          <a:latin typeface="Arial"/>
                          <a:ea typeface="Arial"/>
                          <a:cs typeface="Arial"/>
                        </a:rPr>
                        <a:t>Prediction</a:t>
                      </a:r>
                    </a:p>
                  </a:txBody>
                  <a:tcPr marL="114300" marR="114300" marT="47625" marB="47625" anchor="ctr">
                    <a:lnR w="6668">
                      <a:solidFill>
                        <a:srgbClr val="DCE3DA"/>
                      </a:solidFill>
                      <a:prstDash val="solid"/>
                    </a:lnR>
                    <a:lnT w="6668">
                      <a:solidFill>
                        <a:srgbClr val="DCE3DA"/>
                      </a:solidFill>
                      <a:prstDash val="solid"/>
                    </a:lnT>
                    <a:lnB w="6668">
                      <a:solidFill>
                        <a:srgbClr val="DCE3DA"/>
                      </a:solidFill>
                      <a:prstDash val="solid"/>
                    </a:lnB>
                    <a:solidFill>
                      <a:srgbClr val="39725C"/>
                    </a:solidFill>
                  </a:tcPr>
                </a:tc>
                <a:tc>
                  <a:txBody>
                    <a:bodyPr wrap="square">
                      <a:noAutofit/>
                    </a:bodyPr>
                    <a:lstStyle/>
                    <a:p>
                      <a:r>
                        <a:rPr sz="1650" b="1">
                          <a:solidFill>
                            <a:srgbClr val="FFFFFF"/>
                          </a:solidFill>
                          <a:latin typeface="Arial"/>
                          <a:ea typeface="Arial"/>
                          <a:cs typeface="Arial"/>
                        </a:rPr>
                        <a:t>Tuple contribution</a:t>
                      </a:r>
                    </a:p>
                  </a:txBody>
                  <a:tcPr marL="114300" marR="114300" marT="47625" marB="47625" anchor="ctr">
                    <a:lnR w="6668">
                      <a:solidFill>
                        <a:srgbClr val="DCE3DA"/>
                      </a:solidFill>
                      <a:prstDash val="solid"/>
                    </a:lnR>
                    <a:lnT w="6668">
                      <a:solidFill>
                        <a:srgbClr val="DCE3DA"/>
                      </a:solidFill>
                      <a:prstDash val="solid"/>
                    </a:lnT>
                    <a:lnB w="6668">
                      <a:solidFill>
                        <a:srgbClr val="DCE3DA"/>
                      </a:solidFill>
                      <a:prstDash val="solid"/>
                    </a:lnB>
                    <a:solidFill>
                      <a:srgbClr val="39725C"/>
                    </a:solidFill>
                  </a:tcPr>
                </a:tc>
              </a:tr>
              <a:tr h="704850">
                <a:tc>
                  <a:txBody>
                    <a:bodyPr wrap="square">
                      <a:noAutofit/>
                    </a:bodyPr>
                    <a:lstStyle/>
                    <a:p>
                      <a:r>
                        <a:rPr sz="1725" b="1">
                          <a:solidFill>
                            <a:srgbClr val="26332E"/>
                          </a:solidFill>
                          <a:latin typeface="Arial"/>
                          <a:ea typeface="Arial"/>
                          <a:cs typeface="Arial"/>
                        </a:rPr>
                        <a:t>Camera positive</a:t>
                      </a:r>
                    </a:p>
                  </a:txBody>
                  <a:tcPr marL="114300" marR="114300" marT="47625" marB="47625" anchor="ctr">
                    <a:lnL w="6668">
                      <a:solidFill>
                        <a:srgbClr val="DCE3DA"/>
                      </a:solidFill>
                      <a:prstDash val="solid"/>
                    </a:lnL>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Camera positive</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One true positive</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r>
              <a:tr h="704850">
                <a:tc>
                  <a:txBody>
                    <a:bodyPr wrap="square">
                      <a:noAutofit/>
                    </a:bodyPr>
                    <a:lstStyle/>
                    <a:p>
                      <a:r>
                        <a:rPr sz="1725" b="1">
                          <a:solidFill>
                            <a:srgbClr val="26332E"/>
                          </a:solidFill>
                          <a:latin typeface="Arial"/>
                          <a:ea typeface="Arial"/>
                          <a:cs typeface="Arial"/>
                        </a:rPr>
                        <a:t>Camera positive</a:t>
                      </a:r>
                    </a:p>
                  </a:txBody>
                  <a:tcPr marL="114300" marR="114300" marT="47625" marB="47625" anchor="ctr">
                    <a:lnL w="6668">
                      <a:solidFill>
                        <a:srgbClr val="DCE3DA"/>
                      </a:solidFill>
                      <a:prstDash val="solid"/>
                    </a:lnL>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Camera absent</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One false negative</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r>
              <a:tr h="704850">
                <a:tc>
                  <a:txBody>
                    <a:bodyPr wrap="square">
                      <a:noAutofit/>
                    </a:bodyPr>
                    <a:lstStyle/>
                    <a:p>
                      <a:r>
                        <a:rPr sz="1725" b="1">
                          <a:solidFill>
                            <a:srgbClr val="26332E"/>
                          </a:solidFill>
                          <a:latin typeface="Arial"/>
                          <a:ea typeface="Arial"/>
                          <a:cs typeface="Arial"/>
                        </a:rPr>
                        <a:t>Camera positive</a:t>
                      </a:r>
                    </a:p>
                  </a:txBody>
                  <a:tcPr marL="114300" marR="114300" marT="47625" marB="47625" anchor="ctr">
                    <a:lnL w="6668">
                      <a:solidFill>
                        <a:srgbClr val="DCE3DA"/>
                      </a:solidFill>
                      <a:prstDash val="solid"/>
                    </a:lnL>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Camera negative</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One false positive and one false negative</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r>
              <a:tr h="704850">
                <a:tc>
                  <a:txBody>
                    <a:bodyPr wrap="square">
                      <a:noAutofit/>
                    </a:bodyPr>
                    <a:lstStyle/>
                    <a:p>
                      <a:r>
                        <a:rPr sz="1725" b="1">
                          <a:solidFill>
                            <a:srgbClr val="26332E"/>
                          </a:solidFill>
                          <a:latin typeface="Arial"/>
                          <a:ea typeface="Arial"/>
                          <a:cs typeface="Arial"/>
                        </a:rPr>
                        <a:t>Camera absent</a:t>
                      </a:r>
                    </a:p>
                  </a:txBody>
                  <a:tcPr marL="114300" marR="114300" marT="47625" marB="47625" anchor="ctr">
                    <a:lnL w="6668">
                      <a:solidFill>
                        <a:srgbClr val="DCE3DA"/>
                      </a:solidFill>
                      <a:prstDash val="solid"/>
                    </a:lnL>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Camera positive</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One false positive</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r>
            </a:tbl>
          </a:graphicData>
        </a:graphic>
      </p:graphicFrame>
    </p:spTree>
    <p:extLst>
      <p:ext uri="{BB962C8B-B14F-4D97-AF65-F5344CB8AC3E}">
        <p14:creationId xmlns:p14="http://schemas.microsoft.com/office/powerpoint/2010/main" val="1720978548"/>
      </p:ext>
    </p:extLst>
  </p:cSld>
</p:sld>
</file>

<file path=ppt/slides/slide38.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8" name="chapter">
            <a:extLst xmlns:a="http://schemas.openxmlformats.org/drawingml/2006/main">
              <a:ext uri="{FF2B5EF4-FFF2-40B4-BE49-F238E27FC236}">
                <a16:creationId xmlns:a16="http://schemas.microsoft.com/office/drawing/2014/main" id="{35A533A2-B446-4332-9DAF-C5626402BCCF}"/>
              </a:ext>
            </a:extLst>
          </p:cNvPr>
          <p:cNvSpPr>
            <a:spLocks xmlns:a="http://schemas.openxmlformats.org/drawingml/2006/main" noGrp="1"/>
          </p:cNvSpPr>
          <p:nvPr/>
        </p:nvSpPr>
        <p:spPr>
          <a:xfrm xmlns:a="http://schemas.openxmlformats.org/drawingml/2006/main">
            <a:off x="685800" y="381000"/>
            <a:ext cx="933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39725C"/>
                </a:solidFill>
                <a:latin typeface="Arial"/>
                <a:ea typeface="Arial"/>
                <a:cs typeface="Arial"/>
              </a:defRPr>
            </a:defPPr>
          </a:lstStyle>
          <a:p xmlns:a="http://schemas.openxmlformats.org/drawingml/2006/main">
            <a:pPr algn="l">
              <a:defRPr sz="1200" b="1">
                <a:solidFill>
                  <a:srgbClr val="39725C"/>
                </a:solidFill>
                <a:latin typeface="Arial"/>
                <a:ea typeface="Arial"/>
                <a:cs typeface="Arial"/>
              </a:defRPr>
            </a:pPr>
            <a:r>
              <a:rPr sz="1200" b="1">
                <a:solidFill>
                  <a:srgbClr val="39725C"/>
                </a:solidFill>
                <a:latin typeface="Arial"/>
                <a:ea typeface="Arial"/>
                <a:cs typeface="Arial"/>
              </a:rPr>
              <a:t>MEASUREMENT</a:t>
            </a:r>
          </a:p>
        </p:txBody>
      </p:sp>
      <p:sp>
        <p:nvSpPr>
          <p:cNvPr id="2" name="primary-heading">
            <a:extLst xmlns:a="http://schemas.openxmlformats.org/drawingml/2006/main">
              <a:ext uri="{FF2B5EF4-FFF2-40B4-BE49-F238E27FC236}">
                <a16:creationId xmlns:a16="http://schemas.microsoft.com/office/drawing/2014/main" id="{FAA63A58-2CB4-403D-9098-11C5F0CEA724}"/>
              </a:ext>
            </a:extLst>
          </p:cNvPr>
          <p:cNvSpPr>
            <a:spLocks xmlns:a="http://schemas.openxmlformats.org/drawingml/2006/main" noGrp="1"/>
          </p:cNvSpPr>
          <p:nvPr/>
        </p:nvSpPr>
        <p:spPr>
          <a:xfrm xmlns:a="http://schemas.openxmlformats.org/drawingml/2006/main">
            <a:off x="685800" y="83820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6332E"/>
                </a:solidFill>
                <a:latin typeface="Arial"/>
                <a:ea typeface="Arial"/>
                <a:cs typeface="Arial"/>
              </a:defRPr>
            </a:defPPr>
          </a:lstStyle>
          <a:p xmlns:a="http://schemas.openxmlformats.org/drawingml/2006/main">
            <a:pPr algn="l">
              <a:defRPr sz="3300" b="1">
                <a:solidFill>
                  <a:srgbClr val="26332E"/>
                </a:solidFill>
                <a:latin typeface="Arial"/>
                <a:ea typeface="Arial"/>
                <a:cs typeface="Arial"/>
              </a:defRPr>
            </a:pPr>
            <a:r>
              <a:rPr sz="3300" b="1">
                <a:solidFill>
                  <a:srgbClr val="26332E"/>
                </a:solidFill>
                <a:latin typeface="Arial"/>
                <a:ea typeface="Arial"/>
                <a:cs typeface="Arial"/>
              </a:rPr>
              <a:t>Model agreement on the development reference</a:t>
            </a:r>
          </a:p>
        </p:txBody>
      </p:sp>
      <p:sp>
        <p:nvSpPr>
          <p:cNvPr id="3" name="footer-label">
            <a:extLst xmlns:a="http://schemas.openxmlformats.org/drawingml/2006/main">
              <a:ext uri="{FF2B5EF4-FFF2-40B4-BE49-F238E27FC236}">
                <a16:creationId xmlns:a16="http://schemas.microsoft.com/office/drawing/2014/main" id="{517776C6-BEC8-4048-AFE0-B4426CCB7CBC}"/>
              </a:ext>
            </a:extLst>
          </p:cNvPr>
          <p:cNvSpPr>
            <a:spLocks xmlns:a="http://schemas.openxmlformats.org/drawingml/2006/main" noGrp="1"/>
          </p:cNvSpPr>
          <p:nvPr/>
        </p:nvSpPr>
        <p:spPr>
          <a:xfrm xmlns:a="http://schemas.openxmlformats.org/drawingml/2006/main">
            <a:off x="685800" y="6505575"/>
            <a:ext cx="952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0">
                <a:solidFill>
                  <a:srgbClr val="66736C"/>
                </a:solidFill>
                <a:latin typeface="Arial"/>
                <a:ea typeface="Arial"/>
                <a:cs typeface="Arial"/>
              </a:defRPr>
            </a:defPPr>
          </a:lstStyle>
          <a:p xmlns:a="http://schemas.openxmlformats.org/drawingml/2006/main">
            <a:pPr algn="l">
              <a:defRPr sz="900" b="0">
                <a:solidFill>
                  <a:srgbClr val="66736C"/>
                </a:solidFill>
                <a:latin typeface="Arial"/>
                <a:ea typeface="Arial"/>
                <a:cs typeface="Arial"/>
              </a:defRPr>
            </a:pPr>
            <a:r>
              <a:rPr sz="900" b="0">
                <a:solidFill>
                  <a:srgbClr val="66736C"/>
                </a:solidFill>
                <a:latin typeface="Arial"/>
                <a:ea typeface="Arial"/>
                <a:cs typeface="Arial"/>
              </a:rPr>
              <a:t>ASPECT  /  PROJECT REFERENCE  /  1.0.0</a:t>
            </a:r>
          </a:p>
        </p:txBody>
      </p:sp>
      <p:sp>
        <p:nvSpPr>
          <p:cNvPr id="4" name="page-number">
            <a:extLst xmlns:a="http://schemas.openxmlformats.org/drawingml/2006/main">
              <a:ext uri="{FF2B5EF4-FFF2-40B4-BE49-F238E27FC236}">
                <a16:creationId xmlns:a16="http://schemas.microsoft.com/office/drawing/2014/main" id="{4A5225EF-AE74-4689-90E4-5182B884A4D1}"/>
              </a:ext>
            </a:extLst>
          </p:cNvPr>
          <p:cNvSpPr>
            <a:spLocks xmlns:a="http://schemas.openxmlformats.org/drawingml/2006/main" noGrp="1"/>
          </p:cNvSpPr>
          <p:nvPr/>
        </p:nvSpPr>
        <p:spPr>
          <a:xfrm xmlns:a="http://schemas.openxmlformats.org/drawingml/2006/main">
            <a:off x="10620375" y="6505575"/>
            <a:ext cx="8858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a:solidFill>
                  <a:srgbClr val="66736C"/>
                </a:solidFill>
                <a:latin typeface="Arial"/>
                <a:ea typeface="Arial"/>
                <a:cs typeface="Arial"/>
              </a:defRPr>
            </a:defPPr>
          </a:lstStyle>
          <a:p xmlns:a="http://schemas.openxmlformats.org/drawingml/2006/main">
            <a:pPr algn="r">
              <a:defRPr sz="900" b="0">
                <a:solidFill>
                  <a:srgbClr val="66736C"/>
                </a:solidFill>
                <a:latin typeface="Arial"/>
                <a:ea typeface="Arial"/>
                <a:cs typeface="Arial"/>
              </a:defRPr>
            </a:pPr>
            <a:r>
              <a:rPr sz="900" b="0">
                <a:solidFill>
                  <a:srgbClr val="66736C"/>
                </a:solidFill>
                <a:latin typeface="Arial"/>
                <a:ea typeface="Arial"/>
                <a:cs typeface="Arial"/>
              </a:rPr>
              <a:t>38 / 52</a:t>
            </a:r>
          </a:p>
        </p:txBody>
      </p:sp>
      <p:sp>
        <p:nvSpPr>
          <p:cNvPr id="5" name="lead">
            <a:extLst xmlns:a="http://schemas.openxmlformats.org/drawingml/2006/main">
              <a:ext uri="{FF2B5EF4-FFF2-40B4-BE49-F238E27FC236}">
                <a16:creationId xmlns:a16="http://schemas.microsoft.com/office/drawing/2014/main" id="{E82F48C6-025F-42BD-85A8-7A82FB57E7DA}"/>
              </a:ext>
            </a:extLst>
          </p:cNvPr>
          <p:cNvSpPr>
            <a:spLocks xmlns:a="http://schemas.openxmlformats.org/drawingml/2006/main" noGrp="1"/>
          </p:cNvSpPr>
          <p:nvPr/>
        </p:nvSpPr>
        <p:spPr>
          <a:xfrm xmlns:a="http://schemas.openxmlformats.org/drawingml/2006/main">
            <a:off x="685800" y="1524000"/>
            <a:ext cx="10820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66736C"/>
                </a:solidFill>
                <a:latin typeface="Arial"/>
                <a:ea typeface="Arial"/>
                <a:cs typeface="Arial"/>
              </a:defRPr>
            </a:defPPr>
          </a:lstStyle>
          <a:p xmlns:a="http://schemas.openxmlformats.org/drawingml/2006/main">
            <a:pPr algn="l">
              <a:defRPr sz="1800" b="0">
                <a:solidFill>
                  <a:srgbClr val="66736C"/>
                </a:solidFill>
                <a:latin typeface="Arial"/>
                <a:ea typeface="Arial"/>
                <a:cs typeface="Arial"/>
              </a:defRPr>
            </a:pPr>
            <a:r>
              <a:rPr sz="1800" b="0">
                <a:solidFill>
                  <a:srgbClr val="66736C"/>
                </a:solidFill>
                <a:latin typeface="Arial"/>
                <a:ea typeface="Arial"/>
                <a:cs typeface="Arial"/>
              </a:rPr>
              <a:t>Exact category–sentiment tuple micro-F1 on the same 35 sentences.</a:t>
            </a:r>
          </a:p>
        </p:txBody>
      </p:sp>
      <p:sp>
        <p:nvSpPr>
          <p:cNvPr id="6" name="context-note">
            <a:extLst xmlns:a="http://schemas.openxmlformats.org/drawingml/2006/main">
              <a:ext uri="{FF2B5EF4-FFF2-40B4-BE49-F238E27FC236}">
                <a16:creationId xmlns:a16="http://schemas.microsoft.com/office/drawing/2014/main" id="{C16C4B15-C62B-444F-B68A-6C5E17C9C9C5}"/>
              </a:ext>
            </a:extLst>
          </p:cNvPr>
          <p:cNvSpPr>
            <a:spLocks xmlns:a="http://schemas.openxmlformats.org/drawingml/2006/main" noGrp="1"/>
          </p:cNvSpPr>
          <p:nvPr/>
        </p:nvSpPr>
        <p:spPr>
          <a:xfrm xmlns:a="http://schemas.openxmlformats.org/drawingml/2006/main">
            <a:off x="685800" y="5924550"/>
            <a:ext cx="108204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39725C"/>
                </a:solidFill>
                <a:latin typeface="Arial"/>
                <a:ea typeface="Arial"/>
                <a:cs typeface="Arial"/>
              </a:defRPr>
            </a:defPPr>
          </a:lstStyle>
          <a:p xmlns:a="http://schemas.openxmlformats.org/drawingml/2006/main">
            <a:pPr algn="l">
              <a:defRPr sz="1725" b="0">
                <a:solidFill>
                  <a:srgbClr val="39725C"/>
                </a:solidFill>
                <a:latin typeface="Arial"/>
                <a:ea typeface="Arial"/>
                <a:cs typeface="Arial"/>
              </a:defRPr>
            </a:pPr>
            <a:r>
              <a:rPr sz="1725" b="0">
                <a:solidFill>
                  <a:srgbClr val="39725C"/>
                </a:solidFill>
                <a:latin typeface="Arial"/>
                <a:ea typeface="Arial"/>
                <a:cs typeface="Arial"/>
              </a:rPr>
              <a:t>AI-assisted reference with inspected errors. Independent accuracy still awaits human test labels.</a:t>
            </a:r>
          </a:p>
        </p:txBody>
      </p:sp>
      <p:graphicFrame>
        <p:nvGraphicFramePr>
          <p:cNvPr id="7" name="Chart">
            <a:extLst xmlns:a="http://schemas.openxmlformats.org/drawingml/2006/main">
              <a:ext uri="{FF2B5EF4-FFF2-40B4-BE49-F238E27FC236}">
                <a16:creationId xmlns:a16="http://schemas.microsoft.com/office/drawing/2014/main" id="{590C78B8-05A0-4B79-ACF0-D54EF823D4E0}"/>
              </a:ext>
            </a:extLst>
          </p:cNvPr>
          <p:cNvGraphicFramePr/>
          <p:nvPr/>
        </p:nvGraphicFramePr>
        <p:xfrm>
          <a:off xmlns:a="http://schemas.openxmlformats.org/drawingml/2006/main" x="685800" y="2152650"/>
          <a:ext xmlns:a="http://schemas.openxmlformats.org/drawingml/2006/main" cx="10820400" cy="3429000"/>
        </p:xfrm>
        <a:graphic xmlns:a="http://schemas.openxmlformats.org/drawingml/2006/main">
          <a:graphicData uri="http://schemas.openxmlformats.org/drawingml/2006/chart">
            <c:chart xmlns:r="http://schemas.openxmlformats.org/officeDocument/2006/relationships" xmlns:c="http://schemas.openxmlformats.org/drawingml/2006/chart" r:id="Rb7ce69581580428e"/>
          </a:graphicData>
        </a:graphic>
      </p:graphicFrame>
    </p:spTree>
    <p:extLst>
      <p:ext uri="{BB962C8B-B14F-4D97-AF65-F5344CB8AC3E}">
        <p14:creationId xmlns:p14="http://schemas.microsoft.com/office/powerpoint/2010/main" val="995386527"/>
      </p:ext>
    </p:extLst>
  </p:cSld>
</p:sld>
</file>

<file path=ppt/slides/slide39.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7" name="chapter">
            <a:extLst xmlns:a="http://schemas.openxmlformats.org/drawingml/2006/main">
              <a:ext uri="{FF2B5EF4-FFF2-40B4-BE49-F238E27FC236}">
                <a16:creationId xmlns:a16="http://schemas.microsoft.com/office/drawing/2014/main" id="{B6665E62-49F4-490A-A23C-F2A4FCCF2806}"/>
              </a:ext>
            </a:extLst>
          </p:cNvPr>
          <p:cNvSpPr>
            <a:spLocks xmlns:a="http://schemas.openxmlformats.org/drawingml/2006/main" noGrp="1"/>
          </p:cNvSpPr>
          <p:nvPr/>
        </p:nvSpPr>
        <p:spPr>
          <a:xfrm xmlns:a="http://schemas.openxmlformats.org/drawingml/2006/main">
            <a:off x="685800" y="381000"/>
            <a:ext cx="933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39725C"/>
                </a:solidFill>
                <a:latin typeface="Arial"/>
                <a:ea typeface="Arial"/>
                <a:cs typeface="Arial"/>
              </a:defRPr>
            </a:defPPr>
          </a:lstStyle>
          <a:p xmlns:a="http://schemas.openxmlformats.org/drawingml/2006/main">
            <a:pPr algn="l">
              <a:defRPr sz="1200" b="1">
                <a:solidFill>
                  <a:srgbClr val="39725C"/>
                </a:solidFill>
                <a:latin typeface="Arial"/>
                <a:ea typeface="Arial"/>
                <a:cs typeface="Arial"/>
              </a:defRPr>
            </a:pPr>
            <a:r>
              <a:rPr sz="1200" b="1">
                <a:solidFill>
                  <a:srgbClr val="39725C"/>
                </a:solidFill>
                <a:latin typeface="Arial"/>
                <a:ea typeface="Arial"/>
                <a:cs typeface="Arial"/>
              </a:rPr>
              <a:t>MEASUREMENT</a:t>
            </a:r>
          </a:p>
        </p:txBody>
      </p:sp>
      <p:sp>
        <p:nvSpPr>
          <p:cNvPr id="2" name="primary-heading">
            <a:extLst xmlns:a="http://schemas.openxmlformats.org/drawingml/2006/main">
              <a:ext uri="{FF2B5EF4-FFF2-40B4-BE49-F238E27FC236}">
                <a16:creationId xmlns:a16="http://schemas.microsoft.com/office/drawing/2014/main" id="{345DEAD3-BE74-495E-8281-CF8E837D5CC1}"/>
              </a:ext>
            </a:extLst>
          </p:cNvPr>
          <p:cNvSpPr>
            <a:spLocks xmlns:a="http://schemas.openxmlformats.org/drawingml/2006/main" noGrp="1"/>
          </p:cNvSpPr>
          <p:nvPr/>
        </p:nvSpPr>
        <p:spPr>
          <a:xfrm xmlns:a="http://schemas.openxmlformats.org/drawingml/2006/main">
            <a:off x="685800" y="83820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6332E"/>
                </a:solidFill>
                <a:latin typeface="Arial"/>
                <a:ea typeface="Arial"/>
                <a:cs typeface="Arial"/>
              </a:defRPr>
            </a:defPPr>
          </a:lstStyle>
          <a:p xmlns:a="http://schemas.openxmlformats.org/drawingml/2006/main">
            <a:pPr algn="l">
              <a:defRPr sz="3300" b="1">
                <a:solidFill>
                  <a:srgbClr val="26332E"/>
                </a:solidFill>
                <a:latin typeface="Arial"/>
                <a:ea typeface="Arial"/>
                <a:cs typeface="Arial"/>
              </a:defRPr>
            </a:pPr>
            <a:r>
              <a:rPr sz="3300" b="1">
                <a:solidFill>
                  <a:srgbClr val="26332E"/>
                </a:solidFill>
                <a:latin typeface="Arial"/>
                <a:ea typeface="Arial"/>
                <a:cs typeface="Arial"/>
              </a:rPr>
              <a:t>Remaining errors explain the score</a:t>
            </a:r>
          </a:p>
        </p:txBody>
      </p:sp>
      <p:sp>
        <p:nvSpPr>
          <p:cNvPr id="3" name="footer-label">
            <a:extLst xmlns:a="http://schemas.openxmlformats.org/drawingml/2006/main">
              <a:ext uri="{FF2B5EF4-FFF2-40B4-BE49-F238E27FC236}">
                <a16:creationId xmlns:a16="http://schemas.microsoft.com/office/drawing/2014/main" id="{546B08D7-BC65-4C90-A056-DBBE3E279137}"/>
              </a:ext>
            </a:extLst>
          </p:cNvPr>
          <p:cNvSpPr>
            <a:spLocks xmlns:a="http://schemas.openxmlformats.org/drawingml/2006/main" noGrp="1"/>
          </p:cNvSpPr>
          <p:nvPr/>
        </p:nvSpPr>
        <p:spPr>
          <a:xfrm xmlns:a="http://schemas.openxmlformats.org/drawingml/2006/main">
            <a:off x="685800" y="6505575"/>
            <a:ext cx="952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0">
                <a:solidFill>
                  <a:srgbClr val="66736C"/>
                </a:solidFill>
                <a:latin typeface="Arial"/>
                <a:ea typeface="Arial"/>
                <a:cs typeface="Arial"/>
              </a:defRPr>
            </a:defPPr>
          </a:lstStyle>
          <a:p xmlns:a="http://schemas.openxmlformats.org/drawingml/2006/main">
            <a:pPr algn="l">
              <a:defRPr sz="900" b="0">
                <a:solidFill>
                  <a:srgbClr val="66736C"/>
                </a:solidFill>
                <a:latin typeface="Arial"/>
                <a:ea typeface="Arial"/>
                <a:cs typeface="Arial"/>
              </a:defRPr>
            </a:pPr>
            <a:r>
              <a:rPr sz="900" b="0">
                <a:solidFill>
                  <a:srgbClr val="66736C"/>
                </a:solidFill>
                <a:latin typeface="Arial"/>
                <a:ea typeface="Arial"/>
                <a:cs typeface="Arial"/>
              </a:rPr>
              <a:t>ASPECT  /  PROJECT REFERENCE  /  1.0.0</a:t>
            </a:r>
          </a:p>
        </p:txBody>
      </p:sp>
      <p:sp>
        <p:nvSpPr>
          <p:cNvPr id="4" name="page-number">
            <a:extLst xmlns:a="http://schemas.openxmlformats.org/drawingml/2006/main">
              <a:ext uri="{FF2B5EF4-FFF2-40B4-BE49-F238E27FC236}">
                <a16:creationId xmlns:a16="http://schemas.microsoft.com/office/drawing/2014/main" id="{3515C488-7FBC-4942-9B3F-FB9079720ECA}"/>
              </a:ext>
            </a:extLst>
          </p:cNvPr>
          <p:cNvSpPr>
            <a:spLocks xmlns:a="http://schemas.openxmlformats.org/drawingml/2006/main" noGrp="1"/>
          </p:cNvSpPr>
          <p:nvPr/>
        </p:nvSpPr>
        <p:spPr>
          <a:xfrm xmlns:a="http://schemas.openxmlformats.org/drawingml/2006/main">
            <a:off x="10620375" y="6505575"/>
            <a:ext cx="8858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a:solidFill>
                  <a:srgbClr val="66736C"/>
                </a:solidFill>
                <a:latin typeface="Arial"/>
                <a:ea typeface="Arial"/>
                <a:cs typeface="Arial"/>
              </a:defRPr>
            </a:defPPr>
          </a:lstStyle>
          <a:p xmlns:a="http://schemas.openxmlformats.org/drawingml/2006/main">
            <a:pPr algn="r">
              <a:defRPr sz="900" b="0">
                <a:solidFill>
                  <a:srgbClr val="66736C"/>
                </a:solidFill>
                <a:latin typeface="Arial"/>
                <a:ea typeface="Arial"/>
                <a:cs typeface="Arial"/>
              </a:defRPr>
            </a:pPr>
            <a:r>
              <a:rPr sz="900" b="0">
                <a:solidFill>
                  <a:srgbClr val="66736C"/>
                </a:solidFill>
                <a:latin typeface="Arial"/>
                <a:ea typeface="Arial"/>
                <a:cs typeface="Arial"/>
              </a:rPr>
              <a:t>39 / 52</a:t>
            </a:r>
          </a:p>
        </p:txBody>
      </p:sp>
      <p:sp>
        <p:nvSpPr>
          <p:cNvPr id="5" name="context-note">
            <a:extLst xmlns:a="http://schemas.openxmlformats.org/drawingml/2006/main">
              <a:ext uri="{FF2B5EF4-FFF2-40B4-BE49-F238E27FC236}">
                <a16:creationId xmlns:a16="http://schemas.microsoft.com/office/drawing/2014/main" id="{6828DE5B-80C3-470A-8A70-01E5DC09A228}"/>
              </a:ext>
            </a:extLst>
          </p:cNvPr>
          <p:cNvSpPr>
            <a:spLocks xmlns:a="http://schemas.openxmlformats.org/drawingml/2006/main" noGrp="1"/>
          </p:cNvSpPr>
          <p:nvPr/>
        </p:nvSpPr>
        <p:spPr>
          <a:xfrm xmlns:a="http://schemas.openxmlformats.org/drawingml/2006/main">
            <a:off x="685800" y="5924550"/>
            <a:ext cx="108204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39725C"/>
                </a:solidFill>
                <a:latin typeface="Arial"/>
                <a:ea typeface="Arial"/>
                <a:cs typeface="Arial"/>
              </a:defRPr>
            </a:defPPr>
          </a:lstStyle>
          <a:p xmlns:a="http://schemas.openxmlformats.org/drawingml/2006/main">
            <a:pPr algn="l">
              <a:defRPr sz="1725" b="0">
                <a:solidFill>
                  <a:srgbClr val="39725C"/>
                </a:solidFill>
                <a:latin typeface="Arial"/>
                <a:ea typeface="Arial"/>
                <a:cs typeface="Arial"/>
              </a:defRPr>
            </a:pPr>
            <a:r>
              <a:rPr sz="1725" b="0">
                <a:solidFill>
                  <a:srgbClr val="39725C"/>
                </a:solidFill>
                <a:latin typeface="Arial"/>
                <a:ea typeface="Arial"/>
                <a:cs typeface="Arial"/>
              </a:rPr>
              <a:t>The reference has 21 mentions: 11 positive, 6 negative and 4 neutral. It contains no mixed examples.</a:t>
            </a:r>
          </a:p>
        </p:txBody>
      </p:sp>
      <p:graphicFrame>
        <p:nvGraphicFramePr>
          <p:cNvPr id="6" name="">
            <a:extLst xmlns:a="http://schemas.openxmlformats.org/drawingml/2006/main">
              <a:ext uri="{FF2B5EF4-FFF2-40B4-BE49-F238E27FC236}">
                <a16:creationId xmlns:a16="http://schemas.microsoft.com/office/drawing/2014/main" id="{7FA0D93C-5F79-4104-BF75-4E9F5FCFEEE3}"/>
              </a:ext>
            </a:extLst>
          </p:cNvPr>
          <p:cNvGraphicFramePr/>
          <p:nvPr/>
        </p:nvGraphicFramePr>
        <p:xfrm>
          <a:off xmlns:a="http://schemas.openxmlformats.org/drawingml/2006/main" x="685800" y="1714500"/>
          <a:ext xmlns:a="http://schemas.openxmlformats.org/drawingml/2006/main" cx="10820400" cy="3657600"/>
        </p:xfrm>
        <a:graphic xmlns:a="http://schemas.openxmlformats.org/drawingml/2006/main">
          <a:graphicData uri="http://schemas.openxmlformats.org/drawingml/2006/table">
            <a:tbl>
              <a:tblPr firstRow="1" firstCol="0" lastCol="0" bandRow="0"/>
              <a:tblGrid>
                <a:gridCol w="4191000"/>
                <a:gridCol w="2190750"/>
                <a:gridCol w="2381250"/>
                <a:gridCol w="2057400"/>
              </a:tblGrid>
              <a:tr h="419100">
                <a:tc>
                  <a:txBody>
                    <a:bodyPr wrap="square">
                      <a:noAutofit/>
                    </a:bodyPr>
                    <a:lstStyle/>
                    <a:p>
                      <a:r>
                        <a:rPr sz="1650" b="1">
                          <a:solidFill>
                            <a:srgbClr val="FFFFFF"/>
                          </a:solidFill>
                          <a:latin typeface="Arial"/>
                          <a:ea typeface="Arial"/>
                          <a:cs typeface="Arial"/>
                        </a:rPr>
                        <a:t>Model</a:t>
                      </a:r>
                    </a:p>
                  </a:txBody>
                  <a:tcPr marL="114300" marR="114300" marT="47625" marB="47625" anchor="ctr">
                    <a:lnL w="6668">
                      <a:solidFill>
                        <a:srgbClr val="DCE3DA"/>
                      </a:solidFill>
                      <a:prstDash val="solid"/>
                    </a:lnL>
                    <a:lnR w="6668">
                      <a:solidFill>
                        <a:srgbClr val="DCE3DA"/>
                      </a:solidFill>
                      <a:prstDash val="solid"/>
                    </a:lnR>
                    <a:lnT w="6668">
                      <a:solidFill>
                        <a:srgbClr val="DCE3DA"/>
                      </a:solidFill>
                      <a:prstDash val="solid"/>
                    </a:lnT>
                    <a:lnB w="6668">
                      <a:solidFill>
                        <a:srgbClr val="DCE3DA"/>
                      </a:solidFill>
                      <a:prstDash val="solid"/>
                    </a:lnB>
                    <a:solidFill>
                      <a:srgbClr val="39725C"/>
                    </a:solidFill>
                  </a:tcPr>
                </a:tc>
                <a:tc>
                  <a:txBody>
                    <a:bodyPr wrap="square">
                      <a:noAutofit/>
                    </a:bodyPr>
                    <a:lstStyle/>
                    <a:p>
                      <a:r>
                        <a:rPr sz="1650" b="1">
                          <a:solidFill>
                            <a:srgbClr val="FFFFFF"/>
                          </a:solidFill>
                          <a:latin typeface="Arial"/>
                          <a:ea typeface="Arial"/>
                          <a:cs typeface="Arial"/>
                        </a:rPr>
                        <a:t>Missed aspects</a:t>
                      </a:r>
                    </a:p>
                  </a:txBody>
                  <a:tcPr marL="114300" marR="114300" marT="47625" marB="47625" anchor="ctr">
                    <a:lnR w="6668">
                      <a:solidFill>
                        <a:srgbClr val="DCE3DA"/>
                      </a:solidFill>
                      <a:prstDash val="solid"/>
                    </a:lnR>
                    <a:lnT w="6668">
                      <a:solidFill>
                        <a:srgbClr val="DCE3DA"/>
                      </a:solidFill>
                      <a:prstDash val="solid"/>
                    </a:lnT>
                    <a:lnB w="6668">
                      <a:solidFill>
                        <a:srgbClr val="DCE3DA"/>
                      </a:solidFill>
                      <a:prstDash val="solid"/>
                    </a:lnB>
                    <a:solidFill>
                      <a:srgbClr val="39725C"/>
                    </a:solidFill>
                  </a:tcPr>
                </a:tc>
                <a:tc>
                  <a:txBody>
                    <a:bodyPr wrap="square">
                      <a:noAutofit/>
                    </a:bodyPr>
                    <a:lstStyle/>
                    <a:p>
                      <a:r>
                        <a:rPr sz="1650" b="1">
                          <a:solidFill>
                            <a:srgbClr val="FFFFFF"/>
                          </a:solidFill>
                          <a:latin typeface="Arial"/>
                          <a:ea typeface="Arial"/>
                          <a:cs typeface="Arial"/>
                        </a:rPr>
                        <a:t>Wrong sentiments</a:t>
                      </a:r>
                    </a:p>
                  </a:txBody>
                  <a:tcPr marL="114300" marR="114300" marT="47625" marB="47625" anchor="ctr">
                    <a:lnR w="6668">
                      <a:solidFill>
                        <a:srgbClr val="DCE3DA"/>
                      </a:solidFill>
                      <a:prstDash val="solid"/>
                    </a:lnR>
                    <a:lnT w="6668">
                      <a:solidFill>
                        <a:srgbClr val="DCE3DA"/>
                      </a:solidFill>
                      <a:prstDash val="solid"/>
                    </a:lnT>
                    <a:lnB w="6668">
                      <a:solidFill>
                        <a:srgbClr val="DCE3DA"/>
                      </a:solidFill>
                      <a:prstDash val="solid"/>
                    </a:lnB>
                    <a:solidFill>
                      <a:srgbClr val="39725C"/>
                    </a:solidFill>
                  </a:tcPr>
                </a:tc>
                <a:tc>
                  <a:txBody>
                    <a:bodyPr wrap="square">
                      <a:noAutofit/>
                    </a:bodyPr>
                    <a:lstStyle/>
                    <a:p>
                      <a:r>
                        <a:rPr sz="1650" b="1">
                          <a:solidFill>
                            <a:srgbClr val="FFFFFF"/>
                          </a:solidFill>
                          <a:latin typeface="Arial"/>
                          <a:ea typeface="Arial"/>
                          <a:cs typeface="Arial"/>
                        </a:rPr>
                        <a:t>Extra aspects</a:t>
                      </a:r>
                    </a:p>
                  </a:txBody>
                  <a:tcPr marL="114300" marR="114300" marT="47625" marB="47625" anchor="ctr">
                    <a:lnR w="6668">
                      <a:solidFill>
                        <a:srgbClr val="DCE3DA"/>
                      </a:solidFill>
                      <a:prstDash val="solid"/>
                    </a:lnR>
                    <a:lnT w="6668">
                      <a:solidFill>
                        <a:srgbClr val="DCE3DA"/>
                      </a:solidFill>
                      <a:prstDash val="solid"/>
                    </a:lnT>
                    <a:lnB w="6668">
                      <a:solidFill>
                        <a:srgbClr val="DCE3DA"/>
                      </a:solidFill>
                      <a:prstDash val="solid"/>
                    </a:lnB>
                    <a:solidFill>
                      <a:srgbClr val="39725C"/>
                    </a:solidFill>
                  </a:tcPr>
                </a:tc>
              </a:tr>
              <a:tr h="647700">
                <a:tc>
                  <a:txBody>
                    <a:bodyPr wrap="square">
                      <a:noAutofit/>
                    </a:bodyPr>
                    <a:lstStyle/>
                    <a:p>
                      <a:r>
                        <a:rPr sz="1725" b="1">
                          <a:solidFill>
                            <a:srgbClr val="26332E"/>
                          </a:solidFill>
                          <a:latin typeface="Arial"/>
                          <a:ea typeface="Arial"/>
                          <a:cs typeface="Arial"/>
                        </a:rPr>
                        <a:t>Rules + VADER</a:t>
                      </a:r>
                    </a:p>
                  </a:txBody>
                  <a:tcPr marL="114300" marR="114300" marT="47625" marB="47625" anchor="ctr">
                    <a:lnL w="6668">
                      <a:solidFill>
                        <a:srgbClr val="DCE3DA"/>
                      </a:solidFill>
                      <a:prstDash val="solid"/>
                    </a:lnL>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13</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4</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1</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r>
              <a:tr h="647700">
                <a:tc>
                  <a:txBody>
                    <a:bodyPr wrap="square">
                      <a:noAutofit/>
                    </a:bodyPr>
                    <a:lstStyle/>
                    <a:p>
                      <a:r>
                        <a:rPr sz="1725" b="1">
                          <a:solidFill>
                            <a:srgbClr val="26332E"/>
                          </a:solidFill>
                          <a:latin typeface="Arial"/>
                          <a:ea typeface="Arial"/>
                          <a:cs typeface="Arial"/>
                        </a:rPr>
                        <a:t>Original DeBERTa adapter</a:t>
                      </a:r>
                    </a:p>
                  </a:txBody>
                  <a:tcPr marL="114300" marR="114300" marT="47625" marB="47625" anchor="ctr">
                    <a:lnL w="6668">
                      <a:solidFill>
                        <a:srgbClr val="DCE3DA"/>
                      </a:solidFill>
                      <a:prstDash val="solid"/>
                    </a:lnL>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13</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3</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2</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r>
              <a:tr h="647700">
                <a:tc>
                  <a:txBody>
                    <a:bodyPr wrap="square">
                      <a:noAutofit/>
                    </a:bodyPr>
                    <a:lstStyle/>
                    <a:p>
                      <a:r>
                        <a:rPr sz="1725" b="1">
                          <a:solidFill>
                            <a:srgbClr val="26332E"/>
                          </a:solidFill>
                          <a:latin typeface="Arial"/>
                          <a:ea typeface="Arial"/>
                          <a:cs typeface="Arial"/>
                        </a:rPr>
                        <a:t>Flat TF-IDF</a:t>
                      </a:r>
                    </a:p>
                  </a:txBody>
                  <a:tcPr marL="114300" marR="114300" marT="47625" marB="47625" anchor="ctr">
                    <a:lnL w="6668">
                      <a:solidFill>
                        <a:srgbClr val="DCE3DA"/>
                      </a:solidFill>
                      <a:prstDash val="solid"/>
                    </a:lnL>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20</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0</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0</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r>
              <a:tr h="647700">
                <a:tc>
                  <a:txBody>
                    <a:bodyPr wrap="square">
                      <a:noAutofit/>
                    </a:bodyPr>
                    <a:lstStyle/>
                    <a:p>
                      <a:r>
                        <a:rPr sz="1725" b="1">
                          <a:solidFill>
                            <a:srgbClr val="26332E"/>
                          </a:solidFill>
                          <a:latin typeface="Arial"/>
                          <a:ea typeface="Arial"/>
                          <a:cs typeface="Arial"/>
                        </a:rPr>
                        <a:t>Domain adapter v2</a:t>
                      </a:r>
                    </a:p>
                  </a:txBody>
                  <a:tcPr marL="114300" marR="114300" marT="47625" marB="47625" anchor="ctr">
                    <a:lnL w="6668">
                      <a:solidFill>
                        <a:srgbClr val="DCE3DA"/>
                      </a:solidFill>
                      <a:prstDash val="solid"/>
                    </a:lnL>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2</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4</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0</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r>
              <a:tr h="647700">
                <a:tc>
                  <a:txBody>
                    <a:bodyPr wrap="square">
                      <a:noAutofit/>
                    </a:bodyPr>
                    <a:lstStyle/>
                    <a:p>
                      <a:r>
                        <a:rPr sz="1725" b="1">
                          <a:solidFill>
                            <a:srgbClr val="26332E"/>
                          </a:solidFill>
                          <a:latin typeface="Arial"/>
                          <a:ea typeface="Arial"/>
                          <a:cs typeface="Arial"/>
                        </a:rPr>
                        <a:t>Two-stage TF-IDF</a:t>
                      </a:r>
                    </a:p>
                  </a:txBody>
                  <a:tcPr marL="114300" marR="114300" marT="47625" marB="47625" anchor="ctr">
                    <a:lnL w="6668">
                      <a:solidFill>
                        <a:srgbClr val="DCE3DA"/>
                      </a:solidFill>
                      <a:prstDash val="solid"/>
                    </a:lnL>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17</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1</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0</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r>
            </a:tbl>
          </a:graphicData>
        </a:graphic>
      </p:graphicFrame>
    </p:spTree>
    <p:extLst>
      <p:ext uri="{BB962C8B-B14F-4D97-AF65-F5344CB8AC3E}">
        <p14:creationId xmlns:p14="http://schemas.microsoft.com/office/powerpoint/2010/main" val="1740567668"/>
      </p:ext>
    </p:extLst>
  </p:cSld>
</p:sld>
</file>

<file path=ppt/slides/slide40.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10" name="chapter">
            <a:extLst xmlns:a="http://schemas.openxmlformats.org/drawingml/2006/main">
              <a:ext uri="{FF2B5EF4-FFF2-40B4-BE49-F238E27FC236}">
                <a16:creationId xmlns:a16="http://schemas.microsoft.com/office/drawing/2014/main" id="{B2C30DAF-5DF0-453E-8832-D888B1259FC1}"/>
              </a:ext>
            </a:extLst>
          </p:cNvPr>
          <p:cNvSpPr>
            <a:spLocks xmlns:a="http://schemas.openxmlformats.org/drawingml/2006/main" noGrp="1"/>
          </p:cNvSpPr>
          <p:nvPr/>
        </p:nvSpPr>
        <p:spPr>
          <a:xfrm xmlns:a="http://schemas.openxmlformats.org/drawingml/2006/main">
            <a:off x="685800" y="381000"/>
            <a:ext cx="933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39725C"/>
                </a:solidFill>
                <a:latin typeface="Arial"/>
                <a:ea typeface="Arial"/>
                <a:cs typeface="Arial"/>
              </a:defRPr>
            </a:defPPr>
          </a:lstStyle>
          <a:p xmlns:a="http://schemas.openxmlformats.org/drawingml/2006/main">
            <a:pPr algn="l">
              <a:defRPr sz="1200" b="1">
                <a:solidFill>
                  <a:srgbClr val="39725C"/>
                </a:solidFill>
                <a:latin typeface="Arial"/>
                <a:ea typeface="Arial"/>
                <a:cs typeface="Arial"/>
              </a:defRPr>
            </a:pPr>
            <a:r>
              <a:rPr sz="1200" b="1">
                <a:solidFill>
                  <a:srgbClr val="39725C"/>
                </a:solidFill>
                <a:latin typeface="Arial"/>
                <a:ea typeface="Arial"/>
                <a:cs typeface="Arial"/>
              </a:rPr>
              <a:t>MEASUREMENT</a:t>
            </a:r>
          </a:p>
        </p:txBody>
      </p:sp>
      <p:sp>
        <p:nvSpPr>
          <p:cNvPr id="2" name="primary-heading">
            <a:extLst xmlns:a="http://schemas.openxmlformats.org/drawingml/2006/main">
              <a:ext uri="{FF2B5EF4-FFF2-40B4-BE49-F238E27FC236}">
                <a16:creationId xmlns:a16="http://schemas.microsoft.com/office/drawing/2014/main" id="{EF8B6AAC-DDFE-470F-8D38-534BD6C3954E}"/>
              </a:ext>
            </a:extLst>
          </p:cNvPr>
          <p:cNvSpPr>
            <a:spLocks xmlns:a="http://schemas.openxmlformats.org/drawingml/2006/main" noGrp="1"/>
          </p:cNvSpPr>
          <p:nvPr/>
        </p:nvSpPr>
        <p:spPr>
          <a:xfrm xmlns:a="http://schemas.openxmlformats.org/drawingml/2006/main">
            <a:off x="685800" y="83820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6332E"/>
                </a:solidFill>
                <a:latin typeface="Arial"/>
                <a:ea typeface="Arial"/>
                <a:cs typeface="Arial"/>
              </a:defRPr>
            </a:defPPr>
          </a:lstStyle>
          <a:p xmlns:a="http://schemas.openxmlformats.org/drawingml/2006/main">
            <a:pPr algn="l">
              <a:defRPr sz="3300" b="1">
                <a:solidFill>
                  <a:srgbClr val="26332E"/>
                </a:solidFill>
                <a:latin typeface="Arial"/>
                <a:ea typeface="Arial"/>
                <a:cs typeface="Arial"/>
              </a:defRPr>
            </a:pPr>
            <a:r>
              <a:rPr sz="3300" b="1">
                <a:solidFill>
                  <a:srgbClr val="26332E"/>
                </a:solidFill>
                <a:latin typeface="Arial"/>
                <a:ea typeface="Arial"/>
                <a:cs typeface="Arial"/>
              </a:rPr>
              <a:t>High absent-state accuracy can hide failure</a:t>
            </a:r>
          </a:p>
        </p:txBody>
      </p:sp>
      <p:sp>
        <p:nvSpPr>
          <p:cNvPr id="3" name="footer-label">
            <a:extLst xmlns:a="http://schemas.openxmlformats.org/drawingml/2006/main">
              <a:ext uri="{FF2B5EF4-FFF2-40B4-BE49-F238E27FC236}">
                <a16:creationId xmlns:a16="http://schemas.microsoft.com/office/drawing/2014/main" id="{CF34DA89-5BB6-4954-8BA8-92BAD44818DF}"/>
              </a:ext>
            </a:extLst>
          </p:cNvPr>
          <p:cNvSpPr>
            <a:spLocks xmlns:a="http://schemas.openxmlformats.org/drawingml/2006/main" noGrp="1"/>
          </p:cNvSpPr>
          <p:nvPr/>
        </p:nvSpPr>
        <p:spPr>
          <a:xfrm xmlns:a="http://schemas.openxmlformats.org/drawingml/2006/main">
            <a:off x="685800" y="6505575"/>
            <a:ext cx="952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0">
                <a:solidFill>
                  <a:srgbClr val="66736C"/>
                </a:solidFill>
                <a:latin typeface="Arial"/>
                <a:ea typeface="Arial"/>
                <a:cs typeface="Arial"/>
              </a:defRPr>
            </a:defPPr>
          </a:lstStyle>
          <a:p xmlns:a="http://schemas.openxmlformats.org/drawingml/2006/main">
            <a:pPr algn="l">
              <a:defRPr sz="900" b="0">
                <a:solidFill>
                  <a:srgbClr val="66736C"/>
                </a:solidFill>
                <a:latin typeface="Arial"/>
                <a:ea typeface="Arial"/>
                <a:cs typeface="Arial"/>
              </a:defRPr>
            </a:pPr>
            <a:r>
              <a:rPr sz="900" b="0">
                <a:solidFill>
                  <a:srgbClr val="66736C"/>
                </a:solidFill>
                <a:latin typeface="Arial"/>
                <a:ea typeface="Arial"/>
                <a:cs typeface="Arial"/>
              </a:rPr>
              <a:t>ASPECT  /  PROJECT REFERENCE  /  1.0.0</a:t>
            </a:r>
          </a:p>
        </p:txBody>
      </p:sp>
      <p:sp>
        <p:nvSpPr>
          <p:cNvPr id="4" name="page-number">
            <a:extLst xmlns:a="http://schemas.openxmlformats.org/drawingml/2006/main">
              <a:ext uri="{FF2B5EF4-FFF2-40B4-BE49-F238E27FC236}">
                <a16:creationId xmlns:a16="http://schemas.microsoft.com/office/drawing/2014/main" id="{BDE75A47-B7D3-44EC-9915-2A83FEE9C5A0}"/>
              </a:ext>
            </a:extLst>
          </p:cNvPr>
          <p:cNvSpPr>
            <a:spLocks xmlns:a="http://schemas.openxmlformats.org/drawingml/2006/main" noGrp="1"/>
          </p:cNvSpPr>
          <p:nvPr/>
        </p:nvSpPr>
        <p:spPr>
          <a:xfrm xmlns:a="http://schemas.openxmlformats.org/drawingml/2006/main">
            <a:off x="10620375" y="6505575"/>
            <a:ext cx="8858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a:solidFill>
                  <a:srgbClr val="66736C"/>
                </a:solidFill>
                <a:latin typeface="Arial"/>
                <a:ea typeface="Arial"/>
                <a:cs typeface="Arial"/>
              </a:defRPr>
            </a:defPPr>
          </a:lstStyle>
          <a:p xmlns:a="http://schemas.openxmlformats.org/drawingml/2006/main">
            <a:pPr algn="r">
              <a:defRPr sz="900" b="0">
                <a:solidFill>
                  <a:srgbClr val="66736C"/>
                </a:solidFill>
                <a:latin typeface="Arial"/>
                <a:ea typeface="Arial"/>
                <a:cs typeface="Arial"/>
              </a:defRPr>
            </a:pPr>
            <a:r>
              <a:rPr sz="900" b="0">
                <a:solidFill>
                  <a:srgbClr val="66736C"/>
                </a:solidFill>
                <a:latin typeface="Arial"/>
                <a:ea typeface="Arial"/>
                <a:cs typeface="Arial"/>
              </a:rPr>
              <a:t>40 / 52</a:t>
            </a:r>
          </a:p>
        </p:txBody>
      </p:sp>
      <p:sp>
        <p:nvSpPr>
          <p:cNvPr id="5" name="context-note">
            <a:extLst xmlns:a="http://schemas.openxmlformats.org/drawingml/2006/main">
              <a:ext uri="{FF2B5EF4-FFF2-40B4-BE49-F238E27FC236}">
                <a16:creationId xmlns:a16="http://schemas.microsoft.com/office/drawing/2014/main" id="{C57BD48A-DCB4-4597-9646-BB9CC2527CA7}"/>
              </a:ext>
            </a:extLst>
          </p:cNvPr>
          <p:cNvSpPr>
            <a:spLocks xmlns:a="http://schemas.openxmlformats.org/drawingml/2006/main" noGrp="1"/>
          </p:cNvSpPr>
          <p:nvPr/>
        </p:nvSpPr>
        <p:spPr>
          <a:xfrm xmlns:a="http://schemas.openxmlformats.org/drawingml/2006/main">
            <a:off x="685800" y="5924550"/>
            <a:ext cx="108204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39725C"/>
                </a:solidFill>
                <a:latin typeface="Arial"/>
                <a:ea typeface="Arial"/>
                <a:cs typeface="Arial"/>
              </a:defRPr>
            </a:defPPr>
          </a:lstStyle>
          <a:p xmlns:a="http://schemas.openxmlformats.org/drawingml/2006/main">
            <a:pPr algn="l">
              <a:defRPr sz="1725" b="0">
                <a:solidFill>
                  <a:srgbClr val="39725C"/>
                </a:solidFill>
                <a:latin typeface="Arial"/>
                <a:ea typeface="Arial"/>
                <a:cs typeface="Arial"/>
              </a:defRPr>
            </a:pPr>
            <a:r>
              <a:rPr sz="1725" b="0">
                <a:solidFill>
                  <a:srgbClr val="39725C"/>
                </a:solidFill>
                <a:latin typeface="Arial"/>
                <a:ea typeface="Arial"/>
                <a:cs typeface="Arial"/>
              </a:rPr>
              <a:t>The project reports tuple metrics, support counts and reference origins alongside any result.</a:t>
            </a:r>
          </a:p>
        </p:txBody>
      </p:sp>
      <p:sp>
        <p:nvSpPr>
          <p:cNvPr id="6" name="column-label-0">
            <a:extLst xmlns:a="http://schemas.openxmlformats.org/drawingml/2006/main">
              <a:ext uri="{FF2B5EF4-FFF2-40B4-BE49-F238E27FC236}">
                <a16:creationId xmlns:a16="http://schemas.microsoft.com/office/drawing/2014/main" id="{794F3C77-BF8D-46E9-8270-D0C0A4B37F3C}"/>
              </a:ext>
            </a:extLst>
          </p:cNvPr>
          <p:cNvSpPr>
            <a:spLocks xmlns:a="http://schemas.openxmlformats.org/drawingml/2006/main" noGrp="1"/>
          </p:cNvSpPr>
          <p:nvPr/>
        </p:nvSpPr>
        <p:spPr>
          <a:xfrm xmlns:a="http://schemas.openxmlformats.org/drawingml/2006/main">
            <a:off x="685800" y="1905000"/>
            <a:ext cx="52006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39725C"/>
                </a:solidFill>
                <a:latin typeface="Arial"/>
                <a:ea typeface="Arial"/>
                <a:cs typeface="Arial"/>
              </a:defRPr>
            </a:defPPr>
          </a:lstStyle>
          <a:p xmlns:a="http://schemas.openxmlformats.org/drawingml/2006/main">
            <a:pPr algn="l">
              <a:defRPr sz="2175" b="1">
                <a:solidFill>
                  <a:srgbClr val="39725C"/>
                </a:solidFill>
                <a:latin typeface="Arial"/>
                <a:ea typeface="Arial"/>
                <a:cs typeface="Arial"/>
              </a:defRPr>
            </a:pPr>
            <a:r>
              <a:rPr sz="2175" b="1">
                <a:solidFill>
                  <a:srgbClr val="39725C"/>
                </a:solidFill>
                <a:latin typeface="Arial"/>
                <a:ea typeface="Arial"/>
                <a:cs typeface="Arial"/>
              </a:rPr>
              <a:t>Reference imbalance</a:t>
            </a:r>
          </a:p>
        </p:txBody>
      </p:sp>
      <p:sp>
        <p:nvSpPr>
          <p:cNvPr id="7" name="column-copy-0">
            <a:extLst xmlns:a="http://schemas.openxmlformats.org/drawingml/2006/main">
              <a:ext uri="{FF2B5EF4-FFF2-40B4-BE49-F238E27FC236}">
                <a16:creationId xmlns:a16="http://schemas.microsoft.com/office/drawing/2014/main" id="{1C96C6B1-BBBE-47E9-9006-14E480D2809C}"/>
              </a:ext>
            </a:extLst>
          </p:cNvPr>
          <p:cNvSpPr>
            <a:spLocks xmlns:a="http://schemas.openxmlformats.org/drawingml/2006/main" noGrp="1"/>
          </p:cNvSpPr>
          <p:nvPr/>
        </p:nvSpPr>
        <p:spPr>
          <a:xfrm xmlns:a="http://schemas.openxmlformats.org/drawingml/2006/main">
            <a:off x="685800" y="2552700"/>
            <a:ext cx="520065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26332E"/>
                </a:solidFill>
                <a:latin typeface="Arial"/>
                <a:ea typeface="Arial"/>
                <a:cs typeface="Arial"/>
              </a:defRPr>
            </a:defPPr>
          </a:lstStyle>
          <a:p xmlns:a="http://schemas.openxmlformats.org/drawingml/2006/main">
            <a:pPr algn="l">
              <a:defRPr sz="2175" b="0">
                <a:solidFill>
                  <a:srgbClr val="26332E"/>
                </a:solidFill>
                <a:latin typeface="Arial"/>
                <a:ea typeface="Arial"/>
                <a:cs typeface="Arial"/>
              </a:defRPr>
            </a:pPr>
            <a:r>
              <a:rPr sz="2175" b="0">
                <a:solidFill>
                  <a:srgbClr val="26332E"/>
                </a:solidFill>
                <a:latin typeface="Arial"/>
                <a:ea typeface="Arial"/>
                <a:cs typeface="Arial"/>
              </a:rPr>
              <a:t>329 of 350 category states are absent. Only 21 states contain a feature opinion or neutral mention.</a:t>
            </a:r>
          </a:p>
        </p:txBody>
      </p:sp>
      <p:sp>
        <p:nvSpPr>
          <p:cNvPr id="8" name="column-label-1">
            <a:extLst xmlns:a="http://schemas.openxmlformats.org/drawingml/2006/main">
              <a:ext uri="{FF2B5EF4-FFF2-40B4-BE49-F238E27FC236}">
                <a16:creationId xmlns:a16="http://schemas.microsoft.com/office/drawing/2014/main" id="{8628354C-EF22-4D55-9F98-274A36CC45B7}"/>
              </a:ext>
            </a:extLst>
          </p:cNvPr>
          <p:cNvSpPr>
            <a:spLocks xmlns:a="http://schemas.openxmlformats.org/drawingml/2006/main" noGrp="1"/>
          </p:cNvSpPr>
          <p:nvPr/>
        </p:nvSpPr>
        <p:spPr>
          <a:xfrm xmlns:a="http://schemas.openxmlformats.org/drawingml/2006/main">
            <a:off x="6305550" y="1905000"/>
            <a:ext cx="52006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39725C"/>
                </a:solidFill>
                <a:latin typeface="Arial"/>
                <a:ea typeface="Arial"/>
                <a:cs typeface="Arial"/>
              </a:defRPr>
            </a:defPPr>
          </a:lstStyle>
          <a:p xmlns:a="http://schemas.openxmlformats.org/drawingml/2006/main">
            <a:pPr algn="l">
              <a:defRPr sz="2175" b="1">
                <a:solidFill>
                  <a:srgbClr val="39725C"/>
                </a:solidFill>
                <a:latin typeface="Arial"/>
                <a:ea typeface="Arial"/>
                <a:cs typeface="Arial"/>
              </a:defRPr>
            </a:pPr>
            <a:r>
              <a:rPr sz="2175" b="1">
                <a:solidFill>
                  <a:srgbClr val="39725C"/>
                </a:solidFill>
                <a:latin typeface="Arial"/>
                <a:ea typeface="Arial"/>
                <a:cs typeface="Arial"/>
              </a:rPr>
              <a:t>Always-absent predictor</a:t>
            </a:r>
          </a:p>
        </p:txBody>
      </p:sp>
      <p:sp>
        <p:nvSpPr>
          <p:cNvPr id="9" name="column-copy-1">
            <a:extLst xmlns:a="http://schemas.openxmlformats.org/drawingml/2006/main">
              <a:ext uri="{FF2B5EF4-FFF2-40B4-BE49-F238E27FC236}">
                <a16:creationId xmlns:a16="http://schemas.microsoft.com/office/drawing/2014/main" id="{D16014B7-55E4-4E5F-B1E5-5DB7C24D69E6}"/>
              </a:ext>
            </a:extLst>
          </p:cNvPr>
          <p:cNvSpPr>
            <a:spLocks xmlns:a="http://schemas.openxmlformats.org/drawingml/2006/main" noGrp="1"/>
          </p:cNvSpPr>
          <p:nvPr/>
        </p:nvSpPr>
        <p:spPr>
          <a:xfrm xmlns:a="http://schemas.openxmlformats.org/drawingml/2006/main">
            <a:off x="6305550" y="2552700"/>
            <a:ext cx="520065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26332E"/>
                </a:solidFill>
                <a:latin typeface="Arial"/>
                <a:ea typeface="Arial"/>
                <a:cs typeface="Arial"/>
              </a:defRPr>
            </a:defPPr>
          </a:lstStyle>
          <a:p xmlns:a="http://schemas.openxmlformats.org/drawingml/2006/main">
            <a:pPr algn="l">
              <a:defRPr sz="2175" b="0">
                <a:solidFill>
                  <a:srgbClr val="26332E"/>
                </a:solidFill>
                <a:latin typeface="Arial"/>
                <a:ea typeface="Arial"/>
                <a:cs typeface="Arial"/>
              </a:defRPr>
            </a:pPr>
            <a:r>
              <a:rPr sz="2175" b="0">
                <a:solidFill>
                  <a:srgbClr val="26332E"/>
                </a:solidFill>
                <a:latin typeface="Arial"/>
                <a:ea typeface="Arial"/>
                <a:cs typeface="Arial"/>
              </a:rPr>
              <a:t>It reaches 94% category-state accuracy while detecting zero aspect tuples. Its tuple F1 and presence F1 are both zero.</a:t>
            </a:r>
          </a:p>
        </p:txBody>
      </p:sp>
    </p:spTree>
    <p:extLst>
      <p:ext uri="{BB962C8B-B14F-4D97-AF65-F5344CB8AC3E}">
        <p14:creationId xmlns:p14="http://schemas.microsoft.com/office/powerpoint/2010/main" val="957598667"/>
      </p:ext>
    </p:extLst>
  </p:cSld>
</p:sld>
</file>

<file path=ppt/slides/slide41.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10" name="chapter">
            <a:extLst xmlns:a="http://schemas.openxmlformats.org/drawingml/2006/main">
              <a:ext uri="{FF2B5EF4-FFF2-40B4-BE49-F238E27FC236}">
                <a16:creationId xmlns:a16="http://schemas.microsoft.com/office/drawing/2014/main" id="{1AEB0A88-6CCB-4740-ADB0-617E943D74A7}"/>
              </a:ext>
            </a:extLst>
          </p:cNvPr>
          <p:cNvSpPr>
            <a:spLocks xmlns:a="http://schemas.openxmlformats.org/drawingml/2006/main" noGrp="1"/>
          </p:cNvSpPr>
          <p:nvPr/>
        </p:nvSpPr>
        <p:spPr>
          <a:xfrm xmlns:a="http://schemas.openxmlformats.org/drawingml/2006/main">
            <a:off x="685800" y="381000"/>
            <a:ext cx="933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39725C"/>
                </a:solidFill>
                <a:latin typeface="Arial"/>
                <a:ea typeface="Arial"/>
                <a:cs typeface="Arial"/>
              </a:defRPr>
            </a:defPPr>
          </a:lstStyle>
          <a:p xmlns:a="http://schemas.openxmlformats.org/drawingml/2006/main">
            <a:pPr algn="l">
              <a:defRPr sz="1200" b="1">
                <a:solidFill>
                  <a:srgbClr val="39725C"/>
                </a:solidFill>
                <a:latin typeface="Arial"/>
                <a:ea typeface="Arial"/>
                <a:cs typeface="Arial"/>
              </a:defRPr>
            </a:pPr>
            <a:r>
              <a:rPr sz="1200" b="1">
                <a:solidFill>
                  <a:srgbClr val="39725C"/>
                </a:solidFill>
                <a:latin typeface="Arial"/>
                <a:ea typeface="Arial"/>
                <a:cs typeface="Arial"/>
              </a:rPr>
              <a:t>MEASUREMENT</a:t>
            </a:r>
          </a:p>
        </p:txBody>
      </p:sp>
      <p:sp>
        <p:nvSpPr>
          <p:cNvPr id="2" name="primary-heading">
            <a:extLst xmlns:a="http://schemas.openxmlformats.org/drawingml/2006/main">
              <a:ext uri="{FF2B5EF4-FFF2-40B4-BE49-F238E27FC236}">
                <a16:creationId xmlns:a16="http://schemas.microsoft.com/office/drawing/2014/main" id="{8748DB6D-9F4C-4696-AB37-01B177E97B50}"/>
              </a:ext>
            </a:extLst>
          </p:cNvPr>
          <p:cNvSpPr>
            <a:spLocks xmlns:a="http://schemas.openxmlformats.org/drawingml/2006/main" noGrp="1"/>
          </p:cNvSpPr>
          <p:nvPr/>
        </p:nvSpPr>
        <p:spPr>
          <a:xfrm xmlns:a="http://schemas.openxmlformats.org/drawingml/2006/main">
            <a:off x="685800" y="83820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6332E"/>
                </a:solidFill>
                <a:latin typeface="Arial"/>
                <a:ea typeface="Arial"/>
                <a:cs typeface="Arial"/>
              </a:defRPr>
            </a:defPPr>
          </a:lstStyle>
          <a:p xmlns:a="http://schemas.openxmlformats.org/drawingml/2006/main">
            <a:pPr algn="l">
              <a:defRPr sz="3300" b="1">
                <a:solidFill>
                  <a:srgbClr val="26332E"/>
                </a:solidFill>
                <a:latin typeface="Arial"/>
                <a:ea typeface="Arial"/>
                <a:cs typeface="Arial"/>
              </a:defRPr>
            </a:pPr>
            <a:r>
              <a:rPr sz="3300" b="1">
                <a:solidFill>
                  <a:srgbClr val="26332E"/>
                </a:solidFill>
                <a:latin typeface="Arial"/>
                <a:ea typeface="Arial"/>
                <a:cs typeface="Arial"/>
              </a:rPr>
              <a:t>Independent final accuracy remains pending</a:t>
            </a:r>
          </a:p>
        </p:txBody>
      </p:sp>
      <p:sp>
        <p:nvSpPr>
          <p:cNvPr id="3" name="footer-label">
            <a:extLst xmlns:a="http://schemas.openxmlformats.org/drawingml/2006/main">
              <a:ext uri="{FF2B5EF4-FFF2-40B4-BE49-F238E27FC236}">
                <a16:creationId xmlns:a16="http://schemas.microsoft.com/office/drawing/2014/main" id="{A8E8DDC4-5CEE-46FA-8387-22FF97326DB8}"/>
              </a:ext>
            </a:extLst>
          </p:cNvPr>
          <p:cNvSpPr>
            <a:spLocks xmlns:a="http://schemas.openxmlformats.org/drawingml/2006/main" noGrp="1"/>
          </p:cNvSpPr>
          <p:nvPr/>
        </p:nvSpPr>
        <p:spPr>
          <a:xfrm xmlns:a="http://schemas.openxmlformats.org/drawingml/2006/main">
            <a:off x="685800" y="6505575"/>
            <a:ext cx="952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0">
                <a:solidFill>
                  <a:srgbClr val="66736C"/>
                </a:solidFill>
                <a:latin typeface="Arial"/>
                <a:ea typeface="Arial"/>
                <a:cs typeface="Arial"/>
              </a:defRPr>
            </a:defPPr>
          </a:lstStyle>
          <a:p xmlns:a="http://schemas.openxmlformats.org/drawingml/2006/main">
            <a:pPr algn="l">
              <a:defRPr sz="900" b="0">
                <a:solidFill>
                  <a:srgbClr val="66736C"/>
                </a:solidFill>
                <a:latin typeface="Arial"/>
                <a:ea typeface="Arial"/>
                <a:cs typeface="Arial"/>
              </a:defRPr>
            </a:pPr>
            <a:r>
              <a:rPr sz="900" b="0">
                <a:solidFill>
                  <a:srgbClr val="66736C"/>
                </a:solidFill>
                <a:latin typeface="Arial"/>
                <a:ea typeface="Arial"/>
                <a:cs typeface="Arial"/>
              </a:rPr>
              <a:t>ASPECT  /  PROJECT REFERENCE  /  1.0.0</a:t>
            </a:r>
          </a:p>
        </p:txBody>
      </p:sp>
      <p:sp>
        <p:nvSpPr>
          <p:cNvPr id="4" name="page-number">
            <a:extLst xmlns:a="http://schemas.openxmlformats.org/drawingml/2006/main">
              <a:ext uri="{FF2B5EF4-FFF2-40B4-BE49-F238E27FC236}">
                <a16:creationId xmlns:a16="http://schemas.microsoft.com/office/drawing/2014/main" id="{251620D3-5E7A-45D3-8852-A0A437F22135}"/>
              </a:ext>
            </a:extLst>
          </p:cNvPr>
          <p:cNvSpPr>
            <a:spLocks xmlns:a="http://schemas.openxmlformats.org/drawingml/2006/main" noGrp="1"/>
          </p:cNvSpPr>
          <p:nvPr/>
        </p:nvSpPr>
        <p:spPr>
          <a:xfrm xmlns:a="http://schemas.openxmlformats.org/drawingml/2006/main">
            <a:off x="10620375" y="6505575"/>
            <a:ext cx="8858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a:solidFill>
                  <a:srgbClr val="66736C"/>
                </a:solidFill>
                <a:latin typeface="Arial"/>
                <a:ea typeface="Arial"/>
                <a:cs typeface="Arial"/>
              </a:defRPr>
            </a:defPPr>
          </a:lstStyle>
          <a:p xmlns:a="http://schemas.openxmlformats.org/drawingml/2006/main">
            <a:pPr algn="r">
              <a:defRPr sz="900" b="0">
                <a:solidFill>
                  <a:srgbClr val="66736C"/>
                </a:solidFill>
                <a:latin typeface="Arial"/>
                <a:ea typeface="Arial"/>
                <a:cs typeface="Arial"/>
              </a:defRPr>
            </a:pPr>
            <a:r>
              <a:rPr sz="900" b="0">
                <a:solidFill>
                  <a:srgbClr val="66736C"/>
                </a:solidFill>
                <a:latin typeface="Arial"/>
                <a:ea typeface="Arial"/>
                <a:cs typeface="Arial"/>
              </a:rPr>
              <a:t>41 / 52</a:t>
            </a:r>
          </a:p>
        </p:txBody>
      </p:sp>
      <p:pic>
        <p:nvPicPr>
          <p:cNvPr id="5" name="">
            <a:extLst xmlns:a="http://schemas.openxmlformats.org/drawingml/2006/main">
              <a:ext uri="{FF2B5EF4-FFF2-40B4-BE49-F238E27FC236}">
                <a16:creationId xmlns:a16="http://schemas.microsoft.com/office/drawing/2014/main" id="{C3224755-7C7B-4824-B9AA-99AAA98D59BE}"/>
              </a:ext>
            </a:extLst>
          </p:cNvPr>
          <p:cNvPicPr>
            <a:picLocks xmlns:a="http://schemas.openxmlformats.org/drawingml/2006/main" noChangeAspect="1"/>
          </p:cNvPicPr>
          <p:nvPr/>
        </p:nvPicPr>
        <p:blipFill>
          <a:blip xmlns:r="http://schemas.openxmlformats.org/officeDocument/2006/relationships" xmlns:a="http://schemas.openxmlformats.org/drawingml/2006/main" r:embed="Rbd6e64856baa442c"/>
          <a:stretch xmlns:a="http://schemas.openxmlformats.org/drawingml/2006/main"/>
        </p:blipFill>
        <p:spPr>
          <a:xfrm xmlns:a="http://schemas.openxmlformats.org/drawingml/2006/main">
            <a:off x="4533900" y="1849041"/>
            <a:ext cx="6972300" cy="3921919"/>
          </a:xfrm>
          <a:prstGeom xmlns:a="http://schemas.openxmlformats.org/drawingml/2006/main" prst="rect">
            <a:avLst/>
          </a:prstGeom>
        </p:spPr>
      </p:pic>
      <p:sp>
        <p:nvSpPr>
          <p:cNvPr id="6" name="explanation-0">
            <a:extLst xmlns:a="http://schemas.openxmlformats.org/drawingml/2006/main">
              <a:ext uri="{FF2B5EF4-FFF2-40B4-BE49-F238E27FC236}">
                <a16:creationId xmlns:a16="http://schemas.microsoft.com/office/drawing/2014/main" id="{9316DF05-5B9A-486A-89A3-A4B757E84703}"/>
              </a:ext>
            </a:extLst>
          </p:cNvPr>
          <p:cNvSpPr>
            <a:spLocks xmlns:a="http://schemas.openxmlformats.org/drawingml/2006/main" noGrp="1"/>
          </p:cNvSpPr>
          <p:nvPr/>
        </p:nvSpPr>
        <p:spPr>
          <a:xfrm xmlns:a="http://schemas.openxmlformats.org/drawingml/2006/main">
            <a:off x="685800" y="1809750"/>
            <a:ext cx="33718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6332E"/>
                </a:solidFill>
                <a:latin typeface="Arial"/>
                <a:ea typeface="Arial"/>
                <a:cs typeface="Arial"/>
              </a:defRPr>
            </a:defPPr>
          </a:lstStyle>
          <a:p xmlns:a="http://schemas.openxmlformats.org/drawingml/2006/main">
            <a:pPr algn="l">
              <a:defRPr sz="1950" b="0">
                <a:solidFill>
                  <a:srgbClr val="26332E"/>
                </a:solidFill>
                <a:latin typeface="Arial"/>
                <a:ea typeface="Arial"/>
                <a:cs typeface="Arial"/>
              </a:defRPr>
            </a:pPr>
            <a:r>
              <a:rPr sz="1950" b="0">
                <a:solidFill>
                  <a:srgbClr val="26332E"/>
                </a:solidFill>
                <a:latin typeface="Arial"/>
                <a:ea typeface="Arial"/>
                <a:cs typeface="Arial"/>
              </a:rPr>
              <a:t>The 69 test sentences still need human labels without model suggestions.</a:t>
            </a:r>
          </a:p>
        </p:txBody>
      </p:sp>
      <p:sp>
        <p:nvSpPr>
          <p:cNvPr id="7" name="explanation-1">
            <a:extLst xmlns:a="http://schemas.openxmlformats.org/drawingml/2006/main">
              <a:ext uri="{FF2B5EF4-FFF2-40B4-BE49-F238E27FC236}">
                <a16:creationId xmlns:a16="http://schemas.microsoft.com/office/drawing/2014/main" id="{A047F140-3279-4282-B1B9-FA98D8FEB5FB}"/>
              </a:ext>
            </a:extLst>
          </p:cNvPr>
          <p:cNvSpPr>
            <a:spLocks xmlns:a="http://schemas.openxmlformats.org/drawingml/2006/main" noGrp="1"/>
          </p:cNvSpPr>
          <p:nvPr/>
        </p:nvSpPr>
        <p:spPr>
          <a:xfrm xmlns:a="http://schemas.openxmlformats.org/drawingml/2006/main">
            <a:off x="685800" y="3019425"/>
            <a:ext cx="33718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6332E"/>
                </a:solidFill>
                <a:latin typeface="Arial"/>
                <a:ea typeface="Arial"/>
                <a:cs typeface="Arial"/>
              </a:defRPr>
            </a:defPPr>
          </a:lstStyle>
          <a:p xmlns:a="http://schemas.openxmlformats.org/drawingml/2006/main">
            <a:pPr algn="l">
              <a:defRPr sz="1950" b="0">
                <a:solidFill>
                  <a:srgbClr val="26332E"/>
                </a:solidFill>
                <a:latin typeface="Arial"/>
                <a:ea typeface="Arial"/>
                <a:cs typeface="Arial"/>
              </a:defRPr>
            </a:pPr>
            <a:r>
              <a:rPr sz="1950" b="0">
                <a:solidFill>
                  <a:srgbClr val="26332E"/>
                </a:solidFill>
                <a:latin typeface="Arial"/>
                <a:ea typeface="Arial"/>
                <a:cs typeface="Arial"/>
              </a:rPr>
              <a:t>Model configurations should stay fixed before final inference.</a:t>
            </a:r>
          </a:p>
        </p:txBody>
      </p:sp>
      <p:sp>
        <p:nvSpPr>
          <p:cNvPr id="8" name="explanation-2">
            <a:extLst xmlns:a="http://schemas.openxmlformats.org/drawingml/2006/main">
              <a:ext uri="{FF2B5EF4-FFF2-40B4-BE49-F238E27FC236}">
                <a16:creationId xmlns:a16="http://schemas.microsoft.com/office/drawing/2014/main" id="{4EF4B5D1-A779-4A4D-8E60-CFBBC99F77B6}"/>
              </a:ext>
            </a:extLst>
          </p:cNvPr>
          <p:cNvSpPr>
            <a:spLocks xmlns:a="http://schemas.openxmlformats.org/drawingml/2006/main" noGrp="1"/>
          </p:cNvSpPr>
          <p:nvPr/>
        </p:nvSpPr>
        <p:spPr>
          <a:xfrm xmlns:a="http://schemas.openxmlformats.org/drawingml/2006/main">
            <a:off x="685800" y="4229100"/>
            <a:ext cx="33718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6332E"/>
                </a:solidFill>
                <a:latin typeface="Arial"/>
                <a:ea typeface="Arial"/>
                <a:cs typeface="Arial"/>
              </a:defRPr>
            </a:defPPr>
          </a:lstStyle>
          <a:p xmlns:a="http://schemas.openxmlformats.org/drawingml/2006/main">
            <a:pPr algn="l">
              <a:defRPr sz="1950" b="0">
                <a:solidFill>
                  <a:srgbClr val="26332E"/>
                </a:solidFill>
                <a:latin typeface="Arial"/>
                <a:ea typeface="Arial"/>
                <a:cs typeface="Arial"/>
              </a:defRPr>
            </a:pPr>
            <a:r>
              <a:rPr sz="1950" b="0">
                <a:solidFill>
                  <a:srgbClr val="26332E"/>
                </a:solidFill>
                <a:latin typeface="Arial"/>
                <a:ea typeface="Arial"/>
                <a:cs typeface="Arial"/>
              </a:rPr>
              <a:t>The explicit CLI operation checks complete human test coverage.</a:t>
            </a:r>
          </a:p>
        </p:txBody>
      </p:sp>
      <p:sp>
        <p:nvSpPr>
          <p:cNvPr id="9" name="image-caption">
            <a:extLst xmlns:a="http://schemas.openxmlformats.org/drawingml/2006/main">
              <a:ext uri="{FF2B5EF4-FFF2-40B4-BE49-F238E27FC236}">
                <a16:creationId xmlns:a16="http://schemas.microsoft.com/office/drawing/2014/main" id="{3DBED909-F0AD-4E2C-B6E5-36B6485197C5}"/>
              </a:ext>
            </a:extLst>
          </p:cNvPr>
          <p:cNvSpPr>
            <a:spLocks xmlns:a="http://schemas.openxmlformats.org/drawingml/2006/main" noGrp="1"/>
          </p:cNvSpPr>
          <p:nvPr/>
        </p:nvSpPr>
        <p:spPr>
          <a:xfrm xmlns:a="http://schemas.openxmlformats.org/drawingml/2006/main">
            <a:off x="4533900" y="5991225"/>
            <a:ext cx="6972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66736C"/>
                </a:solidFill>
                <a:latin typeface="Arial"/>
                <a:ea typeface="Arial"/>
                <a:cs typeface="Arial"/>
              </a:defRPr>
            </a:defPPr>
          </a:lstStyle>
          <a:p xmlns:a="http://schemas.openxmlformats.org/drawingml/2006/main">
            <a:pPr algn="l">
              <a:defRPr sz="1275" b="0">
                <a:solidFill>
                  <a:srgbClr val="66736C"/>
                </a:solidFill>
                <a:latin typeface="Arial"/>
                <a:ea typeface="Arial"/>
                <a:cs typeface="Arial"/>
              </a:defRPr>
            </a:pPr>
            <a:r>
              <a:rPr sz="1275" b="0">
                <a:solidFill>
                  <a:srgbClr val="66736C"/>
                </a:solidFill>
                <a:latin typeface="Arial"/>
                <a:ea typeface="Arial"/>
                <a:cs typeface="Arial"/>
              </a:rPr>
              <a:t>Actual research workspace. The final-test view does not substitute a score.</a:t>
            </a:r>
          </a:p>
        </p:txBody>
      </p:sp>
    </p:spTree>
    <p:extLst>
      <p:ext uri="{BB962C8B-B14F-4D97-AF65-F5344CB8AC3E}">
        <p14:creationId xmlns:p14="http://schemas.microsoft.com/office/powerpoint/2010/main" val="2006701905"/>
      </p:ext>
    </p:extLst>
  </p:cSld>
</p:sld>
</file>

<file path=ppt/slides/slide42.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8" name="chapter">
            <a:extLst xmlns:a="http://schemas.openxmlformats.org/drawingml/2006/main">
              <a:ext uri="{FF2B5EF4-FFF2-40B4-BE49-F238E27FC236}">
                <a16:creationId xmlns:a16="http://schemas.microsoft.com/office/drawing/2014/main" id="{4AD67C2D-AFD8-4F6C-A0A1-5DC4B3D32427}"/>
              </a:ext>
            </a:extLst>
          </p:cNvPr>
          <p:cNvSpPr>
            <a:spLocks xmlns:a="http://schemas.openxmlformats.org/drawingml/2006/main" noGrp="1"/>
          </p:cNvSpPr>
          <p:nvPr/>
        </p:nvSpPr>
        <p:spPr>
          <a:xfrm xmlns:a="http://schemas.openxmlformats.org/drawingml/2006/main">
            <a:off x="685800" y="381000"/>
            <a:ext cx="933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39725C"/>
                </a:solidFill>
                <a:latin typeface="Arial"/>
                <a:ea typeface="Arial"/>
                <a:cs typeface="Arial"/>
              </a:defRPr>
            </a:defPPr>
          </a:lstStyle>
          <a:p xmlns:a="http://schemas.openxmlformats.org/drawingml/2006/main">
            <a:pPr algn="l">
              <a:defRPr sz="1200" b="1">
                <a:solidFill>
                  <a:srgbClr val="39725C"/>
                </a:solidFill>
                <a:latin typeface="Arial"/>
                <a:ea typeface="Arial"/>
                <a:cs typeface="Arial"/>
              </a:defRPr>
            </a:pPr>
            <a:r>
              <a:rPr sz="1200" b="1">
                <a:solidFill>
                  <a:srgbClr val="39725C"/>
                </a:solidFill>
                <a:latin typeface="Arial"/>
                <a:ea typeface="Arial"/>
                <a:cs typeface="Arial"/>
              </a:rPr>
              <a:t>PERFORMANCE</a:t>
            </a:r>
          </a:p>
        </p:txBody>
      </p:sp>
      <p:sp>
        <p:nvSpPr>
          <p:cNvPr id="2" name="primary-heading">
            <a:extLst xmlns:a="http://schemas.openxmlformats.org/drawingml/2006/main">
              <a:ext uri="{FF2B5EF4-FFF2-40B4-BE49-F238E27FC236}">
                <a16:creationId xmlns:a16="http://schemas.microsoft.com/office/drawing/2014/main" id="{CDB59F0B-4C71-4430-A700-D91FC3E6488E}"/>
              </a:ext>
            </a:extLst>
          </p:cNvPr>
          <p:cNvSpPr>
            <a:spLocks xmlns:a="http://schemas.openxmlformats.org/drawingml/2006/main" noGrp="1"/>
          </p:cNvSpPr>
          <p:nvPr/>
        </p:nvSpPr>
        <p:spPr>
          <a:xfrm xmlns:a="http://schemas.openxmlformats.org/drawingml/2006/main">
            <a:off x="685800" y="83820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6332E"/>
                </a:solidFill>
                <a:latin typeface="Arial"/>
                <a:ea typeface="Arial"/>
                <a:cs typeface="Arial"/>
              </a:defRPr>
            </a:defPPr>
          </a:lstStyle>
          <a:p xmlns:a="http://schemas.openxmlformats.org/drawingml/2006/main">
            <a:pPr algn="l">
              <a:defRPr sz="3300" b="1">
                <a:solidFill>
                  <a:srgbClr val="26332E"/>
                </a:solidFill>
                <a:latin typeface="Arial"/>
                <a:ea typeface="Arial"/>
                <a:cs typeface="Arial"/>
              </a:defRPr>
            </a:pPr>
            <a:r>
              <a:rPr sz="3300" b="1">
                <a:solidFill>
                  <a:srgbClr val="26332E"/>
                </a:solidFill>
                <a:latin typeface="Arial"/>
                <a:ea typeface="Arial"/>
                <a:cs typeface="Arial"/>
              </a:rPr>
              <a:t>CPU inference fits the local demo</a:t>
            </a:r>
          </a:p>
        </p:txBody>
      </p:sp>
      <p:sp>
        <p:nvSpPr>
          <p:cNvPr id="3" name="footer-label">
            <a:extLst xmlns:a="http://schemas.openxmlformats.org/drawingml/2006/main">
              <a:ext uri="{FF2B5EF4-FFF2-40B4-BE49-F238E27FC236}">
                <a16:creationId xmlns:a16="http://schemas.microsoft.com/office/drawing/2014/main" id="{18534B5F-CC05-4969-AB98-B8BE03B8872C}"/>
              </a:ext>
            </a:extLst>
          </p:cNvPr>
          <p:cNvSpPr>
            <a:spLocks xmlns:a="http://schemas.openxmlformats.org/drawingml/2006/main" noGrp="1"/>
          </p:cNvSpPr>
          <p:nvPr/>
        </p:nvSpPr>
        <p:spPr>
          <a:xfrm xmlns:a="http://schemas.openxmlformats.org/drawingml/2006/main">
            <a:off x="685800" y="6505575"/>
            <a:ext cx="952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0">
                <a:solidFill>
                  <a:srgbClr val="66736C"/>
                </a:solidFill>
                <a:latin typeface="Arial"/>
                <a:ea typeface="Arial"/>
                <a:cs typeface="Arial"/>
              </a:defRPr>
            </a:defPPr>
          </a:lstStyle>
          <a:p xmlns:a="http://schemas.openxmlformats.org/drawingml/2006/main">
            <a:pPr algn="l">
              <a:defRPr sz="900" b="0">
                <a:solidFill>
                  <a:srgbClr val="66736C"/>
                </a:solidFill>
                <a:latin typeface="Arial"/>
                <a:ea typeface="Arial"/>
                <a:cs typeface="Arial"/>
              </a:defRPr>
            </a:pPr>
            <a:r>
              <a:rPr sz="900" b="0">
                <a:solidFill>
                  <a:srgbClr val="66736C"/>
                </a:solidFill>
                <a:latin typeface="Arial"/>
                <a:ea typeface="Arial"/>
                <a:cs typeface="Arial"/>
              </a:rPr>
              <a:t>ASPECT  /  PROJECT REFERENCE  /  1.0.0</a:t>
            </a:r>
          </a:p>
        </p:txBody>
      </p:sp>
      <p:sp>
        <p:nvSpPr>
          <p:cNvPr id="4" name="page-number">
            <a:extLst xmlns:a="http://schemas.openxmlformats.org/drawingml/2006/main">
              <a:ext uri="{FF2B5EF4-FFF2-40B4-BE49-F238E27FC236}">
                <a16:creationId xmlns:a16="http://schemas.microsoft.com/office/drawing/2014/main" id="{E96E72F6-1D1F-4EC4-A6BF-D16E1A033164}"/>
              </a:ext>
            </a:extLst>
          </p:cNvPr>
          <p:cNvSpPr>
            <a:spLocks xmlns:a="http://schemas.openxmlformats.org/drawingml/2006/main" noGrp="1"/>
          </p:cNvSpPr>
          <p:nvPr/>
        </p:nvSpPr>
        <p:spPr>
          <a:xfrm xmlns:a="http://schemas.openxmlformats.org/drawingml/2006/main">
            <a:off x="10620375" y="6505575"/>
            <a:ext cx="8858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a:solidFill>
                  <a:srgbClr val="66736C"/>
                </a:solidFill>
                <a:latin typeface="Arial"/>
                <a:ea typeface="Arial"/>
                <a:cs typeface="Arial"/>
              </a:defRPr>
            </a:defPPr>
          </a:lstStyle>
          <a:p xmlns:a="http://schemas.openxmlformats.org/drawingml/2006/main">
            <a:pPr algn="r">
              <a:defRPr sz="900" b="0">
                <a:solidFill>
                  <a:srgbClr val="66736C"/>
                </a:solidFill>
                <a:latin typeface="Arial"/>
                <a:ea typeface="Arial"/>
                <a:cs typeface="Arial"/>
              </a:defRPr>
            </a:pPr>
            <a:r>
              <a:rPr sz="900" b="0">
                <a:solidFill>
                  <a:srgbClr val="66736C"/>
                </a:solidFill>
                <a:latin typeface="Arial"/>
                <a:ea typeface="Arial"/>
                <a:cs typeface="Arial"/>
              </a:rPr>
              <a:t>42 / 52</a:t>
            </a:r>
          </a:p>
        </p:txBody>
      </p:sp>
      <p:sp>
        <p:nvSpPr>
          <p:cNvPr id="5" name="lead">
            <a:extLst xmlns:a="http://schemas.openxmlformats.org/drawingml/2006/main">
              <a:ext uri="{FF2B5EF4-FFF2-40B4-BE49-F238E27FC236}">
                <a16:creationId xmlns:a16="http://schemas.microsoft.com/office/drawing/2014/main" id="{66E8FCAD-B428-4212-9401-C3E815F1194E}"/>
              </a:ext>
            </a:extLst>
          </p:cNvPr>
          <p:cNvSpPr>
            <a:spLocks xmlns:a="http://schemas.openxmlformats.org/drawingml/2006/main" noGrp="1"/>
          </p:cNvSpPr>
          <p:nvPr/>
        </p:nvSpPr>
        <p:spPr>
          <a:xfrm xmlns:a="http://schemas.openxmlformats.org/drawingml/2006/main">
            <a:off x="685800" y="1524000"/>
            <a:ext cx="10820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66736C"/>
                </a:solidFill>
                <a:latin typeface="Arial"/>
                <a:ea typeface="Arial"/>
                <a:cs typeface="Arial"/>
              </a:defRPr>
            </a:defPPr>
          </a:lstStyle>
          <a:p xmlns:a="http://schemas.openxmlformats.org/drawingml/2006/main">
            <a:pPr algn="l">
              <a:defRPr sz="1800" b="0">
                <a:solidFill>
                  <a:srgbClr val="66736C"/>
                </a:solidFill>
                <a:latin typeface="Arial"/>
                <a:ea typeface="Arial"/>
                <a:cs typeface="Arial"/>
              </a:defRPr>
            </a:pPr>
            <a:r>
              <a:rPr sz="1800" b="0">
                <a:solidFill>
                  <a:srgbClr val="66736C"/>
                </a:solidFill>
                <a:latin typeface="Arial"/>
                <a:ea typeface="Arial"/>
                <a:cs typeface="Arial"/>
              </a:rPr>
              <a:t>MacBook Air M2, 8 GB RAM. The same 16 source reviews, repeated three times per model.</a:t>
            </a:r>
          </a:p>
        </p:txBody>
      </p:sp>
      <p:sp>
        <p:nvSpPr>
          <p:cNvPr id="6" name="context-note">
            <a:extLst xmlns:a="http://schemas.openxmlformats.org/drawingml/2006/main">
              <a:ext uri="{FF2B5EF4-FFF2-40B4-BE49-F238E27FC236}">
                <a16:creationId xmlns:a16="http://schemas.microsoft.com/office/drawing/2014/main" id="{09F6DDEB-A80F-42C6-A992-1507FDC0FF17}"/>
              </a:ext>
            </a:extLst>
          </p:cNvPr>
          <p:cNvSpPr>
            <a:spLocks xmlns:a="http://schemas.openxmlformats.org/drawingml/2006/main" noGrp="1"/>
          </p:cNvSpPr>
          <p:nvPr/>
        </p:nvSpPr>
        <p:spPr>
          <a:xfrm xmlns:a="http://schemas.openxmlformats.org/drawingml/2006/main">
            <a:off x="685800" y="5924550"/>
            <a:ext cx="108204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39725C"/>
                </a:solidFill>
                <a:latin typeface="Arial"/>
                <a:ea typeface="Arial"/>
                <a:cs typeface="Arial"/>
              </a:defRPr>
            </a:defPPr>
          </a:lstStyle>
          <a:p xmlns:a="http://schemas.openxmlformats.org/drawingml/2006/main">
            <a:pPr algn="l">
              <a:defRPr sz="1725" b="0">
                <a:solidFill>
                  <a:srgbClr val="39725C"/>
                </a:solidFill>
                <a:latin typeface="Arial"/>
                <a:ea typeface="Arial"/>
                <a:cs typeface="Arial"/>
              </a:defRPr>
            </a:pPr>
            <a:r>
              <a:rPr sz="1725" b="0">
                <a:solidFill>
                  <a:srgbClr val="39725C"/>
                </a:solidFill>
                <a:latin typeface="Arial"/>
                <a:ea typeface="Arial"/>
                <a:cs typeface="Arial"/>
              </a:rPr>
              <a:t>Direct sequential inference only. These timings exclude HTTP, UI rendering and database work.</a:t>
            </a:r>
          </a:p>
        </p:txBody>
      </p:sp>
      <p:graphicFrame>
        <p:nvGraphicFramePr>
          <p:cNvPr id="7" name="">
            <a:extLst xmlns:a="http://schemas.openxmlformats.org/drawingml/2006/main">
              <a:ext uri="{FF2B5EF4-FFF2-40B4-BE49-F238E27FC236}">
                <a16:creationId xmlns:a16="http://schemas.microsoft.com/office/drawing/2014/main" id="{9F2CD42D-2AAD-43BE-9778-DF734AFAAB8B}"/>
              </a:ext>
            </a:extLst>
          </p:cNvPr>
          <p:cNvGraphicFramePr/>
          <p:nvPr/>
        </p:nvGraphicFramePr>
        <p:xfrm>
          <a:off xmlns:a="http://schemas.openxmlformats.org/drawingml/2006/main" x="685800" y="2114550"/>
          <a:ext xmlns:a="http://schemas.openxmlformats.org/drawingml/2006/main" cx="10820400" cy="3562350"/>
        </p:xfrm>
        <a:graphic xmlns:a="http://schemas.openxmlformats.org/drawingml/2006/main">
          <a:graphicData uri="http://schemas.openxmlformats.org/drawingml/2006/table">
            <a:tbl>
              <a:tblPr firstRow="1" firstCol="0" lastCol="0" bandRow="0"/>
              <a:tblGrid>
                <a:gridCol w="5715000"/>
                <a:gridCol w="2552700"/>
                <a:gridCol w="2552700"/>
              </a:tblGrid>
              <a:tr h="419100">
                <a:tc>
                  <a:txBody>
                    <a:bodyPr wrap="square">
                      <a:noAutofit/>
                    </a:bodyPr>
                    <a:lstStyle/>
                    <a:p>
                      <a:r>
                        <a:rPr sz="1650" b="1">
                          <a:solidFill>
                            <a:srgbClr val="FFFFFF"/>
                          </a:solidFill>
                          <a:latin typeface="Arial"/>
                          <a:ea typeface="Arial"/>
                          <a:cs typeface="Arial"/>
                        </a:rPr>
                        <a:t>Model</a:t>
                      </a:r>
                    </a:p>
                  </a:txBody>
                  <a:tcPr marL="114300" marR="114300" marT="47625" marB="47625" anchor="ctr">
                    <a:lnL w="6668">
                      <a:solidFill>
                        <a:srgbClr val="DCE3DA"/>
                      </a:solidFill>
                      <a:prstDash val="solid"/>
                    </a:lnL>
                    <a:lnR w="6668">
                      <a:solidFill>
                        <a:srgbClr val="DCE3DA"/>
                      </a:solidFill>
                      <a:prstDash val="solid"/>
                    </a:lnR>
                    <a:lnT w="6668">
                      <a:solidFill>
                        <a:srgbClr val="DCE3DA"/>
                      </a:solidFill>
                      <a:prstDash val="solid"/>
                    </a:lnT>
                    <a:lnB w="6668">
                      <a:solidFill>
                        <a:srgbClr val="DCE3DA"/>
                      </a:solidFill>
                      <a:prstDash val="solid"/>
                    </a:lnB>
                    <a:solidFill>
                      <a:srgbClr val="39725C"/>
                    </a:solidFill>
                  </a:tcPr>
                </a:tc>
                <a:tc>
                  <a:txBody>
                    <a:bodyPr wrap="square">
                      <a:noAutofit/>
                    </a:bodyPr>
                    <a:lstStyle/>
                    <a:p>
                      <a:r>
                        <a:rPr sz="1650" b="1">
                          <a:solidFill>
                            <a:srgbClr val="FFFFFF"/>
                          </a:solidFill>
                          <a:latin typeface="Arial"/>
                          <a:ea typeface="Arial"/>
                          <a:cs typeface="Arial"/>
                        </a:rPr>
                        <a:t>Warm median</a:t>
                      </a:r>
                    </a:p>
                  </a:txBody>
                  <a:tcPr marL="114300" marR="114300" marT="47625" marB="47625" anchor="ctr">
                    <a:lnR w="6668">
                      <a:solidFill>
                        <a:srgbClr val="DCE3DA"/>
                      </a:solidFill>
                      <a:prstDash val="solid"/>
                    </a:lnR>
                    <a:lnT w="6668">
                      <a:solidFill>
                        <a:srgbClr val="DCE3DA"/>
                      </a:solidFill>
                      <a:prstDash val="solid"/>
                    </a:lnT>
                    <a:lnB w="6668">
                      <a:solidFill>
                        <a:srgbClr val="DCE3DA"/>
                      </a:solidFill>
                      <a:prstDash val="solid"/>
                    </a:lnB>
                    <a:solidFill>
                      <a:srgbClr val="39725C"/>
                    </a:solidFill>
                  </a:tcPr>
                </a:tc>
                <a:tc>
                  <a:txBody>
                    <a:bodyPr wrap="square">
                      <a:noAutofit/>
                    </a:bodyPr>
                    <a:lstStyle/>
                    <a:p>
                      <a:r>
                        <a:rPr sz="1650" b="1">
                          <a:solidFill>
                            <a:srgbClr val="FFFFFF"/>
                          </a:solidFill>
                          <a:latin typeface="Arial"/>
                          <a:ea typeface="Arial"/>
                          <a:cs typeface="Arial"/>
                        </a:rPr>
                        <a:t>Warm p95</a:t>
                      </a:r>
                    </a:p>
                  </a:txBody>
                  <a:tcPr marL="114300" marR="114300" marT="47625" marB="47625" anchor="ctr">
                    <a:lnR w="6668">
                      <a:solidFill>
                        <a:srgbClr val="DCE3DA"/>
                      </a:solidFill>
                      <a:prstDash val="solid"/>
                    </a:lnR>
                    <a:lnT w="6668">
                      <a:solidFill>
                        <a:srgbClr val="DCE3DA"/>
                      </a:solidFill>
                      <a:prstDash val="solid"/>
                    </a:lnT>
                    <a:lnB w="6668">
                      <a:solidFill>
                        <a:srgbClr val="DCE3DA"/>
                      </a:solidFill>
                      <a:prstDash val="solid"/>
                    </a:lnB>
                    <a:solidFill>
                      <a:srgbClr val="39725C"/>
                    </a:solidFill>
                  </a:tcPr>
                </a:tc>
              </a:tr>
              <a:tr h="628650">
                <a:tc>
                  <a:txBody>
                    <a:bodyPr wrap="square">
                      <a:noAutofit/>
                    </a:bodyPr>
                    <a:lstStyle/>
                    <a:p>
                      <a:r>
                        <a:rPr sz="1725" b="1">
                          <a:solidFill>
                            <a:srgbClr val="26332E"/>
                          </a:solidFill>
                          <a:latin typeface="Arial"/>
                          <a:ea typeface="Arial"/>
                          <a:cs typeface="Arial"/>
                        </a:rPr>
                        <a:t>Rules + VADER</a:t>
                      </a:r>
                    </a:p>
                  </a:txBody>
                  <a:tcPr marL="114300" marR="114300" marT="47625" marB="47625" anchor="ctr">
                    <a:lnL w="6668">
                      <a:solidFill>
                        <a:srgbClr val="DCE3DA"/>
                      </a:solidFill>
                      <a:prstDash val="solid"/>
                    </a:lnL>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1.0 ms</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2.2 ms</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r>
              <a:tr h="628650">
                <a:tc>
                  <a:txBody>
                    <a:bodyPr wrap="square">
                      <a:noAutofit/>
                    </a:bodyPr>
                    <a:lstStyle/>
                    <a:p>
                      <a:r>
                        <a:rPr sz="1725" b="1">
                          <a:solidFill>
                            <a:srgbClr val="26332E"/>
                          </a:solidFill>
                          <a:latin typeface="Arial"/>
                          <a:ea typeface="Arial"/>
                          <a:cs typeface="Arial"/>
                        </a:rPr>
                        <a:t>Original DeBERTa adapter</a:t>
                      </a:r>
                    </a:p>
                  </a:txBody>
                  <a:tcPr marL="114300" marR="114300" marT="47625" marB="47625" anchor="ctr">
                    <a:lnL w="6668">
                      <a:solidFill>
                        <a:srgbClr val="DCE3DA"/>
                      </a:solidFill>
                      <a:prstDash val="solid"/>
                    </a:lnL>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60.5 ms</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183.8 ms</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r>
              <a:tr h="628650">
                <a:tc>
                  <a:txBody>
                    <a:bodyPr wrap="square">
                      <a:noAutofit/>
                    </a:bodyPr>
                    <a:lstStyle/>
                    <a:p>
                      <a:r>
                        <a:rPr sz="1725" b="1">
                          <a:solidFill>
                            <a:srgbClr val="26332E"/>
                          </a:solidFill>
                          <a:latin typeface="Arial"/>
                          <a:ea typeface="Arial"/>
                          <a:cs typeface="Arial"/>
                        </a:rPr>
                        <a:t>Domain adapter v2</a:t>
                      </a:r>
                    </a:p>
                  </a:txBody>
                  <a:tcPr marL="114300" marR="114300" marT="47625" marB="47625" anchor="ctr">
                    <a:lnL w="6668">
                      <a:solidFill>
                        <a:srgbClr val="DCE3DA"/>
                      </a:solidFill>
                      <a:prstDash val="solid"/>
                    </a:lnL>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60.8 ms</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230.8 ms</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r>
              <a:tr h="628650">
                <a:tc>
                  <a:txBody>
                    <a:bodyPr wrap="square">
                      <a:noAutofit/>
                    </a:bodyPr>
                    <a:lstStyle/>
                    <a:p>
                      <a:r>
                        <a:rPr sz="1725" b="1">
                          <a:solidFill>
                            <a:srgbClr val="26332E"/>
                          </a:solidFill>
                          <a:latin typeface="Arial"/>
                          <a:ea typeface="Arial"/>
                          <a:cs typeface="Arial"/>
                        </a:rPr>
                        <a:t>Flat TF-IDF</a:t>
                      </a:r>
                    </a:p>
                  </a:txBody>
                  <a:tcPr marL="114300" marR="114300" marT="47625" marB="47625" anchor="ctr">
                    <a:lnL w="6668">
                      <a:solidFill>
                        <a:srgbClr val="DCE3DA"/>
                      </a:solidFill>
                      <a:prstDash val="solid"/>
                    </a:lnL>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1.7 ms</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3.3 ms</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r>
              <a:tr h="628650">
                <a:tc>
                  <a:txBody>
                    <a:bodyPr wrap="square">
                      <a:noAutofit/>
                    </a:bodyPr>
                    <a:lstStyle/>
                    <a:p>
                      <a:r>
                        <a:rPr sz="1725" b="1">
                          <a:solidFill>
                            <a:srgbClr val="26332E"/>
                          </a:solidFill>
                          <a:latin typeface="Arial"/>
                          <a:ea typeface="Arial"/>
                          <a:cs typeface="Arial"/>
                        </a:rPr>
                        <a:t>Two-stage TF-IDF</a:t>
                      </a:r>
                    </a:p>
                  </a:txBody>
                  <a:tcPr marL="114300" marR="114300" marT="47625" marB="47625" anchor="ctr">
                    <a:lnL w="6668">
                      <a:solidFill>
                        <a:srgbClr val="DCE3DA"/>
                      </a:solidFill>
                      <a:prstDash val="solid"/>
                    </a:lnL>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2.3 ms</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3.5 ms</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r>
            </a:tbl>
          </a:graphicData>
        </a:graphic>
      </p:graphicFrame>
    </p:spTree>
    <p:extLst>
      <p:ext uri="{BB962C8B-B14F-4D97-AF65-F5344CB8AC3E}">
        <p14:creationId xmlns:p14="http://schemas.microsoft.com/office/powerpoint/2010/main" val="736338890"/>
      </p:ext>
    </p:extLst>
  </p:cSld>
</p:sld>
</file>

<file path=ppt/slides/slide43.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7" name="chapter">
            <a:extLst xmlns:a="http://schemas.openxmlformats.org/drawingml/2006/main">
              <a:ext uri="{FF2B5EF4-FFF2-40B4-BE49-F238E27FC236}">
                <a16:creationId xmlns:a16="http://schemas.microsoft.com/office/drawing/2014/main" id="{CEB98835-37D3-44E5-AE74-7FAB2B4AF470}"/>
              </a:ext>
            </a:extLst>
          </p:cNvPr>
          <p:cNvSpPr>
            <a:spLocks xmlns:a="http://schemas.openxmlformats.org/drawingml/2006/main" noGrp="1"/>
          </p:cNvSpPr>
          <p:nvPr/>
        </p:nvSpPr>
        <p:spPr>
          <a:xfrm xmlns:a="http://schemas.openxmlformats.org/drawingml/2006/main">
            <a:off x="685800" y="381000"/>
            <a:ext cx="933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39725C"/>
                </a:solidFill>
                <a:latin typeface="Arial"/>
                <a:ea typeface="Arial"/>
                <a:cs typeface="Arial"/>
              </a:defRPr>
            </a:defPPr>
          </a:lstStyle>
          <a:p xmlns:a="http://schemas.openxmlformats.org/drawingml/2006/main">
            <a:pPr algn="l">
              <a:defRPr sz="1200" b="1">
                <a:solidFill>
                  <a:srgbClr val="39725C"/>
                </a:solidFill>
                <a:latin typeface="Arial"/>
                <a:ea typeface="Arial"/>
                <a:cs typeface="Arial"/>
              </a:defRPr>
            </a:pPr>
            <a:r>
              <a:rPr sz="1200" b="1">
                <a:solidFill>
                  <a:srgbClr val="39725C"/>
                </a:solidFill>
                <a:latin typeface="Arial"/>
                <a:ea typeface="Arial"/>
                <a:cs typeface="Arial"/>
              </a:rPr>
              <a:t>QUALITY ASSURANCE</a:t>
            </a:r>
          </a:p>
        </p:txBody>
      </p:sp>
      <p:sp>
        <p:nvSpPr>
          <p:cNvPr id="2" name="primary-heading">
            <a:extLst xmlns:a="http://schemas.openxmlformats.org/drawingml/2006/main">
              <a:ext uri="{FF2B5EF4-FFF2-40B4-BE49-F238E27FC236}">
                <a16:creationId xmlns:a16="http://schemas.microsoft.com/office/drawing/2014/main" id="{559808F0-59C8-42DF-9A1C-330E23421D2B}"/>
              </a:ext>
            </a:extLst>
          </p:cNvPr>
          <p:cNvSpPr>
            <a:spLocks xmlns:a="http://schemas.openxmlformats.org/drawingml/2006/main" noGrp="1"/>
          </p:cNvSpPr>
          <p:nvPr/>
        </p:nvSpPr>
        <p:spPr>
          <a:xfrm xmlns:a="http://schemas.openxmlformats.org/drawingml/2006/main">
            <a:off x="685800" y="83820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6332E"/>
                </a:solidFill>
                <a:latin typeface="Arial"/>
                <a:ea typeface="Arial"/>
                <a:cs typeface="Arial"/>
              </a:defRPr>
            </a:defPPr>
          </a:lstStyle>
          <a:p xmlns:a="http://schemas.openxmlformats.org/drawingml/2006/main">
            <a:pPr algn="l">
              <a:defRPr sz="3300" b="1">
                <a:solidFill>
                  <a:srgbClr val="26332E"/>
                </a:solidFill>
                <a:latin typeface="Arial"/>
                <a:ea typeface="Arial"/>
                <a:cs typeface="Arial"/>
              </a:defRPr>
            </a:pPr>
            <a:r>
              <a:rPr sz="3300" b="1">
                <a:solidFill>
                  <a:srgbClr val="26332E"/>
                </a:solidFill>
                <a:latin typeface="Arial"/>
                <a:ea typeface="Arial"/>
                <a:cs typeface="Arial"/>
              </a:rPr>
              <a:t>Release checks cover software workflows</a:t>
            </a:r>
          </a:p>
        </p:txBody>
      </p:sp>
      <p:sp>
        <p:nvSpPr>
          <p:cNvPr id="3" name="footer-label">
            <a:extLst xmlns:a="http://schemas.openxmlformats.org/drawingml/2006/main">
              <a:ext uri="{FF2B5EF4-FFF2-40B4-BE49-F238E27FC236}">
                <a16:creationId xmlns:a16="http://schemas.microsoft.com/office/drawing/2014/main" id="{FF68511C-1A12-4647-A481-274060F96627}"/>
              </a:ext>
            </a:extLst>
          </p:cNvPr>
          <p:cNvSpPr>
            <a:spLocks xmlns:a="http://schemas.openxmlformats.org/drawingml/2006/main" noGrp="1"/>
          </p:cNvSpPr>
          <p:nvPr/>
        </p:nvSpPr>
        <p:spPr>
          <a:xfrm xmlns:a="http://schemas.openxmlformats.org/drawingml/2006/main">
            <a:off x="685800" y="6505575"/>
            <a:ext cx="952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0">
                <a:solidFill>
                  <a:srgbClr val="66736C"/>
                </a:solidFill>
                <a:latin typeface="Arial"/>
                <a:ea typeface="Arial"/>
                <a:cs typeface="Arial"/>
              </a:defRPr>
            </a:defPPr>
          </a:lstStyle>
          <a:p xmlns:a="http://schemas.openxmlformats.org/drawingml/2006/main">
            <a:pPr algn="l">
              <a:defRPr sz="900" b="0">
                <a:solidFill>
                  <a:srgbClr val="66736C"/>
                </a:solidFill>
                <a:latin typeface="Arial"/>
                <a:ea typeface="Arial"/>
                <a:cs typeface="Arial"/>
              </a:defRPr>
            </a:pPr>
            <a:r>
              <a:rPr sz="900" b="0">
                <a:solidFill>
                  <a:srgbClr val="66736C"/>
                </a:solidFill>
                <a:latin typeface="Arial"/>
                <a:ea typeface="Arial"/>
                <a:cs typeface="Arial"/>
              </a:rPr>
              <a:t>ASPECT  /  PROJECT REFERENCE  /  1.0.0</a:t>
            </a:r>
          </a:p>
        </p:txBody>
      </p:sp>
      <p:sp>
        <p:nvSpPr>
          <p:cNvPr id="4" name="page-number">
            <a:extLst xmlns:a="http://schemas.openxmlformats.org/drawingml/2006/main">
              <a:ext uri="{FF2B5EF4-FFF2-40B4-BE49-F238E27FC236}">
                <a16:creationId xmlns:a16="http://schemas.microsoft.com/office/drawing/2014/main" id="{03154A30-E23C-4AA3-BF8F-65E5F5724FEC}"/>
              </a:ext>
            </a:extLst>
          </p:cNvPr>
          <p:cNvSpPr>
            <a:spLocks xmlns:a="http://schemas.openxmlformats.org/drawingml/2006/main" noGrp="1"/>
          </p:cNvSpPr>
          <p:nvPr/>
        </p:nvSpPr>
        <p:spPr>
          <a:xfrm xmlns:a="http://schemas.openxmlformats.org/drawingml/2006/main">
            <a:off x="10620375" y="6505575"/>
            <a:ext cx="8858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a:solidFill>
                  <a:srgbClr val="66736C"/>
                </a:solidFill>
                <a:latin typeface="Arial"/>
                <a:ea typeface="Arial"/>
                <a:cs typeface="Arial"/>
              </a:defRPr>
            </a:defPPr>
          </a:lstStyle>
          <a:p xmlns:a="http://schemas.openxmlformats.org/drawingml/2006/main">
            <a:pPr algn="r">
              <a:defRPr sz="900" b="0">
                <a:solidFill>
                  <a:srgbClr val="66736C"/>
                </a:solidFill>
                <a:latin typeface="Arial"/>
                <a:ea typeface="Arial"/>
                <a:cs typeface="Arial"/>
              </a:defRPr>
            </a:pPr>
            <a:r>
              <a:rPr sz="900" b="0">
                <a:solidFill>
                  <a:srgbClr val="66736C"/>
                </a:solidFill>
                <a:latin typeface="Arial"/>
                <a:ea typeface="Arial"/>
                <a:cs typeface="Arial"/>
              </a:rPr>
              <a:t>43 / 52</a:t>
            </a:r>
          </a:p>
        </p:txBody>
      </p:sp>
      <p:sp>
        <p:nvSpPr>
          <p:cNvPr id="5" name="context-note">
            <a:extLst xmlns:a="http://schemas.openxmlformats.org/drawingml/2006/main">
              <a:ext uri="{FF2B5EF4-FFF2-40B4-BE49-F238E27FC236}">
                <a16:creationId xmlns:a16="http://schemas.microsoft.com/office/drawing/2014/main" id="{256139A0-428E-4B6F-A8F6-28E6023DCA4D}"/>
              </a:ext>
            </a:extLst>
          </p:cNvPr>
          <p:cNvSpPr>
            <a:spLocks xmlns:a="http://schemas.openxmlformats.org/drawingml/2006/main" noGrp="1"/>
          </p:cNvSpPr>
          <p:nvPr/>
        </p:nvSpPr>
        <p:spPr>
          <a:xfrm xmlns:a="http://schemas.openxmlformats.org/drawingml/2006/main">
            <a:off x="685800" y="5924550"/>
            <a:ext cx="108204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39725C"/>
                </a:solidFill>
                <a:latin typeface="Arial"/>
                <a:ea typeface="Arial"/>
                <a:cs typeface="Arial"/>
              </a:defRPr>
            </a:defPPr>
          </a:lstStyle>
          <a:p xmlns:a="http://schemas.openxmlformats.org/drawingml/2006/main">
            <a:pPr algn="l">
              <a:defRPr sz="1725" b="0">
                <a:solidFill>
                  <a:srgbClr val="39725C"/>
                </a:solidFill>
                <a:latin typeface="Arial"/>
                <a:ea typeface="Arial"/>
                <a:cs typeface="Arial"/>
              </a:defRPr>
            </a:pPr>
            <a:r>
              <a:rPr sz="1725" b="0">
                <a:solidFill>
                  <a:srgbClr val="39725C"/>
                </a:solidFill>
                <a:latin typeface="Arial"/>
                <a:ea typeface="Arial"/>
                <a:cs typeface="Arial"/>
              </a:rPr>
              <a:t>Synthetic QA scores are excluded from research results. The checks do not prove the absence of every defect.</a:t>
            </a:r>
          </a:p>
        </p:txBody>
      </p:sp>
      <p:graphicFrame>
        <p:nvGraphicFramePr>
          <p:cNvPr id="6" name="">
            <a:extLst xmlns:a="http://schemas.openxmlformats.org/drawingml/2006/main">
              <a:ext uri="{FF2B5EF4-FFF2-40B4-BE49-F238E27FC236}">
                <a16:creationId xmlns:a16="http://schemas.microsoft.com/office/drawing/2014/main" id="{CDC53E90-ADF2-4C00-A7EA-ABC179C4C2B5}"/>
              </a:ext>
            </a:extLst>
          </p:cNvPr>
          <p:cNvGraphicFramePr/>
          <p:nvPr/>
        </p:nvGraphicFramePr>
        <p:xfrm>
          <a:off xmlns:a="http://schemas.openxmlformats.org/drawingml/2006/main" x="685800" y="1714500"/>
          <a:ext xmlns:a="http://schemas.openxmlformats.org/drawingml/2006/main" cx="10820400" cy="4076700"/>
        </p:xfrm>
        <a:graphic xmlns:a="http://schemas.openxmlformats.org/drawingml/2006/main">
          <a:graphicData uri="http://schemas.openxmlformats.org/drawingml/2006/table">
            <a:tbl>
              <a:tblPr firstRow="1" firstCol="0" lastCol="0" bandRow="0"/>
              <a:tblGrid>
                <a:gridCol w="3905250"/>
                <a:gridCol w="2476500"/>
                <a:gridCol w="4438650"/>
              </a:tblGrid>
              <a:tr h="419100">
                <a:tc>
                  <a:txBody>
                    <a:bodyPr wrap="square">
                      <a:noAutofit/>
                    </a:bodyPr>
                    <a:lstStyle/>
                    <a:p>
                      <a:r>
                        <a:rPr sz="1650" b="1">
                          <a:solidFill>
                            <a:srgbClr val="FFFFFF"/>
                          </a:solidFill>
                          <a:latin typeface="Arial"/>
                          <a:ea typeface="Arial"/>
                          <a:cs typeface="Arial"/>
                        </a:rPr>
                        <a:t>Evidence</a:t>
                      </a:r>
                    </a:p>
                  </a:txBody>
                  <a:tcPr marL="114300" marR="114300" marT="47625" marB="47625" anchor="ctr">
                    <a:lnL w="6668">
                      <a:solidFill>
                        <a:srgbClr val="DCE3DA"/>
                      </a:solidFill>
                      <a:prstDash val="solid"/>
                    </a:lnL>
                    <a:lnR w="6668">
                      <a:solidFill>
                        <a:srgbClr val="DCE3DA"/>
                      </a:solidFill>
                      <a:prstDash val="solid"/>
                    </a:lnR>
                    <a:lnT w="6668">
                      <a:solidFill>
                        <a:srgbClr val="DCE3DA"/>
                      </a:solidFill>
                      <a:prstDash val="solid"/>
                    </a:lnT>
                    <a:lnB w="6668">
                      <a:solidFill>
                        <a:srgbClr val="DCE3DA"/>
                      </a:solidFill>
                      <a:prstDash val="solid"/>
                    </a:lnB>
                    <a:solidFill>
                      <a:srgbClr val="39725C"/>
                    </a:solidFill>
                  </a:tcPr>
                </a:tc>
                <a:tc>
                  <a:txBody>
                    <a:bodyPr wrap="square">
                      <a:noAutofit/>
                    </a:bodyPr>
                    <a:lstStyle/>
                    <a:p>
                      <a:r>
                        <a:rPr sz="1650" b="1">
                          <a:solidFill>
                            <a:srgbClr val="FFFFFF"/>
                          </a:solidFill>
                          <a:latin typeface="Arial"/>
                          <a:ea typeface="Arial"/>
                          <a:cs typeface="Arial"/>
                        </a:rPr>
                        <a:t>Recorded result</a:t>
                      </a:r>
                    </a:p>
                  </a:txBody>
                  <a:tcPr marL="114300" marR="114300" marT="47625" marB="47625" anchor="ctr">
                    <a:lnR w="6668">
                      <a:solidFill>
                        <a:srgbClr val="DCE3DA"/>
                      </a:solidFill>
                      <a:prstDash val="solid"/>
                    </a:lnR>
                    <a:lnT w="6668">
                      <a:solidFill>
                        <a:srgbClr val="DCE3DA"/>
                      </a:solidFill>
                      <a:prstDash val="solid"/>
                    </a:lnT>
                    <a:lnB w="6668">
                      <a:solidFill>
                        <a:srgbClr val="DCE3DA"/>
                      </a:solidFill>
                      <a:prstDash val="solid"/>
                    </a:lnB>
                    <a:solidFill>
                      <a:srgbClr val="39725C"/>
                    </a:solidFill>
                  </a:tcPr>
                </a:tc>
                <a:tc>
                  <a:txBody>
                    <a:bodyPr wrap="square">
                      <a:noAutofit/>
                    </a:bodyPr>
                    <a:lstStyle/>
                    <a:p>
                      <a:r>
                        <a:rPr sz="1650" b="1">
                          <a:solidFill>
                            <a:srgbClr val="FFFFFF"/>
                          </a:solidFill>
                          <a:latin typeface="Arial"/>
                          <a:ea typeface="Arial"/>
                          <a:cs typeface="Arial"/>
                        </a:rPr>
                        <a:t>Meaning</a:t>
                      </a:r>
                    </a:p>
                  </a:txBody>
                  <a:tcPr marL="114300" marR="114300" marT="47625" marB="47625" anchor="ctr">
                    <a:lnR w="6668">
                      <a:solidFill>
                        <a:srgbClr val="DCE3DA"/>
                      </a:solidFill>
                      <a:prstDash val="solid"/>
                    </a:lnR>
                    <a:lnT w="6668">
                      <a:solidFill>
                        <a:srgbClr val="DCE3DA"/>
                      </a:solidFill>
                      <a:prstDash val="solid"/>
                    </a:lnT>
                    <a:lnB w="6668">
                      <a:solidFill>
                        <a:srgbClr val="DCE3DA"/>
                      </a:solidFill>
                      <a:prstDash val="solid"/>
                    </a:lnB>
                    <a:solidFill>
                      <a:srgbClr val="39725C"/>
                    </a:solidFill>
                  </a:tcPr>
                </a:tc>
              </a:tr>
              <a:tr h="609600">
                <a:tc>
                  <a:txBody>
                    <a:bodyPr wrap="square">
                      <a:noAutofit/>
                    </a:bodyPr>
                    <a:lstStyle/>
                    <a:p>
                      <a:r>
                        <a:rPr sz="1725" b="1">
                          <a:solidFill>
                            <a:srgbClr val="26332E"/>
                          </a:solidFill>
                          <a:latin typeface="Arial"/>
                          <a:ea typeface="Arial"/>
                          <a:cs typeface="Arial"/>
                        </a:rPr>
                        <a:t>Automated tests</a:t>
                      </a:r>
                    </a:p>
                  </a:txBody>
                  <a:tcPr marL="114300" marR="114300" marT="47625" marB="47625" anchor="ctr">
                    <a:lnL w="6668">
                      <a:solidFill>
                        <a:srgbClr val="DCE3DA"/>
                      </a:solidFill>
                      <a:prstDash val="solid"/>
                    </a:lnL>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104 passed</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Behaviour, data, persistence, annotations and regressions</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r>
              <a:tr h="609600">
                <a:tc>
                  <a:txBody>
                    <a:bodyPr wrap="square">
                      <a:noAutofit/>
                    </a:bodyPr>
                    <a:lstStyle/>
                    <a:p>
                      <a:r>
                        <a:rPr sz="1725" b="1">
                          <a:solidFill>
                            <a:srgbClr val="26332E"/>
                          </a:solidFill>
                          <a:latin typeface="Arial"/>
                          <a:ea typeface="Arial"/>
                          <a:cs typeface="Arial"/>
                        </a:rPr>
                        <a:t>Full-model integration</a:t>
                      </a:r>
                    </a:p>
                  </a:txBody>
                  <a:tcPr marL="114300" marR="114300" marT="47625" marB="47625" anchor="ctr">
                    <a:lnL w="6668">
                      <a:solidFill>
                        <a:srgbClr val="DCE3DA"/>
                      </a:solidFill>
                      <a:prstDash val="solid"/>
                    </a:lnL>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245 assertions passed</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All five installed variants in an isolated fixture workspace</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r>
              <a:tr h="609600">
                <a:tc>
                  <a:txBody>
                    <a:bodyPr wrap="square">
                      <a:noAutofit/>
                    </a:bodyPr>
                    <a:lstStyle/>
                    <a:p>
                      <a:r>
                        <a:rPr sz="1725" b="1">
                          <a:solidFill>
                            <a:srgbClr val="26332E"/>
                          </a:solidFill>
                          <a:latin typeface="Arial"/>
                          <a:ea typeface="Arial"/>
                          <a:cs typeface="Arial"/>
                        </a:rPr>
                        <a:t>Browser scenarios</a:t>
                      </a:r>
                    </a:p>
                  </a:txBody>
                  <a:tcPr marL="114300" marR="114300" marT="47625" marB="47625" anchor="ctr">
                    <a:lnL w="6668">
                      <a:solidFill>
                        <a:srgbClr val="DCE3DA"/>
                      </a:solidFill>
                      <a:prstDash val="solid"/>
                    </a:lnL>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14 passed</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Uploads, views, labels, reports and layout checks</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r>
              <a:tr h="609600">
                <a:tc>
                  <a:txBody>
                    <a:bodyPr wrap="square">
                      <a:noAutofit/>
                    </a:bodyPr>
                    <a:lstStyle/>
                    <a:p>
                      <a:r>
                        <a:rPr sz="1725" b="1">
                          <a:solidFill>
                            <a:srgbClr val="26332E"/>
                          </a:solidFill>
                          <a:latin typeface="Arial"/>
                          <a:ea typeface="Arial"/>
                          <a:cs typeface="Arial"/>
                        </a:rPr>
                        <a:t>Core integration without checkpoint files</a:t>
                      </a:r>
                    </a:p>
                  </a:txBody>
                  <a:tcPr marL="114300" marR="114300" marT="47625" marB="47625" anchor="ctr">
                    <a:lnL w="6668">
                      <a:solidFill>
                        <a:srgbClr val="DCE3DA"/>
                      </a:solidFill>
                      <a:prstDash val="solid"/>
                    </a:lnL>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94 assertions passed</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First-run rules and classical training path</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r>
              <a:tr h="609600">
                <a:tc>
                  <a:txBody>
                    <a:bodyPr wrap="square">
                      <a:noAutofit/>
                    </a:bodyPr>
                    <a:lstStyle/>
                    <a:p>
                      <a:r>
                        <a:rPr sz="1725" b="1">
                          <a:solidFill>
                            <a:srgbClr val="26332E"/>
                          </a:solidFill>
                          <a:latin typeface="Arial"/>
                          <a:ea typeface="Arial"/>
                          <a:cs typeface="Arial"/>
                        </a:rPr>
                        <a:t>Workspace doctor</a:t>
                      </a:r>
                    </a:p>
                  </a:txBody>
                  <a:tcPr marL="114300" marR="114300" marT="47625" marB="47625" anchor="ctr">
                    <a:lnL w="6668">
                      <a:solidFill>
                        <a:srgbClr val="DCE3DA"/>
                      </a:solidFill>
                      <a:prstDash val="solid"/>
                    </a:lnL>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Passed</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Assets, database, migrations and model hashes</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r>
              <a:tr h="609600">
                <a:tc>
                  <a:txBody>
                    <a:bodyPr wrap="square">
                      <a:noAutofit/>
                    </a:bodyPr>
                    <a:lstStyle/>
                    <a:p>
                      <a:r>
                        <a:rPr sz="1725" b="1">
                          <a:solidFill>
                            <a:srgbClr val="26332E"/>
                          </a:solidFill>
                          <a:latin typeface="Arial"/>
                          <a:ea typeface="Arial"/>
                          <a:cs typeface="Arial"/>
                        </a:rPr>
                        <a:t>Real test preservation</a:t>
                      </a:r>
                    </a:p>
                  </a:txBody>
                  <a:tcPr marL="114300" marR="114300" marT="47625" marB="47625" anchor="ctr">
                    <a:lnL w="6668">
                      <a:solidFill>
                        <a:srgbClr val="DCE3DA"/>
                      </a:solidFill>
                      <a:prstDash val="solid"/>
                    </a:lnL>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69 rows unchanged</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No test labelling or evaluation during release QA</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r>
            </a:tbl>
          </a:graphicData>
        </a:graphic>
      </p:graphicFrame>
    </p:spTree>
    <p:extLst>
      <p:ext uri="{BB962C8B-B14F-4D97-AF65-F5344CB8AC3E}">
        <p14:creationId xmlns:p14="http://schemas.microsoft.com/office/powerpoint/2010/main" val="629955315"/>
      </p:ext>
    </p:extLst>
  </p:cSld>
</p:sld>
</file>

<file path=ppt/slides/slide44.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10" name="chapter">
            <a:extLst xmlns:a="http://schemas.openxmlformats.org/drawingml/2006/main">
              <a:ext uri="{FF2B5EF4-FFF2-40B4-BE49-F238E27FC236}">
                <a16:creationId xmlns:a16="http://schemas.microsoft.com/office/drawing/2014/main" id="{6ED34D46-20C2-44E2-88E5-479283F49EAA}"/>
              </a:ext>
            </a:extLst>
          </p:cNvPr>
          <p:cNvSpPr>
            <a:spLocks xmlns:a="http://schemas.openxmlformats.org/drawingml/2006/main" noGrp="1"/>
          </p:cNvSpPr>
          <p:nvPr/>
        </p:nvSpPr>
        <p:spPr>
          <a:xfrm xmlns:a="http://schemas.openxmlformats.org/drawingml/2006/main">
            <a:off x="685800" y="381000"/>
            <a:ext cx="933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39725C"/>
                </a:solidFill>
                <a:latin typeface="Arial"/>
                <a:ea typeface="Arial"/>
                <a:cs typeface="Arial"/>
              </a:defRPr>
            </a:defPPr>
          </a:lstStyle>
          <a:p xmlns:a="http://schemas.openxmlformats.org/drawingml/2006/main">
            <a:pPr algn="l">
              <a:defRPr sz="1200" b="1">
                <a:solidFill>
                  <a:srgbClr val="39725C"/>
                </a:solidFill>
                <a:latin typeface="Arial"/>
                <a:ea typeface="Arial"/>
                <a:cs typeface="Arial"/>
              </a:defRPr>
            </a:pPr>
            <a:r>
              <a:rPr sz="1200" b="1">
                <a:solidFill>
                  <a:srgbClr val="39725C"/>
                </a:solidFill>
                <a:latin typeface="Arial"/>
                <a:ea typeface="Arial"/>
                <a:cs typeface="Arial"/>
              </a:rPr>
              <a:t>OPERATIONS</a:t>
            </a:r>
          </a:p>
        </p:txBody>
      </p:sp>
      <p:sp>
        <p:nvSpPr>
          <p:cNvPr id="2" name="primary-heading">
            <a:extLst xmlns:a="http://schemas.openxmlformats.org/drawingml/2006/main">
              <a:ext uri="{FF2B5EF4-FFF2-40B4-BE49-F238E27FC236}">
                <a16:creationId xmlns:a16="http://schemas.microsoft.com/office/drawing/2014/main" id="{F123C169-E757-4A9C-BF92-7E42B7B94A42}"/>
              </a:ext>
            </a:extLst>
          </p:cNvPr>
          <p:cNvSpPr>
            <a:spLocks xmlns:a="http://schemas.openxmlformats.org/drawingml/2006/main" noGrp="1"/>
          </p:cNvSpPr>
          <p:nvPr/>
        </p:nvSpPr>
        <p:spPr>
          <a:xfrm xmlns:a="http://schemas.openxmlformats.org/drawingml/2006/main">
            <a:off x="685800" y="83820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6332E"/>
                </a:solidFill>
                <a:latin typeface="Arial"/>
                <a:ea typeface="Arial"/>
                <a:cs typeface="Arial"/>
              </a:defRPr>
            </a:defPPr>
          </a:lstStyle>
          <a:p xmlns:a="http://schemas.openxmlformats.org/drawingml/2006/main">
            <a:pPr algn="l">
              <a:defRPr sz="3300" b="1">
                <a:solidFill>
                  <a:srgbClr val="26332E"/>
                </a:solidFill>
                <a:latin typeface="Arial"/>
                <a:ea typeface="Arial"/>
                <a:cs typeface="Arial"/>
              </a:defRPr>
            </a:pPr>
            <a:r>
              <a:rPr sz="3300" b="1">
                <a:solidFill>
                  <a:srgbClr val="26332E"/>
                </a:solidFill>
                <a:latin typeface="Arial"/>
                <a:ea typeface="Arial"/>
                <a:cs typeface="Arial"/>
              </a:rPr>
              <a:t>The installed app runs locally</a:t>
            </a:r>
          </a:p>
        </p:txBody>
      </p:sp>
      <p:sp>
        <p:nvSpPr>
          <p:cNvPr id="3" name="footer-label">
            <a:extLst xmlns:a="http://schemas.openxmlformats.org/drawingml/2006/main">
              <a:ext uri="{FF2B5EF4-FFF2-40B4-BE49-F238E27FC236}">
                <a16:creationId xmlns:a16="http://schemas.microsoft.com/office/drawing/2014/main" id="{A546E35C-D441-450B-8E4F-4E4D08249012}"/>
              </a:ext>
            </a:extLst>
          </p:cNvPr>
          <p:cNvSpPr>
            <a:spLocks xmlns:a="http://schemas.openxmlformats.org/drawingml/2006/main" noGrp="1"/>
          </p:cNvSpPr>
          <p:nvPr/>
        </p:nvSpPr>
        <p:spPr>
          <a:xfrm xmlns:a="http://schemas.openxmlformats.org/drawingml/2006/main">
            <a:off x="685800" y="6505575"/>
            <a:ext cx="952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0">
                <a:solidFill>
                  <a:srgbClr val="66736C"/>
                </a:solidFill>
                <a:latin typeface="Arial"/>
                <a:ea typeface="Arial"/>
                <a:cs typeface="Arial"/>
              </a:defRPr>
            </a:defPPr>
          </a:lstStyle>
          <a:p xmlns:a="http://schemas.openxmlformats.org/drawingml/2006/main">
            <a:pPr algn="l">
              <a:defRPr sz="900" b="0">
                <a:solidFill>
                  <a:srgbClr val="66736C"/>
                </a:solidFill>
                <a:latin typeface="Arial"/>
                <a:ea typeface="Arial"/>
                <a:cs typeface="Arial"/>
              </a:defRPr>
            </a:pPr>
            <a:r>
              <a:rPr sz="900" b="0">
                <a:solidFill>
                  <a:srgbClr val="66736C"/>
                </a:solidFill>
                <a:latin typeface="Arial"/>
                <a:ea typeface="Arial"/>
                <a:cs typeface="Arial"/>
              </a:rPr>
              <a:t>ASPECT  /  PROJECT REFERENCE  /  1.0.0</a:t>
            </a:r>
          </a:p>
        </p:txBody>
      </p:sp>
      <p:sp>
        <p:nvSpPr>
          <p:cNvPr id="4" name="page-number">
            <a:extLst xmlns:a="http://schemas.openxmlformats.org/drawingml/2006/main">
              <a:ext uri="{FF2B5EF4-FFF2-40B4-BE49-F238E27FC236}">
                <a16:creationId xmlns:a16="http://schemas.microsoft.com/office/drawing/2014/main" id="{F57D9DFD-7F67-40FE-9544-5A5A817B62D3}"/>
              </a:ext>
            </a:extLst>
          </p:cNvPr>
          <p:cNvSpPr>
            <a:spLocks xmlns:a="http://schemas.openxmlformats.org/drawingml/2006/main" noGrp="1"/>
          </p:cNvSpPr>
          <p:nvPr/>
        </p:nvSpPr>
        <p:spPr>
          <a:xfrm xmlns:a="http://schemas.openxmlformats.org/drawingml/2006/main">
            <a:off x="10620375" y="6505575"/>
            <a:ext cx="8858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a:solidFill>
                  <a:srgbClr val="66736C"/>
                </a:solidFill>
                <a:latin typeface="Arial"/>
                <a:ea typeface="Arial"/>
                <a:cs typeface="Arial"/>
              </a:defRPr>
            </a:defPPr>
          </a:lstStyle>
          <a:p xmlns:a="http://schemas.openxmlformats.org/drawingml/2006/main">
            <a:pPr algn="r">
              <a:defRPr sz="900" b="0">
                <a:solidFill>
                  <a:srgbClr val="66736C"/>
                </a:solidFill>
                <a:latin typeface="Arial"/>
                <a:ea typeface="Arial"/>
                <a:cs typeface="Arial"/>
              </a:defRPr>
            </a:pPr>
            <a:r>
              <a:rPr sz="900" b="0">
                <a:solidFill>
                  <a:srgbClr val="66736C"/>
                </a:solidFill>
                <a:latin typeface="Arial"/>
                <a:ea typeface="Arial"/>
                <a:cs typeface="Arial"/>
              </a:rPr>
              <a:t>44 / 52</a:t>
            </a:r>
          </a:p>
        </p:txBody>
      </p:sp>
      <p:sp>
        <p:nvSpPr>
          <p:cNvPr id="5" name="context-note">
            <a:extLst xmlns:a="http://schemas.openxmlformats.org/drawingml/2006/main">
              <a:ext uri="{FF2B5EF4-FFF2-40B4-BE49-F238E27FC236}">
                <a16:creationId xmlns:a16="http://schemas.microsoft.com/office/drawing/2014/main" id="{56973382-762D-41EC-83F0-AB6B8CA1FA2F}"/>
              </a:ext>
            </a:extLst>
          </p:cNvPr>
          <p:cNvSpPr>
            <a:spLocks xmlns:a="http://schemas.openxmlformats.org/drawingml/2006/main" noGrp="1"/>
          </p:cNvSpPr>
          <p:nvPr/>
        </p:nvSpPr>
        <p:spPr>
          <a:xfrm xmlns:a="http://schemas.openxmlformats.org/drawingml/2006/main">
            <a:off x="685800" y="5924550"/>
            <a:ext cx="108204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39725C"/>
                </a:solidFill>
                <a:latin typeface="Arial"/>
                <a:ea typeface="Arial"/>
                <a:cs typeface="Arial"/>
              </a:defRPr>
            </a:defPPr>
          </a:lstStyle>
          <a:p xmlns:a="http://schemas.openxmlformats.org/drawingml/2006/main">
            <a:pPr algn="l">
              <a:defRPr sz="1725" b="0">
                <a:solidFill>
                  <a:srgbClr val="39725C"/>
                </a:solidFill>
                <a:latin typeface="Arial"/>
                <a:ea typeface="Arial"/>
                <a:cs typeface="Arial"/>
              </a:defRPr>
            </a:pPr>
            <a:r>
              <a:rPr sz="1725" b="0">
                <a:solidFill>
                  <a:srgbClr val="39725C"/>
                </a:solidFill>
                <a:latin typeface="Arial"/>
                <a:ea typeface="Arial"/>
                <a:cs typeface="Arial"/>
              </a:rPr>
              <a:t>Open localhost:8000. Initial downloads need internet. Installed inference uses local files.</a:t>
            </a:r>
          </a:p>
        </p:txBody>
      </p:sp>
      <p:sp>
        <p:nvSpPr>
          <p:cNvPr id="6" name="command-label-0">
            <a:extLst xmlns:a="http://schemas.openxmlformats.org/drawingml/2006/main">
              <a:ext uri="{FF2B5EF4-FFF2-40B4-BE49-F238E27FC236}">
                <a16:creationId xmlns:a16="http://schemas.microsoft.com/office/drawing/2014/main" id="{1B4A9A39-11A8-44B9-9B43-4216391F6333}"/>
              </a:ext>
            </a:extLst>
          </p:cNvPr>
          <p:cNvSpPr>
            <a:spLocks xmlns:a="http://schemas.openxmlformats.org/drawingml/2006/main" noGrp="1"/>
          </p:cNvSpPr>
          <p:nvPr/>
        </p:nvSpPr>
        <p:spPr>
          <a:xfrm xmlns:a="http://schemas.openxmlformats.org/drawingml/2006/main">
            <a:off x="685800" y="1924050"/>
            <a:ext cx="5200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39725C"/>
                </a:solidFill>
                <a:latin typeface="Arial"/>
                <a:ea typeface="Arial"/>
                <a:cs typeface="Arial"/>
              </a:defRPr>
            </a:defPPr>
          </a:lstStyle>
          <a:p xmlns:a="http://schemas.openxmlformats.org/drawingml/2006/main">
            <a:pPr algn="l">
              <a:defRPr sz="2025" b="1">
                <a:solidFill>
                  <a:srgbClr val="39725C"/>
                </a:solidFill>
                <a:latin typeface="Arial"/>
                <a:ea typeface="Arial"/>
                <a:cs typeface="Arial"/>
              </a:defRPr>
            </a:pPr>
            <a:r>
              <a:rPr sz="2025" b="1">
                <a:solidFill>
                  <a:srgbClr val="39725C"/>
                </a:solidFill>
                <a:latin typeface="Arial"/>
                <a:ea typeface="Arial"/>
                <a:cs typeface="Arial"/>
              </a:rPr>
              <a:t>First setup and corpus</a:t>
            </a:r>
          </a:p>
        </p:txBody>
      </p:sp>
      <p:sp>
        <p:nvSpPr>
          <p:cNvPr id="7" name="command-copy-0">
            <a:extLst xmlns:a="http://schemas.openxmlformats.org/drawingml/2006/main">
              <a:ext uri="{FF2B5EF4-FFF2-40B4-BE49-F238E27FC236}">
                <a16:creationId xmlns:a16="http://schemas.microsoft.com/office/drawing/2014/main" id="{5A89A69C-6CBD-4899-8600-D9BB63E27BFE}"/>
              </a:ext>
            </a:extLst>
          </p:cNvPr>
          <p:cNvSpPr>
            <a:spLocks xmlns:a="http://schemas.openxmlformats.org/drawingml/2006/main" noGrp="1"/>
          </p:cNvSpPr>
          <p:nvPr/>
        </p:nvSpPr>
        <p:spPr>
          <a:xfrm xmlns:a="http://schemas.openxmlformats.org/drawingml/2006/main">
            <a:off x="685800" y="2647950"/>
            <a:ext cx="520065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6332E"/>
                </a:solidFill>
                <a:latin typeface="Arial"/>
                <a:ea typeface="Arial"/>
                <a:cs typeface="Arial"/>
              </a:defRPr>
            </a:defPPr>
          </a:lstStyle>
          <a:p xmlns:a="http://schemas.openxmlformats.org/drawingml/2006/main">
            <a:pPr algn="l">
              <a:defRPr sz="1875" b="0">
                <a:solidFill>
                  <a:srgbClr val="26332E"/>
                </a:solidFill>
                <a:latin typeface="Arial"/>
                <a:ea typeface="Arial"/>
                <a:cs typeface="Arial"/>
              </a:defRPr>
            </a:pPr>
            <a:r>
              <a:rPr sz="1875" b="0">
                <a:solidFill>
                  <a:srgbClr val="26332E"/>
                </a:solidFill>
                <a:latin typeface="Arial"/>
                <a:ea typeface="Arial"/>
                <a:cs typeface="Arial"/>
              </a:rPr>
              <a:t>make setup</a:t>
            </a:r>
          </a:p>
          <a:p xmlns:a="http://schemas.openxmlformats.org/drawingml/2006/main">
            <a:pPr algn="l">
              <a:defRPr sz="1875" b="0">
                <a:solidFill>
                  <a:srgbClr val="26332E"/>
                </a:solidFill>
                <a:latin typeface="Arial"/>
                <a:ea typeface="Arial"/>
                <a:cs typeface="Arial"/>
              </a:defRPr>
            </a:pPr>
            <a:r>
              <a:rPr sz="1875" b="0">
                <a:solidFill>
                  <a:srgbClr val="26332E"/>
                </a:solidFill>
                <a:latin typeface="Arial"/>
                <a:ea typeface="Arial"/>
                <a:cs typeface="Arial"/>
              </a:rPr>
              <a:t>make data</a:t>
            </a:r>
          </a:p>
          <a:p xmlns:a="http://schemas.openxmlformats.org/drawingml/2006/main">
            <a:pPr algn="l">
              <a:defRPr sz="1875" b="0">
                <a:solidFill>
                  <a:srgbClr val="26332E"/>
                </a:solidFill>
                <a:latin typeface="Arial"/>
                <a:ea typeface="Arial"/>
                <a:cs typeface="Arial"/>
              </a:defRPr>
            </a:pPr>
            <a:r>
              <a:rPr sz="1875" b="0">
                <a:solidFill>
                  <a:srgbClr val="26332E"/>
                </a:solidFill>
                <a:latin typeface="Arial"/>
                <a:ea typeface="Arial"/>
                <a:cs typeface="Arial"/>
              </a:rPr>
              <a:t>make seed</a:t>
            </a:r>
          </a:p>
          <a:p xmlns:a="http://schemas.openxmlformats.org/drawingml/2006/main">
            <a:pPr algn="l">
              <a:defRPr sz="1875" b="0">
                <a:solidFill>
                  <a:srgbClr val="26332E"/>
                </a:solidFill>
                <a:latin typeface="Arial"/>
                <a:ea typeface="Arial"/>
                <a:cs typeface="Arial"/>
              </a:defRPr>
            </a:pPr>
            <a:r>
              <a:rPr sz="1875" b="0">
                <a:solidFill>
                  <a:srgbClr val="26332E"/>
                </a:solidFill>
                <a:latin typeface="Arial"/>
                <a:ea typeface="Arial"/>
                <a:cs typeface="Arial"/>
              </a:rPr>
              <a:t>make build</a:t>
            </a:r>
          </a:p>
        </p:txBody>
      </p:sp>
      <p:sp>
        <p:nvSpPr>
          <p:cNvPr id="8" name="command-label-1">
            <a:extLst xmlns:a="http://schemas.openxmlformats.org/drawingml/2006/main">
              <a:ext uri="{FF2B5EF4-FFF2-40B4-BE49-F238E27FC236}">
                <a16:creationId xmlns:a16="http://schemas.microsoft.com/office/drawing/2014/main" id="{C832FD82-FA8B-46A4-9954-0CDFFBC3C643}"/>
              </a:ext>
            </a:extLst>
          </p:cNvPr>
          <p:cNvSpPr>
            <a:spLocks xmlns:a="http://schemas.openxmlformats.org/drawingml/2006/main" noGrp="1"/>
          </p:cNvSpPr>
          <p:nvPr/>
        </p:nvSpPr>
        <p:spPr>
          <a:xfrm xmlns:a="http://schemas.openxmlformats.org/drawingml/2006/main">
            <a:off x="6305550" y="1924050"/>
            <a:ext cx="5200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39725C"/>
                </a:solidFill>
                <a:latin typeface="Arial"/>
                <a:ea typeface="Arial"/>
                <a:cs typeface="Arial"/>
              </a:defRPr>
            </a:defPPr>
          </a:lstStyle>
          <a:p xmlns:a="http://schemas.openxmlformats.org/drawingml/2006/main">
            <a:pPr algn="l">
              <a:defRPr sz="2025" b="1">
                <a:solidFill>
                  <a:srgbClr val="39725C"/>
                </a:solidFill>
                <a:latin typeface="Arial"/>
                <a:ea typeface="Arial"/>
                <a:cs typeface="Arial"/>
              </a:defRPr>
            </a:pPr>
            <a:r>
              <a:rPr sz="2025" b="1">
                <a:solidFill>
                  <a:srgbClr val="39725C"/>
                </a:solidFill>
                <a:latin typeface="Arial"/>
                <a:ea typeface="Arial"/>
                <a:cs typeface="Arial"/>
              </a:rPr>
              <a:t>Daily use and optional neural setup</a:t>
            </a:r>
          </a:p>
        </p:txBody>
      </p:sp>
      <p:sp>
        <p:nvSpPr>
          <p:cNvPr id="9" name="command-copy-1">
            <a:extLst xmlns:a="http://schemas.openxmlformats.org/drawingml/2006/main">
              <a:ext uri="{FF2B5EF4-FFF2-40B4-BE49-F238E27FC236}">
                <a16:creationId xmlns:a16="http://schemas.microsoft.com/office/drawing/2014/main" id="{15133E0E-174E-4161-A725-F92E3415CB7A}"/>
              </a:ext>
            </a:extLst>
          </p:cNvPr>
          <p:cNvSpPr>
            <a:spLocks xmlns:a="http://schemas.openxmlformats.org/drawingml/2006/main" noGrp="1"/>
          </p:cNvSpPr>
          <p:nvPr/>
        </p:nvSpPr>
        <p:spPr>
          <a:xfrm xmlns:a="http://schemas.openxmlformats.org/drawingml/2006/main">
            <a:off x="6305550" y="2647950"/>
            <a:ext cx="520065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6332E"/>
                </a:solidFill>
                <a:latin typeface="Arial"/>
                <a:ea typeface="Arial"/>
                <a:cs typeface="Arial"/>
              </a:defRPr>
            </a:defPPr>
          </a:lstStyle>
          <a:p xmlns:a="http://schemas.openxmlformats.org/drawingml/2006/main">
            <a:pPr algn="l">
              <a:defRPr sz="1875" b="0">
                <a:solidFill>
                  <a:srgbClr val="26332E"/>
                </a:solidFill>
                <a:latin typeface="Arial"/>
                <a:ea typeface="Arial"/>
                <a:cs typeface="Arial"/>
              </a:defRPr>
            </a:pPr>
            <a:r>
              <a:rPr sz="1875" b="0">
                <a:solidFill>
                  <a:srgbClr val="26332E"/>
                </a:solidFill>
                <a:latin typeface="Arial"/>
                <a:ea typeface="Arial"/>
                <a:cs typeface="Arial"/>
              </a:rPr>
              <a:t>make run</a:t>
            </a:r>
          </a:p>
          <a:p xmlns:a="http://schemas.openxmlformats.org/drawingml/2006/main">
            <a:pPr algn="l">
              <a:defRPr sz="1875" b="0">
                <a:solidFill>
                  <a:srgbClr val="26332E"/>
                </a:solidFill>
                <a:latin typeface="Arial"/>
                <a:ea typeface="Arial"/>
                <a:cs typeface="Arial"/>
              </a:defRPr>
            </a:pPr>
            <a:r>
              <a:rPr sz="1875" b="0">
                <a:solidFill>
                  <a:srgbClr val="26332E"/>
                </a:solidFill>
                <a:latin typeface="Arial"/>
                <a:ea typeface="Arial"/>
                <a:cs typeface="Arial"/>
              </a:rPr>
              <a:t>make model-setup</a:t>
            </a:r>
          </a:p>
          <a:p xmlns:a="http://schemas.openxmlformats.org/drawingml/2006/main">
            <a:pPr algn="l">
              <a:defRPr sz="1875" b="0">
                <a:solidFill>
                  <a:srgbClr val="26332E"/>
                </a:solidFill>
                <a:latin typeface="Arial"/>
                <a:ea typeface="Arial"/>
                <a:cs typeface="Arial"/>
              </a:defRPr>
            </a:pPr>
            <a:r>
              <a:rPr sz="1875" b="0">
                <a:solidFill>
                  <a:srgbClr val="26332E"/>
                </a:solidFill>
                <a:latin typeface="Arial"/>
                <a:ea typeface="Arial"/>
                <a:cs typeface="Arial"/>
              </a:rPr>
              <a:t>make doctor</a:t>
            </a:r>
          </a:p>
        </p:txBody>
      </p:sp>
    </p:spTree>
    <p:extLst>
      <p:ext uri="{BB962C8B-B14F-4D97-AF65-F5344CB8AC3E}">
        <p14:creationId xmlns:p14="http://schemas.microsoft.com/office/powerpoint/2010/main" val="2105437413"/>
      </p:ext>
    </p:extLst>
  </p:cSld>
</p:sld>
</file>

<file path=ppt/slides/slide45.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6" name="chapter">
            <a:extLst xmlns:a="http://schemas.openxmlformats.org/drawingml/2006/main">
              <a:ext uri="{FF2B5EF4-FFF2-40B4-BE49-F238E27FC236}">
                <a16:creationId xmlns:a16="http://schemas.microsoft.com/office/drawing/2014/main" id="{EE86FB89-2329-4539-AAAE-661621BFE6D2}"/>
              </a:ext>
            </a:extLst>
          </p:cNvPr>
          <p:cNvSpPr>
            <a:spLocks xmlns:a="http://schemas.openxmlformats.org/drawingml/2006/main" noGrp="1"/>
          </p:cNvSpPr>
          <p:nvPr/>
        </p:nvSpPr>
        <p:spPr>
          <a:xfrm xmlns:a="http://schemas.openxmlformats.org/drawingml/2006/main">
            <a:off x="685800" y="381000"/>
            <a:ext cx="933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39725C"/>
                </a:solidFill>
                <a:latin typeface="Arial"/>
                <a:ea typeface="Arial"/>
                <a:cs typeface="Arial"/>
              </a:defRPr>
            </a:defPPr>
          </a:lstStyle>
          <a:p xmlns:a="http://schemas.openxmlformats.org/drawingml/2006/main">
            <a:pPr algn="l">
              <a:defRPr sz="1200" b="1">
                <a:solidFill>
                  <a:srgbClr val="39725C"/>
                </a:solidFill>
                <a:latin typeface="Arial"/>
                <a:ea typeface="Arial"/>
                <a:cs typeface="Arial"/>
              </a:defRPr>
            </a:pPr>
            <a:r>
              <a:rPr sz="1200" b="1">
                <a:solidFill>
                  <a:srgbClr val="39725C"/>
                </a:solidFill>
                <a:latin typeface="Arial"/>
                <a:ea typeface="Arial"/>
                <a:cs typeface="Arial"/>
              </a:rPr>
              <a:t>SOURCE CODE</a:t>
            </a:r>
          </a:p>
        </p:txBody>
      </p:sp>
      <p:sp>
        <p:nvSpPr>
          <p:cNvPr id="2" name="primary-heading">
            <a:extLst xmlns:a="http://schemas.openxmlformats.org/drawingml/2006/main">
              <a:ext uri="{FF2B5EF4-FFF2-40B4-BE49-F238E27FC236}">
                <a16:creationId xmlns:a16="http://schemas.microsoft.com/office/drawing/2014/main" id="{65E29788-BC03-4D58-BE40-DFA08DBAFB17}"/>
              </a:ext>
            </a:extLst>
          </p:cNvPr>
          <p:cNvSpPr>
            <a:spLocks xmlns:a="http://schemas.openxmlformats.org/drawingml/2006/main" noGrp="1"/>
          </p:cNvSpPr>
          <p:nvPr/>
        </p:nvSpPr>
        <p:spPr>
          <a:xfrm xmlns:a="http://schemas.openxmlformats.org/drawingml/2006/main">
            <a:off x="685800" y="83820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6332E"/>
                </a:solidFill>
                <a:latin typeface="Arial"/>
                <a:ea typeface="Arial"/>
                <a:cs typeface="Arial"/>
              </a:defRPr>
            </a:defPPr>
          </a:lstStyle>
          <a:p xmlns:a="http://schemas.openxmlformats.org/drawingml/2006/main">
            <a:pPr algn="l">
              <a:defRPr sz="3300" b="1">
                <a:solidFill>
                  <a:srgbClr val="26332E"/>
                </a:solidFill>
                <a:latin typeface="Arial"/>
                <a:ea typeface="Arial"/>
                <a:cs typeface="Arial"/>
              </a:defRPr>
            </a:pPr>
            <a:r>
              <a:rPr sz="3300" b="1">
                <a:solidFill>
                  <a:srgbClr val="26332E"/>
                </a:solidFill>
                <a:latin typeface="Arial"/>
                <a:ea typeface="Arial"/>
                <a:cs typeface="Arial"/>
              </a:rPr>
              <a:t>The source separates application concerns</a:t>
            </a:r>
          </a:p>
        </p:txBody>
      </p:sp>
      <p:sp>
        <p:nvSpPr>
          <p:cNvPr id="3" name="footer-label">
            <a:extLst xmlns:a="http://schemas.openxmlformats.org/drawingml/2006/main">
              <a:ext uri="{FF2B5EF4-FFF2-40B4-BE49-F238E27FC236}">
                <a16:creationId xmlns:a16="http://schemas.microsoft.com/office/drawing/2014/main" id="{B1BC045E-1B23-49A9-AF2A-90981C5AFFC3}"/>
              </a:ext>
            </a:extLst>
          </p:cNvPr>
          <p:cNvSpPr>
            <a:spLocks xmlns:a="http://schemas.openxmlformats.org/drawingml/2006/main" noGrp="1"/>
          </p:cNvSpPr>
          <p:nvPr/>
        </p:nvSpPr>
        <p:spPr>
          <a:xfrm xmlns:a="http://schemas.openxmlformats.org/drawingml/2006/main">
            <a:off x="685800" y="6505575"/>
            <a:ext cx="952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0">
                <a:solidFill>
                  <a:srgbClr val="66736C"/>
                </a:solidFill>
                <a:latin typeface="Arial"/>
                <a:ea typeface="Arial"/>
                <a:cs typeface="Arial"/>
              </a:defRPr>
            </a:defPPr>
          </a:lstStyle>
          <a:p xmlns:a="http://schemas.openxmlformats.org/drawingml/2006/main">
            <a:pPr algn="l">
              <a:defRPr sz="900" b="0">
                <a:solidFill>
                  <a:srgbClr val="66736C"/>
                </a:solidFill>
                <a:latin typeface="Arial"/>
                <a:ea typeface="Arial"/>
                <a:cs typeface="Arial"/>
              </a:defRPr>
            </a:pPr>
            <a:r>
              <a:rPr sz="900" b="0">
                <a:solidFill>
                  <a:srgbClr val="66736C"/>
                </a:solidFill>
                <a:latin typeface="Arial"/>
                <a:ea typeface="Arial"/>
                <a:cs typeface="Arial"/>
              </a:rPr>
              <a:t>ASPECT  /  PROJECT REFERENCE  /  1.0.0</a:t>
            </a:r>
          </a:p>
        </p:txBody>
      </p:sp>
      <p:sp>
        <p:nvSpPr>
          <p:cNvPr id="4" name="page-number">
            <a:extLst xmlns:a="http://schemas.openxmlformats.org/drawingml/2006/main">
              <a:ext uri="{FF2B5EF4-FFF2-40B4-BE49-F238E27FC236}">
                <a16:creationId xmlns:a16="http://schemas.microsoft.com/office/drawing/2014/main" id="{9C50B6A6-90E7-4E0C-B807-6912BF14E633}"/>
              </a:ext>
            </a:extLst>
          </p:cNvPr>
          <p:cNvSpPr>
            <a:spLocks xmlns:a="http://schemas.openxmlformats.org/drawingml/2006/main" noGrp="1"/>
          </p:cNvSpPr>
          <p:nvPr/>
        </p:nvSpPr>
        <p:spPr>
          <a:xfrm xmlns:a="http://schemas.openxmlformats.org/drawingml/2006/main">
            <a:off x="10620375" y="6505575"/>
            <a:ext cx="8858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a:solidFill>
                  <a:srgbClr val="66736C"/>
                </a:solidFill>
                <a:latin typeface="Arial"/>
                <a:ea typeface="Arial"/>
                <a:cs typeface="Arial"/>
              </a:defRPr>
            </a:defPPr>
          </a:lstStyle>
          <a:p xmlns:a="http://schemas.openxmlformats.org/drawingml/2006/main">
            <a:pPr algn="r">
              <a:defRPr sz="900" b="0">
                <a:solidFill>
                  <a:srgbClr val="66736C"/>
                </a:solidFill>
                <a:latin typeface="Arial"/>
                <a:ea typeface="Arial"/>
                <a:cs typeface="Arial"/>
              </a:defRPr>
            </a:pPr>
            <a:r>
              <a:rPr sz="900" b="0">
                <a:solidFill>
                  <a:srgbClr val="66736C"/>
                </a:solidFill>
                <a:latin typeface="Arial"/>
                <a:ea typeface="Arial"/>
                <a:cs typeface="Arial"/>
              </a:rPr>
              <a:t>45 / 52</a:t>
            </a:r>
          </a:p>
        </p:txBody>
      </p:sp>
      <p:graphicFrame>
        <p:nvGraphicFramePr>
          <p:cNvPr id="5" name="">
            <a:extLst xmlns:a="http://schemas.openxmlformats.org/drawingml/2006/main">
              <a:ext uri="{FF2B5EF4-FFF2-40B4-BE49-F238E27FC236}">
                <a16:creationId xmlns:a16="http://schemas.microsoft.com/office/drawing/2014/main" id="{E4D3D00D-E95E-4982-9608-B4AB6601E4DF}"/>
              </a:ext>
            </a:extLst>
          </p:cNvPr>
          <p:cNvGraphicFramePr/>
          <p:nvPr/>
        </p:nvGraphicFramePr>
        <p:xfrm>
          <a:off xmlns:a="http://schemas.openxmlformats.org/drawingml/2006/main" x="685800" y="1714500"/>
          <a:ext xmlns:a="http://schemas.openxmlformats.org/drawingml/2006/main" cx="10820400" cy="4305300"/>
        </p:xfrm>
        <a:graphic xmlns:a="http://schemas.openxmlformats.org/drawingml/2006/main">
          <a:graphicData uri="http://schemas.openxmlformats.org/drawingml/2006/table">
            <a:tbl>
              <a:tblPr firstRow="1" firstCol="0" lastCol="0" bandRow="0"/>
              <a:tblGrid>
                <a:gridCol w="4857750"/>
                <a:gridCol w="5962650"/>
              </a:tblGrid>
              <a:tr h="419100">
                <a:tc>
                  <a:txBody>
                    <a:bodyPr wrap="square">
                      <a:noAutofit/>
                    </a:bodyPr>
                    <a:lstStyle/>
                    <a:p>
                      <a:r>
                        <a:rPr sz="1650" b="1">
                          <a:solidFill>
                            <a:srgbClr val="FFFFFF"/>
                          </a:solidFill>
                          <a:latin typeface="Arial"/>
                          <a:ea typeface="Arial"/>
                          <a:cs typeface="Arial"/>
                        </a:rPr>
                        <a:t>Location</a:t>
                      </a:r>
                    </a:p>
                  </a:txBody>
                  <a:tcPr marL="114300" marR="114300" marT="47625" marB="47625" anchor="ctr">
                    <a:lnL w="6668">
                      <a:solidFill>
                        <a:srgbClr val="DCE3DA"/>
                      </a:solidFill>
                      <a:prstDash val="solid"/>
                    </a:lnL>
                    <a:lnR w="6668">
                      <a:solidFill>
                        <a:srgbClr val="DCE3DA"/>
                      </a:solidFill>
                      <a:prstDash val="solid"/>
                    </a:lnR>
                    <a:lnT w="6668">
                      <a:solidFill>
                        <a:srgbClr val="DCE3DA"/>
                      </a:solidFill>
                      <a:prstDash val="solid"/>
                    </a:lnT>
                    <a:lnB w="6668">
                      <a:solidFill>
                        <a:srgbClr val="DCE3DA"/>
                      </a:solidFill>
                      <a:prstDash val="solid"/>
                    </a:lnB>
                    <a:solidFill>
                      <a:srgbClr val="39725C"/>
                    </a:solidFill>
                  </a:tcPr>
                </a:tc>
                <a:tc>
                  <a:txBody>
                    <a:bodyPr wrap="square">
                      <a:noAutofit/>
                    </a:bodyPr>
                    <a:lstStyle/>
                    <a:p>
                      <a:r>
                        <a:rPr sz="1650" b="1">
                          <a:solidFill>
                            <a:srgbClr val="FFFFFF"/>
                          </a:solidFill>
                          <a:latin typeface="Arial"/>
                          <a:ea typeface="Arial"/>
                          <a:cs typeface="Arial"/>
                        </a:rPr>
                        <a:t>Responsibility</a:t>
                      </a:r>
                    </a:p>
                  </a:txBody>
                  <a:tcPr marL="114300" marR="114300" marT="47625" marB="47625" anchor="ctr">
                    <a:lnR w="6668">
                      <a:solidFill>
                        <a:srgbClr val="DCE3DA"/>
                      </a:solidFill>
                      <a:prstDash val="solid"/>
                    </a:lnR>
                    <a:lnT w="6668">
                      <a:solidFill>
                        <a:srgbClr val="DCE3DA"/>
                      </a:solidFill>
                      <a:prstDash val="solid"/>
                    </a:lnT>
                    <a:lnB w="6668">
                      <a:solidFill>
                        <a:srgbClr val="DCE3DA"/>
                      </a:solidFill>
                      <a:prstDash val="solid"/>
                    </a:lnB>
                    <a:solidFill>
                      <a:srgbClr val="39725C"/>
                    </a:solidFill>
                  </a:tcPr>
                </a:tc>
              </a:tr>
              <a:tr h="485775">
                <a:tc>
                  <a:txBody>
                    <a:bodyPr wrap="square">
                      <a:noAutofit/>
                    </a:bodyPr>
                    <a:lstStyle/>
                    <a:p>
                      <a:r>
                        <a:rPr sz="1725" b="1">
                          <a:solidFill>
                            <a:srgbClr val="26332E"/>
                          </a:solidFill>
                          <a:latin typeface="Arial"/>
                          <a:ea typeface="Arial"/>
                          <a:cs typeface="Arial"/>
                        </a:rPr>
                        <a:t>frontend/src/views and components</a:t>
                      </a:r>
                    </a:p>
                  </a:txBody>
                  <a:tcPr marL="114300" marR="114300" marT="47625" marB="47625" anchor="ctr">
                    <a:lnL w="6668">
                      <a:solidFill>
                        <a:srgbClr val="DCE3DA"/>
                      </a:solidFill>
                      <a:prstDash val="solid"/>
                    </a:lnL>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Screens, forms, charts and browser-side interactions</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r>
              <a:tr h="485775">
                <a:tc>
                  <a:txBody>
                    <a:bodyPr wrap="square">
                      <a:noAutofit/>
                    </a:bodyPr>
                    <a:lstStyle/>
                    <a:p>
                      <a:r>
                        <a:rPr sz="1725" b="1">
                          <a:solidFill>
                            <a:srgbClr val="26332E"/>
                          </a:solidFill>
                          <a:latin typeface="Arial"/>
                          <a:ea typeface="Arial"/>
                          <a:cs typeface="Arial"/>
                        </a:rPr>
                        <a:t>api.py, annotation_api.py, research_api.py</a:t>
                      </a:r>
                    </a:p>
                  </a:txBody>
                  <a:tcPr marL="114300" marR="114300" marT="47625" marB="47625" anchor="ctr">
                    <a:lnL w="6668">
                      <a:solidFill>
                        <a:srgbClr val="DCE3DA"/>
                      </a:solidFill>
                      <a:prstDash val="solid"/>
                    </a:lnL>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Review, annotation and research HTTP routes</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r>
              <a:tr h="485775">
                <a:tc>
                  <a:txBody>
                    <a:bodyPr wrap="square">
                      <a:noAutofit/>
                    </a:bodyPr>
                    <a:lstStyle/>
                    <a:p>
                      <a:r>
                        <a:rPr sz="1725" b="1">
                          <a:solidFill>
                            <a:srgbClr val="26332E"/>
                          </a:solidFill>
                          <a:latin typeface="Arial"/>
                          <a:ea typeface="Arial"/>
                          <a:cs typeface="Arial"/>
                        </a:rPr>
                        <a:t>store.py and migrations</a:t>
                      </a:r>
                    </a:p>
                  </a:txBody>
                  <a:tcPr marL="114300" marR="114300" marT="47625" marB="47625" anchor="ctr">
                    <a:lnL w="6668">
                      <a:solidFill>
                        <a:srgbClr val="DCE3DA"/>
                      </a:solidFill>
                      <a:prstDash val="solid"/>
                    </a:lnL>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Persistent records, transactions and schema checks</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r>
              <a:tr h="485775">
                <a:tc>
                  <a:txBody>
                    <a:bodyPr wrap="square">
                      <a:noAutofit/>
                    </a:bodyPr>
                    <a:lstStyle/>
                    <a:p>
                      <a:r>
                        <a:rPr sz="1725" b="1">
                          <a:solidFill>
                            <a:srgbClr val="26332E"/>
                          </a:solidFill>
                          <a:latin typeface="Arial"/>
                          <a:ea typeface="Arial"/>
                          <a:cs typeface="Arial"/>
                        </a:rPr>
                        <a:t>baseline.py and models</a:t>
                      </a:r>
                    </a:p>
                  </a:txBody>
                  <a:tcPr marL="114300" marR="114300" marT="47625" marB="47625" anchor="ctr">
                    <a:lnL w="6668">
                      <a:solidFill>
                        <a:srgbClr val="DCE3DA"/>
                      </a:solidFill>
                      <a:prstDash val="solid"/>
                    </a:lnL>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Analyzer interface, registry, rules and local models</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r>
              <a:tr h="485775">
                <a:tc>
                  <a:txBody>
                    <a:bodyPr wrap="square">
                      <a:noAutofit/>
                    </a:bodyPr>
                    <a:lstStyle/>
                    <a:p>
                      <a:r>
                        <a:rPr sz="1725" b="1">
                          <a:solidFill>
                            <a:srgbClr val="26332E"/>
                          </a:solidFill>
                          <a:latin typeface="Arial"/>
                          <a:ea typeface="Arial"/>
                          <a:cs typeface="Arial"/>
                        </a:rPr>
                        <a:t>annotations.py and workbench.py</a:t>
                      </a:r>
                    </a:p>
                  </a:txBody>
                  <a:tcPr marL="114300" marR="114300" marT="47625" marB="47625" anchor="ctr">
                    <a:lnL w="6668">
                      <a:solidFill>
                        <a:srgbClr val="DCE3DA"/>
                      </a:solidFill>
                      <a:prstDash val="solid"/>
                    </a:lnL>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Sampling, frozen identity, edits, origins and exports</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r>
              <a:tr h="485775">
                <a:tc>
                  <a:txBody>
                    <a:bodyPr wrap="square">
                      <a:noAutofit/>
                    </a:bodyPr>
                    <a:lstStyle/>
                    <a:p>
                      <a:r>
                        <a:rPr sz="1725" b="1">
                          <a:solidFill>
                            <a:srgbClr val="26332E"/>
                          </a:solidFill>
                          <a:latin typeface="Arial"/>
                          <a:ea typeface="Arial"/>
                          <a:cs typeface="Arial"/>
                        </a:rPr>
                        <a:t>research.py and experiments.py</a:t>
                      </a:r>
                    </a:p>
                  </a:txBody>
                  <a:tcPr marL="114300" marR="114300" marT="47625" marB="47625" anchor="ctr">
                    <a:lnL w="6668">
                      <a:solidFill>
                        <a:srgbClr val="DCE3DA"/>
                      </a:solidFill>
                      <a:prstDash val="solid"/>
                    </a:lnL>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Run snapshots, model training and comparisons</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r>
              <a:tr h="485775">
                <a:tc>
                  <a:txBody>
                    <a:bodyPr wrap="square">
                      <a:noAutofit/>
                    </a:bodyPr>
                    <a:lstStyle/>
                    <a:p>
                      <a:r>
                        <a:rPr sz="1725" b="1">
                          <a:solidFill>
                            <a:srgbClr val="26332E"/>
                          </a:solidFill>
                          <a:latin typeface="Arial"/>
                          <a:ea typeface="Arial"/>
                          <a:cs typeface="Arial"/>
                        </a:rPr>
                        <a:t>metrics.py, predictions.py, reports.py</a:t>
                      </a:r>
                    </a:p>
                  </a:txBody>
                  <a:tcPr marL="114300" marR="114300" marT="47625" marB="47625" anchor="ctr">
                    <a:lnL w="6668">
                      <a:solidFill>
                        <a:srgbClr val="DCE3DA"/>
                      </a:solidFill>
                      <a:prstDash val="solid"/>
                    </a:lnL>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Scores, audit records and report validation</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r>
              <a:tr h="485775">
                <a:tc>
                  <a:txBody>
                    <a:bodyPr wrap="square">
                      <a:noAutofit/>
                    </a:bodyPr>
                    <a:lstStyle/>
                    <a:p>
                      <a:r>
                        <a:rPr sz="1725" b="1">
                          <a:solidFill>
                            <a:srgbClr val="26332E"/>
                          </a:solidFill>
                          <a:latin typeface="Arial"/>
                          <a:ea typeface="Arial"/>
                          <a:cs typeface="Arial"/>
                        </a:rPr>
                        <a:t>diagnostics.py and scripts/verify_release.py</a:t>
                      </a:r>
                    </a:p>
                  </a:txBody>
                  <a:tcPr marL="114300" marR="114300" marT="47625" marB="47625" anchor="ctr">
                    <a:lnL w="6668">
                      <a:solidFill>
                        <a:srgbClr val="DCE3DA"/>
                      </a:solidFill>
                      <a:prstDash val="solid"/>
                    </a:lnL>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Readiness, latency and isolated release verification</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r>
            </a:tbl>
          </a:graphicData>
        </a:graphic>
      </p:graphicFrame>
    </p:spTree>
    <p:extLst>
      <p:ext uri="{BB962C8B-B14F-4D97-AF65-F5344CB8AC3E}">
        <p14:creationId xmlns:p14="http://schemas.microsoft.com/office/powerpoint/2010/main" val="40868277"/>
      </p:ext>
    </p:extLst>
  </p:cSld>
</p:sld>
</file>

<file path=ppt/slides/slide46.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10" name="chapter">
            <a:extLst xmlns:a="http://schemas.openxmlformats.org/drawingml/2006/main">
              <a:ext uri="{FF2B5EF4-FFF2-40B4-BE49-F238E27FC236}">
                <a16:creationId xmlns:a16="http://schemas.microsoft.com/office/drawing/2014/main" id="{8555778D-02E1-4F69-A1D5-5F72632A38DA}"/>
              </a:ext>
            </a:extLst>
          </p:cNvPr>
          <p:cNvSpPr>
            <a:spLocks xmlns:a="http://schemas.openxmlformats.org/drawingml/2006/main" noGrp="1"/>
          </p:cNvSpPr>
          <p:nvPr/>
        </p:nvSpPr>
        <p:spPr>
          <a:xfrm xmlns:a="http://schemas.openxmlformats.org/drawingml/2006/main">
            <a:off x="685800" y="381000"/>
            <a:ext cx="933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39725C"/>
                </a:solidFill>
                <a:latin typeface="Arial"/>
                <a:ea typeface="Arial"/>
                <a:cs typeface="Arial"/>
              </a:defRPr>
            </a:defPPr>
          </a:lstStyle>
          <a:p xmlns:a="http://schemas.openxmlformats.org/drawingml/2006/main">
            <a:pPr algn="l">
              <a:defRPr sz="1200" b="1">
                <a:solidFill>
                  <a:srgbClr val="39725C"/>
                </a:solidFill>
                <a:latin typeface="Arial"/>
                <a:ea typeface="Arial"/>
                <a:cs typeface="Arial"/>
              </a:defRPr>
            </a:pPr>
            <a:r>
              <a:rPr sz="1200" b="1">
                <a:solidFill>
                  <a:srgbClr val="39725C"/>
                </a:solidFill>
                <a:latin typeface="Arial"/>
                <a:ea typeface="Arial"/>
                <a:cs typeface="Arial"/>
              </a:rPr>
              <a:t>LIMITS AND EXTENSIONS</a:t>
            </a:r>
          </a:p>
        </p:txBody>
      </p:sp>
      <p:sp>
        <p:nvSpPr>
          <p:cNvPr id="2" name="primary-heading">
            <a:extLst xmlns:a="http://schemas.openxmlformats.org/drawingml/2006/main">
              <a:ext uri="{FF2B5EF4-FFF2-40B4-BE49-F238E27FC236}">
                <a16:creationId xmlns:a16="http://schemas.microsoft.com/office/drawing/2014/main" id="{2D721AE8-7CAD-4510-83E9-D57E05E1365E}"/>
              </a:ext>
            </a:extLst>
          </p:cNvPr>
          <p:cNvSpPr>
            <a:spLocks xmlns:a="http://schemas.openxmlformats.org/drawingml/2006/main" noGrp="1"/>
          </p:cNvSpPr>
          <p:nvPr/>
        </p:nvSpPr>
        <p:spPr>
          <a:xfrm xmlns:a="http://schemas.openxmlformats.org/drawingml/2006/main">
            <a:off x="685800" y="83820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6332E"/>
                </a:solidFill>
                <a:latin typeface="Arial"/>
                <a:ea typeface="Arial"/>
                <a:cs typeface="Arial"/>
              </a:defRPr>
            </a:defPPr>
          </a:lstStyle>
          <a:p xmlns:a="http://schemas.openxmlformats.org/drawingml/2006/main">
            <a:pPr algn="l">
              <a:defRPr sz="3300" b="1">
                <a:solidFill>
                  <a:srgbClr val="26332E"/>
                </a:solidFill>
                <a:latin typeface="Arial"/>
                <a:ea typeface="Arial"/>
                <a:cs typeface="Arial"/>
              </a:defRPr>
            </a:pPr>
            <a:r>
              <a:rPr sz="3300" b="1">
                <a:solidFill>
                  <a:srgbClr val="26332E"/>
                </a:solidFill>
                <a:latin typeface="Arial"/>
                <a:ea typeface="Arial"/>
                <a:cs typeface="Arial"/>
              </a:rPr>
              <a:t>The main limitations remain visible</a:t>
            </a:r>
          </a:p>
        </p:txBody>
      </p:sp>
      <p:sp>
        <p:nvSpPr>
          <p:cNvPr id="3" name="footer-label">
            <a:extLst xmlns:a="http://schemas.openxmlformats.org/drawingml/2006/main">
              <a:ext uri="{FF2B5EF4-FFF2-40B4-BE49-F238E27FC236}">
                <a16:creationId xmlns:a16="http://schemas.microsoft.com/office/drawing/2014/main" id="{891365F8-7CA2-429E-A8AF-1F6E8A7BBC59}"/>
              </a:ext>
            </a:extLst>
          </p:cNvPr>
          <p:cNvSpPr>
            <a:spLocks xmlns:a="http://schemas.openxmlformats.org/drawingml/2006/main" noGrp="1"/>
          </p:cNvSpPr>
          <p:nvPr/>
        </p:nvSpPr>
        <p:spPr>
          <a:xfrm xmlns:a="http://schemas.openxmlformats.org/drawingml/2006/main">
            <a:off x="685800" y="6505575"/>
            <a:ext cx="952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0">
                <a:solidFill>
                  <a:srgbClr val="66736C"/>
                </a:solidFill>
                <a:latin typeface="Arial"/>
                <a:ea typeface="Arial"/>
                <a:cs typeface="Arial"/>
              </a:defRPr>
            </a:defPPr>
          </a:lstStyle>
          <a:p xmlns:a="http://schemas.openxmlformats.org/drawingml/2006/main">
            <a:pPr algn="l">
              <a:defRPr sz="900" b="0">
                <a:solidFill>
                  <a:srgbClr val="66736C"/>
                </a:solidFill>
                <a:latin typeface="Arial"/>
                <a:ea typeface="Arial"/>
                <a:cs typeface="Arial"/>
              </a:defRPr>
            </a:pPr>
            <a:r>
              <a:rPr sz="900" b="0">
                <a:solidFill>
                  <a:srgbClr val="66736C"/>
                </a:solidFill>
                <a:latin typeface="Arial"/>
                <a:ea typeface="Arial"/>
                <a:cs typeface="Arial"/>
              </a:rPr>
              <a:t>ASPECT  /  PROJECT REFERENCE  /  1.0.0</a:t>
            </a:r>
          </a:p>
        </p:txBody>
      </p:sp>
      <p:sp>
        <p:nvSpPr>
          <p:cNvPr id="4" name="page-number">
            <a:extLst xmlns:a="http://schemas.openxmlformats.org/drawingml/2006/main">
              <a:ext uri="{FF2B5EF4-FFF2-40B4-BE49-F238E27FC236}">
                <a16:creationId xmlns:a16="http://schemas.microsoft.com/office/drawing/2014/main" id="{16563237-2ABD-45CF-9F8F-17946F7C03AC}"/>
              </a:ext>
            </a:extLst>
          </p:cNvPr>
          <p:cNvSpPr>
            <a:spLocks xmlns:a="http://schemas.openxmlformats.org/drawingml/2006/main" noGrp="1"/>
          </p:cNvSpPr>
          <p:nvPr/>
        </p:nvSpPr>
        <p:spPr>
          <a:xfrm xmlns:a="http://schemas.openxmlformats.org/drawingml/2006/main">
            <a:off x="10620375" y="6505575"/>
            <a:ext cx="8858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a:solidFill>
                  <a:srgbClr val="66736C"/>
                </a:solidFill>
                <a:latin typeface="Arial"/>
                <a:ea typeface="Arial"/>
                <a:cs typeface="Arial"/>
              </a:defRPr>
            </a:defPPr>
          </a:lstStyle>
          <a:p xmlns:a="http://schemas.openxmlformats.org/drawingml/2006/main">
            <a:pPr algn="r">
              <a:defRPr sz="900" b="0">
                <a:solidFill>
                  <a:srgbClr val="66736C"/>
                </a:solidFill>
                <a:latin typeface="Arial"/>
                <a:ea typeface="Arial"/>
                <a:cs typeface="Arial"/>
              </a:defRPr>
            </a:pPr>
            <a:r>
              <a:rPr sz="900" b="0">
                <a:solidFill>
                  <a:srgbClr val="66736C"/>
                </a:solidFill>
                <a:latin typeface="Arial"/>
                <a:ea typeface="Arial"/>
                <a:cs typeface="Arial"/>
              </a:rPr>
              <a:t>46 / 52</a:t>
            </a:r>
          </a:p>
        </p:txBody>
      </p:sp>
      <p:sp>
        <p:nvSpPr>
          <p:cNvPr id="5" name="context-note">
            <a:extLst xmlns:a="http://schemas.openxmlformats.org/drawingml/2006/main">
              <a:ext uri="{FF2B5EF4-FFF2-40B4-BE49-F238E27FC236}">
                <a16:creationId xmlns:a16="http://schemas.microsoft.com/office/drawing/2014/main" id="{29597C1D-B139-4F3C-9C7A-DBFB2EB8D463}"/>
              </a:ext>
            </a:extLst>
          </p:cNvPr>
          <p:cNvSpPr>
            <a:spLocks xmlns:a="http://schemas.openxmlformats.org/drawingml/2006/main" noGrp="1"/>
          </p:cNvSpPr>
          <p:nvPr/>
        </p:nvSpPr>
        <p:spPr>
          <a:xfrm xmlns:a="http://schemas.openxmlformats.org/drawingml/2006/main">
            <a:off x="685800" y="5924550"/>
            <a:ext cx="108204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39725C"/>
                </a:solidFill>
                <a:latin typeface="Arial"/>
                <a:ea typeface="Arial"/>
                <a:cs typeface="Arial"/>
              </a:defRPr>
            </a:defPPr>
          </a:lstStyle>
          <a:p xmlns:a="http://schemas.openxmlformats.org/drawingml/2006/main">
            <a:pPr algn="l">
              <a:defRPr sz="1725" b="0">
                <a:solidFill>
                  <a:srgbClr val="39725C"/>
                </a:solidFill>
                <a:latin typeface="Arial"/>
                <a:ea typeface="Arial"/>
                <a:cs typeface="Arial"/>
              </a:defRPr>
            </a:pPr>
            <a:r>
              <a:rPr sz="1725" b="0">
                <a:solidFill>
                  <a:srgbClr val="39725C"/>
                </a:solidFill>
                <a:latin typeface="Arial"/>
                <a:ea typeface="Arial"/>
                <a:cs typeface="Arial"/>
              </a:rPr>
              <a:t>Further research can add independent labels, smartphone transformer training and Hindi/Hinglish support.</a:t>
            </a:r>
          </a:p>
        </p:txBody>
      </p:sp>
      <p:sp>
        <p:nvSpPr>
          <p:cNvPr id="6" name="column-label-0">
            <a:extLst xmlns:a="http://schemas.openxmlformats.org/drawingml/2006/main">
              <a:ext uri="{FF2B5EF4-FFF2-40B4-BE49-F238E27FC236}">
                <a16:creationId xmlns:a16="http://schemas.microsoft.com/office/drawing/2014/main" id="{47219967-08C7-4157-9302-B863382C6F24}"/>
              </a:ext>
            </a:extLst>
          </p:cNvPr>
          <p:cNvSpPr>
            <a:spLocks xmlns:a="http://schemas.openxmlformats.org/drawingml/2006/main" noGrp="1"/>
          </p:cNvSpPr>
          <p:nvPr/>
        </p:nvSpPr>
        <p:spPr>
          <a:xfrm xmlns:a="http://schemas.openxmlformats.org/drawingml/2006/main">
            <a:off x="685800" y="1905000"/>
            <a:ext cx="52006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39725C"/>
                </a:solidFill>
                <a:latin typeface="Arial"/>
                <a:ea typeface="Arial"/>
                <a:cs typeface="Arial"/>
              </a:defRPr>
            </a:defPPr>
          </a:lstStyle>
          <a:p xmlns:a="http://schemas.openxmlformats.org/drawingml/2006/main">
            <a:pPr algn="l">
              <a:defRPr sz="2175" b="1">
                <a:solidFill>
                  <a:srgbClr val="39725C"/>
                </a:solidFill>
                <a:latin typeface="Arial"/>
                <a:ea typeface="Arial"/>
                <a:cs typeface="Arial"/>
              </a:defRPr>
            </a:pPr>
            <a:r>
              <a:rPr sz="2175" b="1">
                <a:solidFill>
                  <a:srgbClr val="39725C"/>
                </a:solidFill>
                <a:latin typeface="Arial"/>
                <a:ea typeface="Arial"/>
                <a:cs typeface="Arial"/>
              </a:rPr>
              <a:t>Prediction limits</a:t>
            </a:r>
          </a:p>
        </p:txBody>
      </p:sp>
      <p:sp>
        <p:nvSpPr>
          <p:cNvPr id="7" name="column-copy-0">
            <a:extLst xmlns:a="http://schemas.openxmlformats.org/drawingml/2006/main">
              <a:ext uri="{FF2B5EF4-FFF2-40B4-BE49-F238E27FC236}">
                <a16:creationId xmlns:a16="http://schemas.microsoft.com/office/drawing/2014/main" id="{2CCB0C7C-5217-43F2-8B7D-48529B0DA313}"/>
              </a:ext>
            </a:extLst>
          </p:cNvPr>
          <p:cNvSpPr>
            <a:spLocks xmlns:a="http://schemas.openxmlformats.org/drawingml/2006/main" noGrp="1"/>
          </p:cNvSpPr>
          <p:nvPr/>
        </p:nvSpPr>
        <p:spPr>
          <a:xfrm xmlns:a="http://schemas.openxmlformats.org/drawingml/2006/main">
            <a:off x="685800" y="2552700"/>
            <a:ext cx="520065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26332E"/>
                </a:solidFill>
                <a:latin typeface="Arial"/>
                <a:ea typeface="Arial"/>
                <a:cs typeface="Arial"/>
              </a:defRPr>
            </a:defPPr>
          </a:lstStyle>
          <a:p xmlns:a="http://schemas.openxmlformats.org/drawingml/2006/main">
            <a:pPr algn="l">
              <a:defRPr sz="2175" b="0">
                <a:solidFill>
                  <a:srgbClr val="26332E"/>
                </a:solidFill>
                <a:latin typeface="Arial"/>
                <a:ea typeface="Arial"/>
                <a:cs typeface="Arial"/>
              </a:defRPr>
            </a:pPr>
            <a:r>
              <a:rPr sz="2175" b="0">
                <a:solidFill>
                  <a:srgbClr val="26332E"/>
                </a:solidFill>
                <a:latin typeface="Arial"/>
                <a:ea typeface="Arial"/>
                <a:cs typeface="Arial"/>
              </a:rPr>
              <a:t>Explicit candidates can miss implicit features. Sarcasm, cross-sentence references and complex opinion attachment remain difficult.</a:t>
            </a:r>
          </a:p>
        </p:txBody>
      </p:sp>
      <p:sp>
        <p:nvSpPr>
          <p:cNvPr id="8" name="column-label-1">
            <a:extLst xmlns:a="http://schemas.openxmlformats.org/drawingml/2006/main">
              <a:ext uri="{FF2B5EF4-FFF2-40B4-BE49-F238E27FC236}">
                <a16:creationId xmlns:a16="http://schemas.microsoft.com/office/drawing/2014/main" id="{BCF72C51-3DE0-43E3-9D92-5CADC189AC67}"/>
              </a:ext>
            </a:extLst>
          </p:cNvPr>
          <p:cNvSpPr>
            <a:spLocks xmlns:a="http://schemas.openxmlformats.org/drawingml/2006/main" noGrp="1"/>
          </p:cNvSpPr>
          <p:nvPr/>
        </p:nvSpPr>
        <p:spPr>
          <a:xfrm xmlns:a="http://schemas.openxmlformats.org/drawingml/2006/main">
            <a:off x="6305550" y="1905000"/>
            <a:ext cx="52006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39725C"/>
                </a:solidFill>
                <a:latin typeface="Arial"/>
                <a:ea typeface="Arial"/>
                <a:cs typeface="Arial"/>
              </a:defRPr>
            </a:defPPr>
          </a:lstStyle>
          <a:p xmlns:a="http://schemas.openxmlformats.org/drawingml/2006/main">
            <a:pPr algn="l">
              <a:defRPr sz="2175" b="1">
                <a:solidFill>
                  <a:srgbClr val="39725C"/>
                </a:solidFill>
                <a:latin typeface="Arial"/>
                <a:ea typeface="Arial"/>
                <a:cs typeface="Arial"/>
              </a:defRPr>
            </a:pPr>
            <a:r>
              <a:rPr sz="2175" b="1">
                <a:solidFill>
                  <a:srgbClr val="39725C"/>
                </a:solidFill>
                <a:latin typeface="Arial"/>
                <a:ea typeface="Arial"/>
                <a:cs typeface="Arial"/>
              </a:rPr>
              <a:t>Evidence limits</a:t>
            </a:r>
          </a:p>
        </p:txBody>
      </p:sp>
      <p:sp>
        <p:nvSpPr>
          <p:cNvPr id="9" name="column-copy-1">
            <a:extLst xmlns:a="http://schemas.openxmlformats.org/drawingml/2006/main">
              <a:ext uri="{FF2B5EF4-FFF2-40B4-BE49-F238E27FC236}">
                <a16:creationId xmlns:a16="http://schemas.microsoft.com/office/drawing/2014/main" id="{8EF7D9F8-2F6D-4AA7-A837-6EAB5AF63387}"/>
              </a:ext>
            </a:extLst>
          </p:cNvPr>
          <p:cNvSpPr>
            <a:spLocks xmlns:a="http://schemas.openxmlformats.org/drawingml/2006/main" noGrp="1"/>
          </p:cNvSpPr>
          <p:nvPr/>
        </p:nvSpPr>
        <p:spPr>
          <a:xfrm xmlns:a="http://schemas.openxmlformats.org/drawingml/2006/main">
            <a:off x="6305550" y="2552700"/>
            <a:ext cx="520065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26332E"/>
                </a:solidFill>
                <a:latin typeface="Arial"/>
                <a:ea typeface="Arial"/>
                <a:cs typeface="Arial"/>
              </a:defRPr>
            </a:defPPr>
          </a:lstStyle>
          <a:p xmlns:a="http://schemas.openxmlformats.org/drawingml/2006/main">
            <a:pPr algn="l">
              <a:defRPr sz="2175" b="0">
                <a:solidFill>
                  <a:srgbClr val="26332E"/>
                </a:solidFill>
                <a:latin typeface="Arial"/>
                <a:ea typeface="Arial"/>
                <a:cs typeface="Arial"/>
              </a:defRPr>
            </a:pPr>
            <a:r>
              <a:rPr sz="2175" b="0">
                <a:solidFill>
                  <a:srgbClr val="26332E"/>
                </a:solidFill>
                <a:latin typeface="Arial"/>
                <a:ea typeface="Arial"/>
                <a:cs typeface="Arial"/>
              </a:rPr>
              <a:t>The corpus is historical and sampled. Labels are sparse and mostly assisted. The diagnostic has limited class and category coverage.</a:t>
            </a:r>
          </a:p>
        </p:txBody>
      </p:sp>
    </p:spTree>
    <p:extLst>
      <p:ext uri="{BB962C8B-B14F-4D97-AF65-F5344CB8AC3E}">
        <p14:creationId xmlns:p14="http://schemas.microsoft.com/office/powerpoint/2010/main" val="1991597586"/>
      </p:ext>
    </p:extLst>
  </p:cSld>
</p:sld>
</file>

<file path=ppt/slides/slide47.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6" name="chapter">
            <a:extLst xmlns:a="http://schemas.openxmlformats.org/drawingml/2006/main">
              <a:ext uri="{FF2B5EF4-FFF2-40B4-BE49-F238E27FC236}">
                <a16:creationId xmlns:a16="http://schemas.microsoft.com/office/drawing/2014/main" id="{CB0FFAAB-095F-4D14-A8CE-213524E4EF22}"/>
              </a:ext>
            </a:extLst>
          </p:cNvPr>
          <p:cNvSpPr>
            <a:spLocks xmlns:a="http://schemas.openxmlformats.org/drawingml/2006/main" noGrp="1"/>
          </p:cNvSpPr>
          <p:nvPr/>
        </p:nvSpPr>
        <p:spPr>
          <a:xfrm xmlns:a="http://schemas.openxmlformats.org/drawingml/2006/main">
            <a:off x="685800" y="381000"/>
            <a:ext cx="933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39725C"/>
                </a:solidFill>
                <a:latin typeface="Arial"/>
                <a:ea typeface="Arial"/>
                <a:cs typeface="Arial"/>
              </a:defRPr>
            </a:defPPr>
          </a:lstStyle>
          <a:p xmlns:a="http://schemas.openxmlformats.org/drawingml/2006/main">
            <a:pPr algn="l">
              <a:defRPr sz="1200" b="1">
                <a:solidFill>
                  <a:srgbClr val="39725C"/>
                </a:solidFill>
                <a:latin typeface="Arial"/>
                <a:ea typeface="Arial"/>
                <a:cs typeface="Arial"/>
              </a:defRPr>
            </a:pPr>
            <a:r>
              <a:rPr sz="1200" b="1">
                <a:solidFill>
                  <a:srgbClr val="39725C"/>
                </a:solidFill>
                <a:latin typeface="Arial"/>
                <a:ea typeface="Arial"/>
                <a:cs typeface="Arial"/>
              </a:rPr>
              <a:t>GLOSSARY</a:t>
            </a:r>
          </a:p>
        </p:txBody>
      </p:sp>
      <p:sp>
        <p:nvSpPr>
          <p:cNvPr id="2" name="primary-heading">
            <a:extLst xmlns:a="http://schemas.openxmlformats.org/drawingml/2006/main">
              <a:ext uri="{FF2B5EF4-FFF2-40B4-BE49-F238E27FC236}">
                <a16:creationId xmlns:a16="http://schemas.microsoft.com/office/drawing/2014/main" id="{3DBABE75-95A1-4985-A489-727326253919}"/>
              </a:ext>
            </a:extLst>
          </p:cNvPr>
          <p:cNvSpPr>
            <a:spLocks xmlns:a="http://schemas.openxmlformats.org/drawingml/2006/main" noGrp="1"/>
          </p:cNvSpPr>
          <p:nvPr/>
        </p:nvSpPr>
        <p:spPr>
          <a:xfrm xmlns:a="http://schemas.openxmlformats.org/drawingml/2006/main">
            <a:off x="685800" y="83820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6332E"/>
                </a:solidFill>
                <a:latin typeface="Arial"/>
                <a:ea typeface="Arial"/>
                <a:cs typeface="Arial"/>
              </a:defRPr>
            </a:defPPr>
          </a:lstStyle>
          <a:p xmlns:a="http://schemas.openxmlformats.org/drawingml/2006/main">
            <a:pPr algn="l">
              <a:defRPr sz="3300" b="1">
                <a:solidFill>
                  <a:srgbClr val="26332E"/>
                </a:solidFill>
                <a:latin typeface="Arial"/>
                <a:ea typeface="Arial"/>
                <a:cs typeface="Arial"/>
              </a:defRPr>
            </a:pPr>
            <a:r>
              <a:rPr sz="3300" b="1">
                <a:solidFill>
                  <a:srgbClr val="26332E"/>
                </a:solidFill>
                <a:latin typeface="Arial"/>
                <a:ea typeface="Arial"/>
                <a:cs typeface="Arial"/>
              </a:rPr>
              <a:t>Terms used throughout the project</a:t>
            </a:r>
          </a:p>
        </p:txBody>
      </p:sp>
      <p:sp>
        <p:nvSpPr>
          <p:cNvPr id="3" name="footer-label">
            <a:extLst xmlns:a="http://schemas.openxmlformats.org/drawingml/2006/main">
              <a:ext uri="{FF2B5EF4-FFF2-40B4-BE49-F238E27FC236}">
                <a16:creationId xmlns:a16="http://schemas.microsoft.com/office/drawing/2014/main" id="{B7EDCE3E-1DCC-45DA-AD89-3F95D8D9836B}"/>
              </a:ext>
            </a:extLst>
          </p:cNvPr>
          <p:cNvSpPr>
            <a:spLocks xmlns:a="http://schemas.openxmlformats.org/drawingml/2006/main" noGrp="1"/>
          </p:cNvSpPr>
          <p:nvPr/>
        </p:nvSpPr>
        <p:spPr>
          <a:xfrm xmlns:a="http://schemas.openxmlformats.org/drawingml/2006/main">
            <a:off x="685800" y="6505575"/>
            <a:ext cx="952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0">
                <a:solidFill>
                  <a:srgbClr val="66736C"/>
                </a:solidFill>
                <a:latin typeface="Arial"/>
                <a:ea typeface="Arial"/>
                <a:cs typeface="Arial"/>
              </a:defRPr>
            </a:defPPr>
          </a:lstStyle>
          <a:p xmlns:a="http://schemas.openxmlformats.org/drawingml/2006/main">
            <a:pPr algn="l">
              <a:defRPr sz="900" b="0">
                <a:solidFill>
                  <a:srgbClr val="66736C"/>
                </a:solidFill>
                <a:latin typeface="Arial"/>
                <a:ea typeface="Arial"/>
                <a:cs typeface="Arial"/>
              </a:defRPr>
            </a:pPr>
            <a:r>
              <a:rPr sz="900" b="0">
                <a:solidFill>
                  <a:srgbClr val="66736C"/>
                </a:solidFill>
                <a:latin typeface="Arial"/>
                <a:ea typeface="Arial"/>
                <a:cs typeface="Arial"/>
              </a:rPr>
              <a:t>ASPECT  /  PROJECT REFERENCE  /  1.0.0</a:t>
            </a:r>
          </a:p>
        </p:txBody>
      </p:sp>
      <p:sp>
        <p:nvSpPr>
          <p:cNvPr id="4" name="page-number">
            <a:extLst xmlns:a="http://schemas.openxmlformats.org/drawingml/2006/main">
              <a:ext uri="{FF2B5EF4-FFF2-40B4-BE49-F238E27FC236}">
                <a16:creationId xmlns:a16="http://schemas.microsoft.com/office/drawing/2014/main" id="{B7738E92-E2D4-453C-B78E-C96A3A7C74CB}"/>
              </a:ext>
            </a:extLst>
          </p:cNvPr>
          <p:cNvSpPr>
            <a:spLocks xmlns:a="http://schemas.openxmlformats.org/drawingml/2006/main" noGrp="1"/>
          </p:cNvSpPr>
          <p:nvPr/>
        </p:nvSpPr>
        <p:spPr>
          <a:xfrm xmlns:a="http://schemas.openxmlformats.org/drawingml/2006/main">
            <a:off x="10620375" y="6505575"/>
            <a:ext cx="8858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a:solidFill>
                  <a:srgbClr val="66736C"/>
                </a:solidFill>
                <a:latin typeface="Arial"/>
                <a:ea typeface="Arial"/>
                <a:cs typeface="Arial"/>
              </a:defRPr>
            </a:defPPr>
          </a:lstStyle>
          <a:p xmlns:a="http://schemas.openxmlformats.org/drawingml/2006/main">
            <a:pPr algn="r">
              <a:defRPr sz="900" b="0">
                <a:solidFill>
                  <a:srgbClr val="66736C"/>
                </a:solidFill>
                <a:latin typeface="Arial"/>
                <a:ea typeface="Arial"/>
                <a:cs typeface="Arial"/>
              </a:defRPr>
            </a:pPr>
            <a:r>
              <a:rPr sz="900" b="0">
                <a:solidFill>
                  <a:srgbClr val="66736C"/>
                </a:solidFill>
                <a:latin typeface="Arial"/>
                <a:ea typeface="Arial"/>
                <a:cs typeface="Arial"/>
              </a:rPr>
              <a:t>47 / 52</a:t>
            </a:r>
          </a:p>
        </p:txBody>
      </p:sp>
      <p:graphicFrame>
        <p:nvGraphicFramePr>
          <p:cNvPr id="5" name="">
            <a:extLst xmlns:a="http://schemas.openxmlformats.org/drawingml/2006/main">
              <a:ext uri="{FF2B5EF4-FFF2-40B4-BE49-F238E27FC236}">
                <a16:creationId xmlns:a16="http://schemas.microsoft.com/office/drawing/2014/main" id="{53244B54-059B-479D-AB78-A50C93331FD7}"/>
              </a:ext>
            </a:extLst>
          </p:cNvPr>
          <p:cNvGraphicFramePr/>
          <p:nvPr/>
        </p:nvGraphicFramePr>
        <p:xfrm>
          <a:off xmlns:a="http://schemas.openxmlformats.org/drawingml/2006/main" x="685800" y="1714500"/>
          <a:ext xmlns:a="http://schemas.openxmlformats.org/drawingml/2006/main" cx="10820400" cy="4419600"/>
        </p:xfrm>
        <a:graphic xmlns:a="http://schemas.openxmlformats.org/drawingml/2006/main">
          <a:graphicData uri="http://schemas.openxmlformats.org/drawingml/2006/table">
            <a:tbl>
              <a:tblPr firstRow="1" firstCol="0" lastCol="0" bandRow="0"/>
              <a:tblGrid>
                <a:gridCol w="2381250"/>
                <a:gridCol w="8439150"/>
              </a:tblGrid>
              <a:tr h="419100">
                <a:tc>
                  <a:txBody>
                    <a:bodyPr wrap="square">
                      <a:noAutofit/>
                    </a:bodyPr>
                    <a:lstStyle/>
                    <a:p>
                      <a:r>
                        <a:rPr sz="1650" b="1">
                          <a:solidFill>
                            <a:srgbClr val="FFFFFF"/>
                          </a:solidFill>
                          <a:latin typeface="Arial"/>
                          <a:ea typeface="Arial"/>
                          <a:cs typeface="Arial"/>
                        </a:rPr>
                        <a:t>Term</a:t>
                      </a:r>
                    </a:p>
                  </a:txBody>
                  <a:tcPr marL="114300" marR="114300" marT="47625" marB="47625" anchor="ctr">
                    <a:lnL w="6668">
                      <a:solidFill>
                        <a:srgbClr val="DCE3DA"/>
                      </a:solidFill>
                      <a:prstDash val="solid"/>
                    </a:lnL>
                    <a:lnR w="6668">
                      <a:solidFill>
                        <a:srgbClr val="DCE3DA"/>
                      </a:solidFill>
                      <a:prstDash val="solid"/>
                    </a:lnR>
                    <a:lnT w="6668">
                      <a:solidFill>
                        <a:srgbClr val="DCE3DA"/>
                      </a:solidFill>
                      <a:prstDash val="solid"/>
                    </a:lnT>
                    <a:lnB w="6668">
                      <a:solidFill>
                        <a:srgbClr val="DCE3DA"/>
                      </a:solidFill>
                      <a:prstDash val="solid"/>
                    </a:lnB>
                    <a:solidFill>
                      <a:srgbClr val="39725C"/>
                    </a:solidFill>
                  </a:tcPr>
                </a:tc>
                <a:tc>
                  <a:txBody>
                    <a:bodyPr wrap="square">
                      <a:noAutofit/>
                    </a:bodyPr>
                    <a:lstStyle/>
                    <a:p>
                      <a:r>
                        <a:rPr sz="1650" b="1">
                          <a:solidFill>
                            <a:srgbClr val="FFFFFF"/>
                          </a:solidFill>
                          <a:latin typeface="Arial"/>
                          <a:ea typeface="Arial"/>
                          <a:cs typeface="Arial"/>
                        </a:rPr>
                        <a:t>Meaning here</a:t>
                      </a:r>
                    </a:p>
                  </a:txBody>
                  <a:tcPr marL="114300" marR="114300" marT="47625" marB="47625" anchor="ctr">
                    <a:lnR w="6668">
                      <a:solidFill>
                        <a:srgbClr val="DCE3DA"/>
                      </a:solidFill>
                      <a:prstDash val="solid"/>
                    </a:lnR>
                    <a:lnT w="6668">
                      <a:solidFill>
                        <a:srgbClr val="DCE3DA"/>
                      </a:solidFill>
                      <a:prstDash val="solid"/>
                    </a:lnT>
                    <a:lnB w="6668">
                      <a:solidFill>
                        <a:srgbClr val="DCE3DA"/>
                      </a:solidFill>
                      <a:prstDash val="solid"/>
                    </a:lnB>
                    <a:solidFill>
                      <a:srgbClr val="39725C"/>
                    </a:solidFill>
                  </a:tcPr>
                </a:tc>
              </a:tr>
              <a:tr h="400050">
                <a:tc>
                  <a:txBody>
                    <a:bodyPr wrap="square">
                      <a:noAutofit/>
                    </a:bodyPr>
                    <a:lstStyle/>
                    <a:p>
                      <a:r>
                        <a:rPr sz="1725" b="1">
                          <a:solidFill>
                            <a:srgbClr val="26332E"/>
                          </a:solidFill>
                          <a:latin typeface="Arial"/>
                          <a:ea typeface="Arial"/>
                          <a:cs typeface="Arial"/>
                        </a:rPr>
                        <a:t>ABSA</a:t>
                      </a:r>
                    </a:p>
                  </a:txBody>
                  <a:tcPr marL="114300" marR="114300" marT="47625" marB="47625" anchor="ctr">
                    <a:lnL w="6668">
                      <a:solidFill>
                        <a:srgbClr val="DCE3DA"/>
                      </a:solidFill>
                      <a:prstDash val="solid"/>
                    </a:lnL>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Aspect-based sentiment analysis: feature detection with an attached opinion state.</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r>
              <a:tr h="400050">
                <a:tc>
                  <a:txBody>
                    <a:bodyPr wrap="square">
                      <a:noAutofit/>
                    </a:bodyPr>
                    <a:lstStyle/>
                    <a:p>
                      <a:r>
                        <a:rPr sz="1725" b="1">
                          <a:solidFill>
                            <a:srgbClr val="26332E"/>
                          </a:solidFill>
                          <a:latin typeface="Arial"/>
                          <a:ea typeface="Arial"/>
                          <a:cs typeface="Arial"/>
                        </a:rPr>
                        <a:t>Candidate</a:t>
                      </a:r>
                    </a:p>
                  </a:txBody>
                  <a:tcPr marL="114300" marR="114300" marT="47625" marB="47625" anchor="ctr">
                    <a:lnL w="6668">
                      <a:solidFill>
                        <a:srgbClr val="DCE3DA"/>
                      </a:solidFill>
                      <a:prstDash val="solid"/>
                    </a:lnL>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A category/context pair sent to a sentiment decision stage.</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r>
              <a:tr h="400050">
                <a:tc>
                  <a:txBody>
                    <a:bodyPr wrap="square">
                      <a:noAutofit/>
                    </a:bodyPr>
                    <a:lstStyle/>
                    <a:p>
                      <a:r>
                        <a:rPr sz="1725" b="1">
                          <a:solidFill>
                            <a:srgbClr val="26332E"/>
                          </a:solidFill>
                          <a:latin typeface="Arial"/>
                          <a:ea typeface="Arial"/>
                          <a:cs typeface="Arial"/>
                        </a:rPr>
                        <a:t>Polarity</a:t>
                      </a:r>
                    </a:p>
                  </a:txBody>
                  <a:tcPr marL="114300" marR="114300" marT="47625" marB="47625" anchor="ctr">
                    <a:lnL w="6668">
                      <a:solidFill>
                        <a:srgbClr val="DCE3DA"/>
                      </a:solidFill>
                      <a:prstDash val="solid"/>
                    </a:lnL>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Positive, negative or neutral sentiment for a mentioned aspect.</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r>
              <a:tr h="400050">
                <a:tc>
                  <a:txBody>
                    <a:bodyPr wrap="square">
                      <a:noAutofit/>
                    </a:bodyPr>
                    <a:lstStyle/>
                    <a:p>
                      <a:r>
                        <a:rPr sz="1725" b="1">
                          <a:solidFill>
                            <a:srgbClr val="26332E"/>
                          </a:solidFill>
                          <a:latin typeface="Arial"/>
                          <a:ea typeface="Arial"/>
                          <a:cs typeface="Arial"/>
                        </a:rPr>
                        <a:t>Tuple</a:t>
                      </a:r>
                    </a:p>
                  </a:txBody>
                  <a:tcPr marL="114300" marR="114300" marT="47625" marB="47625" anchor="ctr">
                    <a:lnL w="6668">
                      <a:solidFill>
                        <a:srgbClr val="DCE3DA"/>
                      </a:solidFill>
                      <a:prstDash val="solid"/>
                    </a:lnL>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A sentence, category and non-absent sentiment combination used for scoring.</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r>
              <a:tr h="400050">
                <a:tc>
                  <a:txBody>
                    <a:bodyPr wrap="square">
                      <a:noAutofit/>
                    </a:bodyPr>
                    <a:lstStyle/>
                    <a:p>
                      <a:r>
                        <a:rPr sz="1725" b="1">
                          <a:solidFill>
                            <a:srgbClr val="26332E"/>
                          </a:solidFill>
                          <a:latin typeface="Arial"/>
                          <a:ea typeface="Arial"/>
                          <a:cs typeface="Arial"/>
                        </a:rPr>
                        <a:t>TF-IDF</a:t>
                      </a:r>
                    </a:p>
                  </a:txBody>
                  <a:tcPr marL="114300" marR="114300" marT="47625" marB="47625" anchor="ctr">
                    <a:lnL w="6668">
                      <a:solidFill>
                        <a:srgbClr val="DCE3DA"/>
                      </a:solidFill>
                      <a:prstDash val="solid"/>
                    </a:lnL>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A numerical text representation based on term and document frequency.</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r>
              <a:tr h="400050">
                <a:tc>
                  <a:txBody>
                    <a:bodyPr wrap="square">
                      <a:noAutofit/>
                    </a:bodyPr>
                    <a:lstStyle/>
                    <a:p>
                      <a:r>
                        <a:rPr sz="1725" b="1">
                          <a:solidFill>
                            <a:srgbClr val="26332E"/>
                          </a:solidFill>
                          <a:latin typeface="Arial"/>
                          <a:ea typeface="Arial"/>
                          <a:cs typeface="Arial"/>
                        </a:rPr>
                        <a:t>Checkpoint</a:t>
                      </a:r>
                    </a:p>
                  </a:txBody>
                  <a:tcPr marL="114300" marR="114300" marT="47625" marB="47625" anchor="ctr">
                    <a:lnL w="6668">
                      <a:solidFill>
                        <a:srgbClr val="DCE3DA"/>
                      </a:solidFill>
                      <a:prstDash val="solid"/>
                    </a:lnL>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Saved learned model weights and the configuration needed to load them.</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r>
              <a:tr h="400050">
                <a:tc>
                  <a:txBody>
                    <a:bodyPr wrap="square">
                      <a:noAutofit/>
                    </a:bodyPr>
                    <a:lstStyle/>
                    <a:p>
                      <a:r>
                        <a:rPr sz="1725" b="1">
                          <a:solidFill>
                            <a:srgbClr val="26332E"/>
                          </a:solidFill>
                          <a:latin typeface="Arial"/>
                          <a:ea typeface="Arial"/>
                          <a:cs typeface="Arial"/>
                        </a:rPr>
                        <a:t>Pseudo label</a:t>
                      </a:r>
                    </a:p>
                  </a:txBody>
                  <a:tcPr marL="114300" marR="114300" marT="47625" marB="47625" anchor="ctr">
                    <a:lnL w="6668">
                      <a:solidFill>
                        <a:srgbClr val="DCE3DA"/>
                      </a:solidFill>
                      <a:prstDash val="solid"/>
                    </a:lnL>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A training target generated by a model rather than an independent person.</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r>
              <a:tr h="400050">
                <a:tc>
                  <a:txBody>
                    <a:bodyPr wrap="square">
                      <a:noAutofit/>
                    </a:bodyPr>
                    <a:lstStyle/>
                    <a:p>
                      <a:r>
                        <a:rPr sz="1725" b="1">
                          <a:solidFill>
                            <a:srgbClr val="26332E"/>
                          </a:solidFill>
                          <a:latin typeface="Arial"/>
                          <a:ea typeface="Arial"/>
                          <a:cs typeface="Arial"/>
                        </a:rPr>
                        <a:t>Leakage</a:t>
                      </a:r>
                    </a:p>
                  </a:txBody>
                  <a:tcPr marL="114300" marR="114300" marT="47625" marB="47625" anchor="ctr">
                    <a:lnL w="6668">
                      <a:solidFill>
                        <a:srgbClr val="DCE3DA"/>
                      </a:solidFill>
                      <a:prstDash val="solid"/>
                    </a:lnL>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Information crossing a boundary that should separate training and evaluation.</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r>
              <a:tr h="400050">
                <a:tc>
                  <a:txBody>
                    <a:bodyPr wrap="square">
                      <a:noAutofit/>
                    </a:bodyPr>
                    <a:lstStyle/>
                    <a:p>
                      <a:r>
                        <a:rPr sz="1725" b="1">
                          <a:solidFill>
                            <a:srgbClr val="26332E"/>
                          </a:solidFill>
                          <a:latin typeface="Arial"/>
                          <a:ea typeface="Arial"/>
                          <a:cs typeface="Arial"/>
                        </a:rPr>
                        <a:t>Provenance</a:t>
                      </a:r>
                    </a:p>
                  </a:txBody>
                  <a:tcPr marL="114300" marR="114300" marT="47625" marB="47625" anchor="ctr">
                    <a:lnL w="6668">
                      <a:solidFill>
                        <a:srgbClr val="DCE3DA"/>
                      </a:solidFill>
                      <a:prstDash val="solid"/>
                    </a:lnL>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The recorded origin and identity of data, labels, code and artifacts.</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r>
              <a:tr h="400050">
                <a:tc>
                  <a:txBody>
                    <a:bodyPr wrap="square">
                      <a:noAutofit/>
                    </a:bodyPr>
                    <a:lstStyle/>
                    <a:p>
                      <a:r>
                        <a:rPr sz="1725" b="1">
                          <a:solidFill>
                            <a:srgbClr val="26332E"/>
                          </a:solidFill>
                          <a:latin typeface="Arial"/>
                          <a:ea typeface="Arial"/>
                          <a:cs typeface="Arial"/>
                        </a:rPr>
                        <a:t>Gold reference</a:t>
                      </a:r>
                    </a:p>
                  </a:txBody>
                  <a:tcPr marL="114300" marR="114300" marT="47625" marB="47625" anchor="ctr">
                    <a:lnL w="6668">
                      <a:solidFill>
                        <a:srgbClr val="DCE3DA"/>
                      </a:solidFill>
                      <a:prstDash val="solid"/>
                    </a:lnL>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The decisions against which predictions are compared, with origin disclosed.</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r>
            </a:tbl>
          </a:graphicData>
        </a:graphic>
      </p:graphicFrame>
    </p:spTree>
    <p:extLst>
      <p:ext uri="{BB962C8B-B14F-4D97-AF65-F5344CB8AC3E}">
        <p14:creationId xmlns:p14="http://schemas.microsoft.com/office/powerpoint/2010/main" val="768242865"/>
      </p:ext>
    </p:extLst>
  </p:cSld>
</p:sld>
</file>

<file path=ppt/slides/slide48.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10" name="chapter">
            <a:extLst xmlns:a="http://schemas.openxmlformats.org/drawingml/2006/main">
              <a:ext uri="{FF2B5EF4-FFF2-40B4-BE49-F238E27FC236}">
                <a16:creationId xmlns:a16="http://schemas.microsoft.com/office/drawing/2014/main" id="{ED426772-7F46-4138-B9C9-ED232A340EFF}"/>
              </a:ext>
            </a:extLst>
          </p:cNvPr>
          <p:cNvSpPr>
            <a:spLocks xmlns:a="http://schemas.openxmlformats.org/drawingml/2006/main" noGrp="1"/>
          </p:cNvSpPr>
          <p:nvPr/>
        </p:nvSpPr>
        <p:spPr>
          <a:xfrm xmlns:a="http://schemas.openxmlformats.org/drawingml/2006/main">
            <a:off x="685800" y="381000"/>
            <a:ext cx="933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39725C"/>
                </a:solidFill>
                <a:latin typeface="Arial"/>
                <a:ea typeface="Arial"/>
                <a:cs typeface="Arial"/>
              </a:defRPr>
            </a:defPPr>
          </a:lstStyle>
          <a:p xmlns:a="http://schemas.openxmlformats.org/drawingml/2006/main">
            <a:pPr algn="l">
              <a:defRPr sz="1200" b="1">
                <a:solidFill>
                  <a:srgbClr val="39725C"/>
                </a:solidFill>
                <a:latin typeface="Arial"/>
                <a:ea typeface="Arial"/>
                <a:cs typeface="Arial"/>
              </a:defRPr>
            </a:pPr>
            <a:r>
              <a:rPr sz="1200" b="1">
                <a:solidFill>
                  <a:srgbClr val="39725C"/>
                </a:solidFill>
                <a:latin typeface="Arial"/>
                <a:ea typeface="Arial"/>
                <a:cs typeface="Arial"/>
              </a:rPr>
              <a:t>FURTHER READING</a:t>
            </a:r>
          </a:p>
        </p:txBody>
      </p:sp>
      <p:sp>
        <p:nvSpPr>
          <p:cNvPr id="2" name="primary-heading">
            <a:extLst xmlns:a="http://schemas.openxmlformats.org/drawingml/2006/main">
              <a:ext uri="{FF2B5EF4-FFF2-40B4-BE49-F238E27FC236}">
                <a16:creationId xmlns:a16="http://schemas.microsoft.com/office/drawing/2014/main" id="{23C9AB28-B15C-49B1-A687-CD4F7D4F2963}"/>
              </a:ext>
            </a:extLst>
          </p:cNvPr>
          <p:cNvSpPr>
            <a:spLocks xmlns:a="http://schemas.openxmlformats.org/drawingml/2006/main" noGrp="1"/>
          </p:cNvSpPr>
          <p:nvPr/>
        </p:nvSpPr>
        <p:spPr>
          <a:xfrm xmlns:a="http://schemas.openxmlformats.org/drawingml/2006/main">
            <a:off x="685800" y="83820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6332E"/>
                </a:solidFill>
                <a:latin typeface="Arial"/>
                <a:ea typeface="Arial"/>
                <a:cs typeface="Arial"/>
              </a:defRPr>
            </a:defPPr>
          </a:lstStyle>
          <a:p xmlns:a="http://schemas.openxmlformats.org/drawingml/2006/main">
            <a:pPr algn="l">
              <a:defRPr sz="3300" b="1">
                <a:solidFill>
                  <a:srgbClr val="26332E"/>
                </a:solidFill>
                <a:latin typeface="Arial"/>
                <a:ea typeface="Arial"/>
                <a:cs typeface="Arial"/>
              </a:defRPr>
            </a:pPr>
            <a:r>
              <a:rPr sz="3300" b="1">
                <a:solidFill>
                  <a:srgbClr val="26332E"/>
                </a:solidFill>
                <a:latin typeface="Arial"/>
                <a:ea typeface="Arial"/>
                <a:cs typeface="Arial"/>
              </a:rPr>
              <a:t>The project’s primary references</a:t>
            </a:r>
          </a:p>
        </p:txBody>
      </p:sp>
      <p:sp>
        <p:nvSpPr>
          <p:cNvPr id="3" name="footer-label">
            <a:extLst xmlns:a="http://schemas.openxmlformats.org/drawingml/2006/main">
              <a:ext uri="{FF2B5EF4-FFF2-40B4-BE49-F238E27FC236}">
                <a16:creationId xmlns:a16="http://schemas.microsoft.com/office/drawing/2014/main" id="{0B991269-70F7-43ED-8E1D-E2A0E7A525CD}"/>
              </a:ext>
            </a:extLst>
          </p:cNvPr>
          <p:cNvSpPr>
            <a:spLocks xmlns:a="http://schemas.openxmlformats.org/drawingml/2006/main" noGrp="1"/>
          </p:cNvSpPr>
          <p:nvPr/>
        </p:nvSpPr>
        <p:spPr>
          <a:xfrm xmlns:a="http://schemas.openxmlformats.org/drawingml/2006/main">
            <a:off x="685800" y="6505575"/>
            <a:ext cx="952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0">
                <a:solidFill>
                  <a:srgbClr val="66736C"/>
                </a:solidFill>
                <a:latin typeface="Arial"/>
                <a:ea typeface="Arial"/>
                <a:cs typeface="Arial"/>
              </a:defRPr>
            </a:defPPr>
          </a:lstStyle>
          <a:p xmlns:a="http://schemas.openxmlformats.org/drawingml/2006/main">
            <a:pPr algn="l">
              <a:defRPr sz="900" b="0">
                <a:solidFill>
                  <a:srgbClr val="66736C"/>
                </a:solidFill>
                <a:latin typeface="Arial"/>
                <a:ea typeface="Arial"/>
                <a:cs typeface="Arial"/>
              </a:defRPr>
            </a:pPr>
            <a:r>
              <a:rPr sz="900" b="0">
                <a:solidFill>
                  <a:srgbClr val="66736C"/>
                </a:solidFill>
                <a:latin typeface="Arial"/>
                <a:ea typeface="Arial"/>
                <a:cs typeface="Arial"/>
              </a:rPr>
              <a:t>ASPECT  /  PROJECT REFERENCE  /  1.0.0</a:t>
            </a:r>
          </a:p>
        </p:txBody>
      </p:sp>
      <p:sp>
        <p:nvSpPr>
          <p:cNvPr id="4" name="page-number">
            <a:extLst xmlns:a="http://schemas.openxmlformats.org/drawingml/2006/main">
              <a:ext uri="{FF2B5EF4-FFF2-40B4-BE49-F238E27FC236}">
                <a16:creationId xmlns:a16="http://schemas.microsoft.com/office/drawing/2014/main" id="{4A4AE473-8E5A-475A-AD6A-0A0028721043}"/>
              </a:ext>
            </a:extLst>
          </p:cNvPr>
          <p:cNvSpPr>
            <a:spLocks xmlns:a="http://schemas.openxmlformats.org/drawingml/2006/main" noGrp="1"/>
          </p:cNvSpPr>
          <p:nvPr/>
        </p:nvSpPr>
        <p:spPr>
          <a:xfrm xmlns:a="http://schemas.openxmlformats.org/drawingml/2006/main">
            <a:off x="10620375" y="6505575"/>
            <a:ext cx="8858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a:solidFill>
                  <a:srgbClr val="66736C"/>
                </a:solidFill>
                <a:latin typeface="Arial"/>
                <a:ea typeface="Arial"/>
                <a:cs typeface="Arial"/>
              </a:defRPr>
            </a:defPPr>
          </a:lstStyle>
          <a:p xmlns:a="http://schemas.openxmlformats.org/drawingml/2006/main">
            <a:pPr algn="r">
              <a:defRPr sz="900" b="0">
                <a:solidFill>
                  <a:srgbClr val="66736C"/>
                </a:solidFill>
                <a:latin typeface="Arial"/>
                <a:ea typeface="Arial"/>
                <a:cs typeface="Arial"/>
              </a:defRPr>
            </a:pPr>
            <a:r>
              <a:rPr sz="900" b="0">
                <a:solidFill>
                  <a:srgbClr val="66736C"/>
                </a:solidFill>
                <a:latin typeface="Arial"/>
                <a:ea typeface="Arial"/>
                <a:cs typeface="Arial"/>
              </a:rPr>
              <a:t>48 / 52</a:t>
            </a:r>
          </a:p>
        </p:txBody>
      </p:sp>
      <p:sp>
        <p:nvSpPr>
          <p:cNvPr id="5" name="context-note">
            <a:extLst xmlns:a="http://schemas.openxmlformats.org/drawingml/2006/main">
              <a:ext uri="{FF2B5EF4-FFF2-40B4-BE49-F238E27FC236}">
                <a16:creationId xmlns:a16="http://schemas.microsoft.com/office/drawing/2014/main" id="{B612AA55-304A-458A-95A3-D5613CC01D9E}"/>
              </a:ext>
            </a:extLst>
          </p:cNvPr>
          <p:cNvSpPr>
            <a:spLocks xmlns:a="http://schemas.openxmlformats.org/drawingml/2006/main" noGrp="1"/>
          </p:cNvSpPr>
          <p:nvPr/>
        </p:nvSpPr>
        <p:spPr>
          <a:xfrm xmlns:a="http://schemas.openxmlformats.org/drawingml/2006/main">
            <a:off x="685800" y="5924550"/>
            <a:ext cx="108204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39725C"/>
                </a:solidFill>
                <a:latin typeface="Arial"/>
                <a:ea typeface="Arial"/>
                <a:cs typeface="Arial"/>
              </a:defRPr>
            </a:defPPr>
          </a:lstStyle>
          <a:p xmlns:a="http://schemas.openxmlformats.org/drawingml/2006/main">
            <a:pPr algn="l">
              <a:defRPr sz="1725" b="0">
                <a:solidFill>
                  <a:srgbClr val="39725C"/>
                </a:solidFill>
                <a:latin typeface="Arial"/>
                <a:ea typeface="Arial"/>
                <a:cs typeface="Arial"/>
              </a:defRPr>
            </a:pPr>
            <a:r>
              <a:rPr sz="1725" b="0">
                <a:solidFill>
                  <a:srgbClr val="39725C"/>
                </a:solidFill>
                <a:latin typeface="Arial"/>
                <a:ea typeface="Arial"/>
                <a:cs typeface="Arial"/>
              </a:rPr>
              <a:t>The Notes pane contains direct references for each slide. The appendix provides code-level lookup tables.</a:t>
            </a:r>
          </a:p>
        </p:txBody>
      </p:sp>
      <p:sp>
        <p:nvSpPr>
          <p:cNvPr id="6" name="column-label-0">
            <a:extLst xmlns:a="http://schemas.openxmlformats.org/drawingml/2006/main">
              <a:ext uri="{FF2B5EF4-FFF2-40B4-BE49-F238E27FC236}">
                <a16:creationId xmlns:a16="http://schemas.microsoft.com/office/drawing/2014/main" id="{D1E0FEA1-9CAD-47DA-9172-46E5A8D50793}"/>
              </a:ext>
            </a:extLst>
          </p:cNvPr>
          <p:cNvSpPr>
            <a:spLocks xmlns:a="http://schemas.openxmlformats.org/drawingml/2006/main" noGrp="1"/>
          </p:cNvSpPr>
          <p:nvPr/>
        </p:nvSpPr>
        <p:spPr>
          <a:xfrm xmlns:a="http://schemas.openxmlformats.org/drawingml/2006/main">
            <a:off x="685800" y="1905000"/>
            <a:ext cx="52006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39725C"/>
                </a:solidFill>
                <a:latin typeface="Arial"/>
                <a:ea typeface="Arial"/>
                <a:cs typeface="Arial"/>
              </a:defRPr>
            </a:defPPr>
          </a:lstStyle>
          <a:p xmlns:a="http://schemas.openxmlformats.org/drawingml/2006/main">
            <a:pPr algn="l">
              <a:defRPr sz="2175" b="1">
                <a:solidFill>
                  <a:srgbClr val="39725C"/>
                </a:solidFill>
                <a:latin typeface="Arial"/>
                <a:ea typeface="Arial"/>
                <a:cs typeface="Arial"/>
              </a:defRPr>
            </a:pPr>
            <a:r>
              <a:rPr sz="2175" b="1">
                <a:solidFill>
                  <a:srgbClr val="39725C"/>
                </a:solidFill>
                <a:latin typeface="Arial"/>
                <a:ea typeface="Arial"/>
                <a:cs typeface="Arial"/>
              </a:rPr>
              <a:t>Project records</a:t>
            </a:r>
          </a:p>
        </p:txBody>
      </p:sp>
      <p:sp>
        <p:nvSpPr>
          <p:cNvPr id="7" name="column-copy-0">
            <a:extLst xmlns:a="http://schemas.openxmlformats.org/drawingml/2006/main">
              <a:ext uri="{FF2B5EF4-FFF2-40B4-BE49-F238E27FC236}">
                <a16:creationId xmlns:a16="http://schemas.microsoft.com/office/drawing/2014/main" id="{EAA99D28-8E7C-4647-B834-4B8BE1959DD9}"/>
              </a:ext>
            </a:extLst>
          </p:cNvPr>
          <p:cNvSpPr>
            <a:spLocks xmlns:a="http://schemas.openxmlformats.org/drawingml/2006/main" noGrp="1"/>
          </p:cNvSpPr>
          <p:nvPr/>
        </p:nvSpPr>
        <p:spPr>
          <a:xfrm xmlns:a="http://schemas.openxmlformats.org/drawingml/2006/main">
            <a:off x="685800" y="2552700"/>
            <a:ext cx="520065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26332E"/>
                </a:solidFill>
                <a:latin typeface="Arial"/>
                <a:ea typeface="Arial"/>
                <a:cs typeface="Arial"/>
              </a:defRPr>
            </a:defPPr>
          </a:lstStyle>
          <a:p xmlns:a="http://schemas.openxmlformats.org/drawingml/2006/main">
            <a:pPr algn="l">
              <a:defRPr sz="2175" b="0">
                <a:solidFill>
                  <a:srgbClr val="26332E"/>
                </a:solidFill>
                <a:latin typeface="Arial"/>
                <a:ea typeface="Arial"/>
                <a:cs typeface="Arial"/>
              </a:defRPr>
            </a:pPr>
            <a:r>
              <a:rPr sz="2175" b="0">
                <a:solidFill>
                  <a:srgbClr val="26332E"/>
                </a:solidFill>
                <a:latin typeface="Arial"/>
                <a:ea typeface="Arial"/>
                <a:cs typeface="Arial"/>
              </a:rPr>
              <a:t>README and app guide for behaviour. Modeling and annotation guides for decisions. Results and quality records for measured evidence.</a:t>
            </a:r>
          </a:p>
        </p:txBody>
      </p:sp>
      <p:sp>
        <p:nvSpPr>
          <p:cNvPr id="8" name="column-label-1">
            <a:extLst xmlns:a="http://schemas.openxmlformats.org/drawingml/2006/main">
              <a:ext uri="{FF2B5EF4-FFF2-40B4-BE49-F238E27FC236}">
                <a16:creationId xmlns:a16="http://schemas.microsoft.com/office/drawing/2014/main" id="{AC318861-E863-45C5-A317-20C6BF417682}"/>
              </a:ext>
            </a:extLst>
          </p:cNvPr>
          <p:cNvSpPr>
            <a:spLocks xmlns:a="http://schemas.openxmlformats.org/drawingml/2006/main" noGrp="1"/>
          </p:cNvSpPr>
          <p:nvPr/>
        </p:nvSpPr>
        <p:spPr>
          <a:xfrm xmlns:a="http://schemas.openxmlformats.org/drawingml/2006/main">
            <a:off x="6305550" y="1905000"/>
            <a:ext cx="52006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39725C"/>
                </a:solidFill>
                <a:latin typeface="Arial"/>
                <a:ea typeface="Arial"/>
                <a:cs typeface="Arial"/>
              </a:defRPr>
            </a:defPPr>
          </a:lstStyle>
          <a:p xmlns:a="http://schemas.openxmlformats.org/drawingml/2006/main">
            <a:pPr algn="l">
              <a:defRPr sz="2175" b="1">
                <a:solidFill>
                  <a:srgbClr val="39725C"/>
                </a:solidFill>
                <a:latin typeface="Arial"/>
                <a:ea typeface="Arial"/>
                <a:cs typeface="Arial"/>
              </a:defRPr>
            </a:pPr>
            <a:r>
              <a:rPr sz="2175" b="1">
                <a:solidFill>
                  <a:srgbClr val="39725C"/>
                </a:solidFill>
                <a:latin typeface="Arial"/>
                <a:ea typeface="Arial"/>
                <a:cs typeface="Arial"/>
              </a:rPr>
              <a:t>External sources</a:t>
            </a:r>
          </a:p>
        </p:txBody>
      </p:sp>
      <p:sp>
        <p:nvSpPr>
          <p:cNvPr id="9" name="column-copy-1">
            <a:extLst xmlns:a="http://schemas.openxmlformats.org/drawingml/2006/main">
              <a:ext uri="{FF2B5EF4-FFF2-40B4-BE49-F238E27FC236}">
                <a16:creationId xmlns:a16="http://schemas.microsoft.com/office/drawing/2014/main" id="{B750956C-5D5E-425F-BF75-0FDB793DE230}"/>
              </a:ext>
            </a:extLst>
          </p:cNvPr>
          <p:cNvSpPr>
            <a:spLocks xmlns:a="http://schemas.openxmlformats.org/drawingml/2006/main" noGrp="1"/>
          </p:cNvSpPr>
          <p:nvPr/>
        </p:nvSpPr>
        <p:spPr>
          <a:xfrm xmlns:a="http://schemas.openxmlformats.org/drawingml/2006/main">
            <a:off x="6305550" y="2552700"/>
            <a:ext cx="520065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26332E"/>
                </a:solidFill>
                <a:latin typeface="Arial"/>
                <a:ea typeface="Arial"/>
                <a:cs typeface="Arial"/>
              </a:defRPr>
            </a:defPPr>
          </a:lstStyle>
          <a:p xmlns:a="http://schemas.openxmlformats.org/drawingml/2006/main">
            <a:pPr algn="l">
              <a:defRPr sz="2175" b="0">
                <a:solidFill>
                  <a:srgbClr val="26332E"/>
                </a:solidFill>
                <a:latin typeface="Arial"/>
                <a:ea typeface="Arial"/>
                <a:cs typeface="Arial"/>
              </a:defRPr>
            </a:pPr>
            <a:r>
              <a:rPr sz="2175" b="0">
                <a:solidFill>
                  <a:srgbClr val="26332E"/>
                </a:solidFill>
                <a:latin typeface="Arial"/>
                <a:ea typeface="Arial"/>
                <a:cs typeface="Arial"/>
              </a:rPr>
              <a:t>The fixed Kaggle dataset version, pinned Hugging Face model card and official scikit-learn documentation.</a:t>
            </a:r>
          </a:p>
        </p:txBody>
      </p:sp>
    </p:spTree>
    <p:extLst>
      <p:ext uri="{BB962C8B-B14F-4D97-AF65-F5344CB8AC3E}">
        <p14:creationId xmlns:p14="http://schemas.microsoft.com/office/powerpoint/2010/main" val="2145620296"/>
      </p:ext>
    </p:extLst>
  </p:cSld>
</p:sld>
</file>

<file path=ppt/slides/slide49.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6" name="chapter">
            <a:extLst xmlns:a="http://schemas.openxmlformats.org/drawingml/2006/main">
              <a:ext uri="{FF2B5EF4-FFF2-40B4-BE49-F238E27FC236}">
                <a16:creationId xmlns:a16="http://schemas.microsoft.com/office/drawing/2014/main" id="{8BAA35A0-194F-4794-B997-F4A96C8359AD}"/>
              </a:ext>
            </a:extLst>
          </p:cNvPr>
          <p:cNvSpPr>
            <a:spLocks xmlns:a="http://schemas.openxmlformats.org/drawingml/2006/main" noGrp="1"/>
          </p:cNvSpPr>
          <p:nvPr/>
        </p:nvSpPr>
        <p:spPr>
          <a:xfrm xmlns:a="http://schemas.openxmlformats.org/drawingml/2006/main">
            <a:off x="685800" y="381000"/>
            <a:ext cx="933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39725C"/>
                </a:solidFill>
                <a:latin typeface="Arial"/>
                <a:ea typeface="Arial"/>
                <a:cs typeface="Arial"/>
              </a:defRPr>
            </a:defPPr>
          </a:lstStyle>
          <a:p xmlns:a="http://schemas.openxmlformats.org/drawingml/2006/main">
            <a:pPr algn="l">
              <a:defRPr sz="1200" b="1">
                <a:solidFill>
                  <a:srgbClr val="39725C"/>
                </a:solidFill>
                <a:latin typeface="Arial"/>
                <a:ea typeface="Arial"/>
                <a:cs typeface="Arial"/>
              </a:defRPr>
            </a:pPr>
            <a:r>
              <a:rPr sz="1200" b="1">
                <a:solidFill>
                  <a:srgbClr val="39725C"/>
                </a:solidFill>
                <a:latin typeface="Arial"/>
                <a:ea typeface="Arial"/>
                <a:cs typeface="Arial"/>
              </a:rPr>
              <a:t>APPENDIX A</a:t>
            </a:r>
          </a:p>
        </p:txBody>
      </p:sp>
      <p:sp>
        <p:nvSpPr>
          <p:cNvPr id="2" name="primary-heading">
            <a:extLst xmlns:a="http://schemas.openxmlformats.org/drawingml/2006/main">
              <a:ext uri="{FF2B5EF4-FFF2-40B4-BE49-F238E27FC236}">
                <a16:creationId xmlns:a16="http://schemas.microsoft.com/office/drawing/2014/main" id="{962BAA2A-915E-43D0-BD0D-43C0290926CA}"/>
              </a:ext>
            </a:extLst>
          </p:cNvPr>
          <p:cNvSpPr>
            <a:spLocks xmlns:a="http://schemas.openxmlformats.org/drawingml/2006/main" noGrp="1"/>
          </p:cNvSpPr>
          <p:nvPr/>
        </p:nvSpPr>
        <p:spPr>
          <a:xfrm xmlns:a="http://schemas.openxmlformats.org/drawingml/2006/main">
            <a:off x="685800" y="83820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6332E"/>
                </a:solidFill>
                <a:latin typeface="Arial"/>
                <a:ea typeface="Arial"/>
                <a:cs typeface="Arial"/>
              </a:defRPr>
            </a:defPPr>
          </a:lstStyle>
          <a:p xmlns:a="http://schemas.openxmlformats.org/drawingml/2006/main">
            <a:pPr algn="l">
              <a:defRPr sz="3300" b="1">
                <a:solidFill>
                  <a:srgbClr val="26332E"/>
                </a:solidFill>
                <a:latin typeface="Arial"/>
                <a:ea typeface="Arial"/>
                <a:cs typeface="Arial"/>
              </a:defRPr>
            </a:pPr>
            <a:r>
              <a:rPr sz="3300" b="1">
                <a:solidFill>
                  <a:srgbClr val="26332E"/>
                </a:solidFill>
                <a:latin typeface="Arial"/>
                <a:ea typeface="Arial"/>
                <a:cs typeface="Arial"/>
              </a:rPr>
              <a:t>The 12 selected listings</a:t>
            </a:r>
          </a:p>
        </p:txBody>
      </p:sp>
      <p:sp>
        <p:nvSpPr>
          <p:cNvPr id="3" name="footer-label">
            <a:extLst xmlns:a="http://schemas.openxmlformats.org/drawingml/2006/main">
              <a:ext uri="{FF2B5EF4-FFF2-40B4-BE49-F238E27FC236}">
                <a16:creationId xmlns:a16="http://schemas.microsoft.com/office/drawing/2014/main" id="{2A43B3C1-A911-4DE5-9493-E1EF6F03240F}"/>
              </a:ext>
            </a:extLst>
          </p:cNvPr>
          <p:cNvSpPr>
            <a:spLocks xmlns:a="http://schemas.openxmlformats.org/drawingml/2006/main" noGrp="1"/>
          </p:cNvSpPr>
          <p:nvPr/>
        </p:nvSpPr>
        <p:spPr>
          <a:xfrm xmlns:a="http://schemas.openxmlformats.org/drawingml/2006/main">
            <a:off x="685800" y="6505575"/>
            <a:ext cx="952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0">
                <a:solidFill>
                  <a:srgbClr val="66736C"/>
                </a:solidFill>
                <a:latin typeface="Arial"/>
                <a:ea typeface="Arial"/>
                <a:cs typeface="Arial"/>
              </a:defRPr>
            </a:defPPr>
          </a:lstStyle>
          <a:p xmlns:a="http://schemas.openxmlformats.org/drawingml/2006/main">
            <a:pPr algn="l">
              <a:defRPr sz="900" b="0">
                <a:solidFill>
                  <a:srgbClr val="66736C"/>
                </a:solidFill>
                <a:latin typeface="Arial"/>
                <a:ea typeface="Arial"/>
                <a:cs typeface="Arial"/>
              </a:defRPr>
            </a:pPr>
            <a:r>
              <a:rPr sz="900" b="0">
                <a:solidFill>
                  <a:srgbClr val="66736C"/>
                </a:solidFill>
                <a:latin typeface="Arial"/>
                <a:ea typeface="Arial"/>
                <a:cs typeface="Arial"/>
              </a:rPr>
              <a:t>ASPECT  /  PROJECT REFERENCE  /  1.0.0</a:t>
            </a:r>
          </a:p>
        </p:txBody>
      </p:sp>
      <p:sp>
        <p:nvSpPr>
          <p:cNvPr id="4" name="page-number">
            <a:extLst xmlns:a="http://schemas.openxmlformats.org/drawingml/2006/main">
              <a:ext uri="{FF2B5EF4-FFF2-40B4-BE49-F238E27FC236}">
                <a16:creationId xmlns:a16="http://schemas.microsoft.com/office/drawing/2014/main" id="{89D1E2B4-5F82-4B9F-AE95-BE49C173AC98}"/>
              </a:ext>
            </a:extLst>
          </p:cNvPr>
          <p:cNvSpPr>
            <a:spLocks xmlns:a="http://schemas.openxmlformats.org/drawingml/2006/main" noGrp="1"/>
          </p:cNvSpPr>
          <p:nvPr/>
        </p:nvSpPr>
        <p:spPr>
          <a:xfrm xmlns:a="http://schemas.openxmlformats.org/drawingml/2006/main">
            <a:off x="10620375" y="6505575"/>
            <a:ext cx="8858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a:solidFill>
                  <a:srgbClr val="66736C"/>
                </a:solidFill>
                <a:latin typeface="Arial"/>
                <a:ea typeface="Arial"/>
                <a:cs typeface="Arial"/>
              </a:defRPr>
            </a:defPPr>
          </a:lstStyle>
          <a:p xmlns:a="http://schemas.openxmlformats.org/drawingml/2006/main">
            <a:pPr algn="r">
              <a:defRPr sz="900" b="0">
                <a:solidFill>
                  <a:srgbClr val="66736C"/>
                </a:solidFill>
                <a:latin typeface="Arial"/>
                <a:ea typeface="Arial"/>
                <a:cs typeface="Arial"/>
              </a:defRPr>
            </a:pPr>
            <a:r>
              <a:rPr sz="900" b="0">
                <a:solidFill>
                  <a:srgbClr val="66736C"/>
                </a:solidFill>
                <a:latin typeface="Arial"/>
                <a:ea typeface="Arial"/>
                <a:cs typeface="Arial"/>
              </a:rPr>
              <a:t>49 / 52</a:t>
            </a:r>
          </a:p>
        </p:txBody>
      </p:sp>
      <p:graphicFrame>
        <p:nvGraphicFramePr>
          <p:cNvPr id="5" name="">
            <a:extLst xmlns:a="http://schemas.openxmlformats.org/drawingml/2006/main">
              <a:ext uri="{FF2B5EF4-FFF2-40B4-BE49-F238E27FC236}">
                <a16:creationId xmlns:a16="http://schemas.microsoft.com/office/drawing/2014/main" id="{3C82A9C2-C626-4C4F-8847-2371362C9CD5}"/>
              </a:ext>
            </a:extLst>
          </p:cNvPr>
          <p:cNvGraphicFramePr/>
          <p:nvPr/>
        </p:nvGraphicFramePr>
        <p:xfrm>
          <a:off xmlns:a="http://schemas.openxmlformats.org/drawingml/2006/main" x="685800" y="1581150"/>
          <a:ext xmlns:a="http://schemas.openxmlformats.org/drawingml/2006/main" cx="10820400" cy="4629912"/>
        </p:xfrm>
        <a:graphic xmlns:a="http://schemas.openxmlformats.org/drawingml/2006/main">
          <a:graphicData uri="http://schemas.openxmlformats.org/drawingml/2006/table">
            <a:tbl>
              <a:tblPr firstRow="1" firstCol="0" lastCol="0" bandRow="0"/>
              <a:tblGrid>
                <a:gridCol w="4438650"/>
                <a:gridCol w="2381250"/>
                <a:gridCol w="2000250"/>
                <a:gridCol w="2000250"/>
              </a:tblGrid>
              <a:tr h="419100">
                <a:tc>
                  <a:txBody>
                    <a:bodyPr wrap="square">
                      <a:noAutofit/>
                    </a:bodyPr>
                    <a:lstStyle/>
                    <a:p>
                      <a:r>
                        <a:rPr sz="1650" b="1">
                          <a:solidFill>
                            <a:srgbClr val="FFFFFF"/>
                          </a:solidFill>
                          <a:latin typeface="Arial"/>
                          <a:ea typeface="Arial"/>
                          <a:cs typeface="Arial"/>
                        </a:rPr>
                        <a:t>Phone listing</a:t>
                      </a:r>
                    </a:p>
                  </a:txBody>
                  <a:tcPr marL="114300" marR="114300" marT="47625" marB="47625" anchor="ctr">
                    <a:lnL w="6668">
                      <a:solidFill>
                        <a:srgbClr val="DCE3DA"/>
                      </a:solidFill>
                      <a:prstDash val="solid"/>
                    </a:lnL>
                    <a:lnR w="6668">
                      <a:solidFill>
                        <a:srgbClr val="DCE3DA"/>
                      </a:solidFill>
                      <a:prstDash val="solid"/>
                    </a:lnR>
                    <a:lnT w="6668">
                      <a:solidFill>
                        <a:srgbClr val="DCE3DA"/>
                      </a:solidFill>
                      <a:prstDash val="solid"/>
                    </a:lnT>
                    <a:lnB w="6668">
                      <a:solidFill>
                        <a:srgbClr val="DCE3DA"/>
                      </a:solidFill>
                      <a:prstDash val="solid"/>
                    </a:lnB>
                    <a:solidFill>
                      <a:srgbClr val="39725C"/>
                    </a:solidFill>
                  </a:tcPr>
                </a:tc>
                <a:tc>
                  <a:txBody>
                    <a:bodyPr wrap="square">
                      <a:noAutofit/>
                    </a:bodyPr>
                    <a:lstStyle/>
                    <a:p>
                      <a:r>
                        <a:rPr sz="1650" b="1">
                          <a:solidFill>
                            <a:srgbClr val="FFFFFF"/>
                          </a:solidFill>
                          <a:latin typeface="Arial"/>
                          <a:ea typeface="Arial"/>
                          <a:cs typeface="Arial"/>
                        </a:rPr>
                        <a:t>ASIN</a:t>
                      </a:r>
                    </a:p>
                  </a:txBody>
                  <a:tcPr marL="114300" marR="114300" marT="47625" marB="47625" anchor="ctr">
                    <a:lnR w="6668">
                      <a:solidFill>
                        <a:srgbClr val="DCE3DA"/>
                      </a:solidFill>
                      <a:prstDash val="solid"/>
                    </a:lnR>
                    <a:lnT w="6668">
                      <a:solidFill>
                        <a:srgbClr val="DCE3DA"/>
                      </a:solidFill>
                      <a:prstDash val="solid"/>
                    </a:lnT>
                    <a:lnB w="6668">
                      <a:solidFill>
                        <a:srgbClr val="DCE3DA"/>
                      </a:solidFill>
                      <a:prstDash val="solid"/>
                    </a:lnB>
                    <a:solidFill>
                      <a:srgbClr val="39725C"/>
                    </a:solidFill>
                  </a:tcPr>
                </a:tc>
                <a:tc>
                  <a:txBody>
                    <a:bodyPr wrap="square">
                      <a:noAutofit/>
                    </a:bodyPr>
                    <a:lstStyle/>
                    <a:p>
                      <a:r>
                        <a:rPr sz="1650" b="1">
                          <a:solidFill>
                            <a:srgbClr val="FFFFFF"/>
                          </a:solidFill>
                          <a:latin typeface="Arial"/>
                          <a:ea typeface="Arial"/>
                          <a:cs typeface="Arial"/>
                        </a:rPr>
                        <a:t>Condition</a:t>
                      </a:r>
                    </a:p>
                  </a:txBody>
                  <a:tcPr marL="114300" marR="114300" marT="47625" marB="47625" anchor="ctr">
                    <a:lnR w="6668">
                      <a:solidFill>
                        <a:srgbClr val="DCE3DA"/>
                      </a:solidFill>
                      <a:prstDash val="solid"/>
                    </a:lnR>
                    <a:lnT w="6668">
                      <a:solidFill>
                        <a:srgbClr val="DCE3DA"/>
                      </a:solidFill>
                      <a:prstDash val="solid"/>
                    </a:lnT>
                    <a:lnB w="6668">
                      <a:solidFill>
                        <a:srgbClr val="DCE3DA"/>
                      </a:solidFill>
                      <a:prstDash val="solid"/>
                    </a:lnB>
                    <a:solidFill>
                      <a:srgbClr val="39725C"/>
                    </a:solidFill>
                  </a:tcPr>
                </a:tc>
                <a:tc>
                  <a:txBody>
                    <a:bodyPr wrap="square">
                      <a:noAutofit/>
                    </a:bodyPr>
                    <a:lstStyle/>
                    <a:p>
                      <a:r>
                        <a:rPr sz="1650" b="1">
                          <a:solidFill>
                            <a:srgbClr val="FFFFFF"/>
                          </a:solidFill>
                          <a:latin typeface="Arial"/>
                          <a:ea typeface="Arial"/>
                          <a:cs typeface="Arial"/>
                        </a:rPr>
                        <a:t>Reviews</a:t>
                      </a:r>
                    </a:p>
                  </a:txBody>
                  <a:tcPr marL="114300" marR="114300" marT="47625" marB="47625" anchor="ctr">
                    <a:lnR w="6668">
                      <a:solidFill>
                        <a:srgbClr val="DCE3DA"/>
                      </a:solidFill>
                      <a:prstDash val="solid"/>
                    </a:lnR>
                    <a:lnT w="6668">
                      <a:solidFill>
                        <a:srgbClr val="DCE3DA"/>
                      </a:solidFill>
                      <a:prstDash val="solid"/>
                    </a:lnT>
                    <a:lnB w="6668">
                      <a:solidFill>
                        <a:srgbClr val="DCE3DA"/>
                      </a:solidFill>
                      <a:prstDash val="solid"/>
                    </a:lnB>
                    <a:solidFill>
                      <a:srgbClr val="39725C"/>
                    </a:solidFill>
                  </a:tcPr>
                </a:tc>
              </a:tr>
              <a:tr h="350901">
                <a:tc>
                  <a:txBody>
                    <a:bodyPr wrap="square">
                      <a:noAutofit/>
                    </a:bodyPr>
                    <a:lstStyle/>
                    <a:p>
                      <a:r>
                        <a:rPr sz="1725" b="1">
                          <a:solidFill>
                            <a:srgbClr val="26332E"/>
                          </a:solidFill>
                          <a:latin typeface="Arial"/>
                          <a:ea typeface="Arial"/>
                          <a:cs typeface="Arial"/>
                        </a:rPr>
                        <a:t>Apple iPhone 7</a:t>
                      </a:r>
                    </a:p>
                  </a:txBody>
                  <a:tcPr marL="114300" marR="114300" marT="47625" marB="47625" anchor="ctr">
                    <a:lnL w="6668">
                      <a:solidFill>
                        <a:srgbClr val="DCE3DA"/>
                      </a:solidFill>
                      <a:prstDash val="solid"/>
                    </a:lnL>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B0731HBTZ7</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renewed</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339</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r>
              <a:tr h="350901">
                <a:tc>
                  <a:txBody>
                    <a:bodyPr wrap="square">
                      <a:noAutofit/>
                    </a:bodyPr>
                    <a:lstStyle/>
                    <a:p>
                      <a:r>
                        <a:rPr sz="1725" b="1">
                          <a:solidFill>
                            <a:srgbClr val="26332E"/>
                          </a:solidFill>
                          <a:latin typeface="Arial"/>
                          <a:ea typeface="Arial"/>
                          <a:cs typeface="Arial"/>
                        </a:rPr>
                        <a:t>Apple iPhone X</a:t>
                      </a:r>
                    </a:p>
                  </a:txBody>
                  <a:tcPr marL="114300" marR="114300" marT="47625" marB="47625" anchor="ctr">
                    <a:lnL w="6668">
                      <a:solidFill>
                        <a:srgbClr val="DCE3DA"/>
                      </a:solidFill>
                      <a:prstDash val="solid"/>
                    </a:lnL>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B0775451TT</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renewed</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330</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r>
              <a:tr h="350901">
                <a:tc>
                  <a:txBody>
                    <a:bodyPr wrap="square">
                      <a:noAutofit/>
                    </a:bodyPr>
                    <a:lstStyle/>
                    <a:p>
                      <a:r>
                        <a:rPr sz="1725" b="1">
                          <a:solidFill>
                            <a:srgbClr val="26332E"/>
                          </a:solidFill>
                          <a:latin typeface="Arial"/>
                          <a:ea typeface="Arial"/>
                          <a:cs typeface="Arial"/>
                        </a:rPr>
                        <a:t>Google Pixel XL</a:t>
                      </a:r>
                    </a:p>
                  </a:txBody>
                  <a:tcPr marL="114300" marR="114300" marT="47625" marB="47625" anchor="ctr">
                    <a:lnL w="6668">
                      <a:solidFill>
                        <a:srgbClr val="DCE3DA"/>
                      </a:solidFill>
                      <a:prstDash val="solid"/>
                    </a:lnL>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B01LY3OB8D</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new</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400</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r>
              <a:tr h="350901">
                <a:tc>
                  <a:txBody>
                    <a:bodyPr wrap="square">
                      <a:noAutofit/>
                    </a:bodyPr>
                    <a:lstStyle/>
                    <a:p>
                      <a:r>
                        <a:rPr sz="1725" b="1">
                          <a:solidFill>
                            <a:srgbClr val="26332E"/>
                          </a:solidFill>
                          <a:latin typeface="Arial"/>
                          <a:ea typeface="Arial"/>
                          <a:cs typeface="Arial"/>
                        </a:rPr>
                        <a:t>Huawei Mate 10 Pro</a:t>
                      </a:r>
                    </a:p>
                  </a:txBody>
                  <a:tcPr marL="114300" marR="114300" marT="47625" marB="47625" anchor="ctr">
                    <a:lnL w="6668">
                      <a:solidFill>
                        <a:srgbClr val="DCE3DA"/>
                      </a:solidFill>
                      <a:prstDash val="solid"/>
                    </a:lnL>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B07C6FCC8G</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new</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400</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r>
              <a:tr h="350901">
                <a:tc>
                  <a:txBody>
                    <a:bodyPr wrap="square">
                      <a:noAutofit/>
                    </a:bodyPr>
                    <a:lstStyle/>
                    <a:p>
                      <a:r>
                        <a:rPr sz="1725" b="1">
                          <a:solidFill>
                            <a:srgbClr val="26332E"/>
                          </a:solidFill>
                          <a:latin typeface="Arial"/>
                          <a:ea typeface="Arial"/>
                          <a:cs typeface="Arial"/>
                        </a:rPr>
                        <a:t>Motorola Moto G6</a:t>
                      </a:r>
                    </a:p>
                  </a:txBody>
                  <a:tcPr marL="114300" marR="114300" marT="47625" marB="47625" anchor="ctr">
                    <a:lnL w="6668">
                      <a:solidFill>
                        <a:srgbClr val="DCE3DA"/>
                      </a:solidFill>
                      <a:prstDash val="solid"/>
                    </a:lnL>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B07WSJYDXX</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new</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400</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r>
              <a:tr h="350901">
                <a:tc>
                  <a:txBody>
                    <a:bodyPr wrap="square">
                      <a:noAutofit/>
                    </a:bodyPr>
                    <a:lstStyle/>
                    <a:p>
                      <a:r>
                        <a:rPr sz="1725" b="1">
                          <a:solidFill>
                            <a:srgbClr val="26332E"/>
                          </a:solidFill>
                          <a:latin typeface="Arial"/>
                          <a:ea typeface="Arial"/>
                          <a:cs typeface="Arial"/>
                        </a:rPr>
                        <a:t>Nokia 7.1</a:t>
                      </a:r>
                    </a:p>
                  </a:txBody>
                  <a:tcPr marL="114300" marR="114300" marT="47625" marB="47625" anchor="ctr">
                    <a:lnL w="6668">
                      <a:solidFill>
                        <a:srgbClr val="DCE3DA"/>
                      </a:solidFill>
                      <a:prstDash val="solid"/>
                    </a:lnL>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B07HD3QC65</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new</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400</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r>
              <a:tr h="350901">
                <a:tc>
                  <a:txBody>
                    <a:bodyPr wrap="square">
                      <a:noAutofit/>
                    </a:bodyPr>
                    <a:lstStyle/>
                    <a:p>
                      <a:r>
                        <a:rPr sz="1725" b="1">
                          <a:solidFill>
                            <a:srgbClr val="26332E"/>
                          </a:solidFill>
                          <a:latin typeface="Arial"/>
                          <a:ea typeface="Arial"/>
                          <a:cs typeface="Arial"/>
                        </a:rPr>
                        <a:t>OnePlus 6T</a:t>
                      </a:r>
                    </a:p>
                  </a:txBody>
                  <a:tcPr marL="114300" marR="114300" marT="47625" marB="47625" anchor="ctr">
                    <a:lnL w="6668">
                      <a:solidFill>
                        <a:srgbClr val="DCE3DA"/>
                      </a:solidFill>
                      <a:prstDash val="solid"/>
                    </a:lnL>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B07K76LBLZ</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new</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77</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r>
              <a:tr h="350901">
                <a:tc>
                  <a:txBody>
                    <a:bodyPr wrap="square">
                      <a:noAutofit/>
                    </a:bodyPr>
                    <a:lstStyle/>
                    <a:p>
                      <a:r>
                        <a:rPr sz="1725" b="1">
                          <a:solidFill>
                            <a:srgbClr val="26332E"/>
                          </a:solidFill>
                          <a:latin typeface="Arial"/>
                          <a:ea typeface="Arial"/>
                          <a:cs typeface="Arial"/>
                        </a:rPr>
                        <a:t>Samsung Galaxy A50</a:t>
                      </a:r>
                    </a:p>
                  </a:txBody>
                  <a:tcPr marL="114300" marR="114300" marT="47625" marB="47625" anchor="ctr">
                    <a:lnL w="6668">
                      <a:solidFill>
                        <a:srgbClr val="DCE3DA"/>
                      </a:solidFill>
                      <a:prstDash val="solid"/>
                    </a:lnL>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B07QQYHSR5</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new</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400</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r>
              <a:tr h="350901">
                <a:tc>
                  <a:txBody>
                    <a:bodyPr wrap="square">
                      <a:noAutofit/>
                    </a:bodyPr>
                    <a:lstStyle/>
                    <a:p>
                      <a:r>
                        <a:rPr sz="1725" b="1">
                          <a:solidFill>
                            <a:srgbClr val="26332E"/>
                          </a:solidFill>
                          <a:latin typeface="Arial"/>
                          <a:ea typeface="Arial"/>
                          <a:cs typeface="Arial"/>
                        </a:rPr>
                        <a:t>Samsung Galaxy Note 9</a:t>
                      </a:r>
                    </a:p>
                  </a:txBody>
                  <a:tcPr marL="114300" marR="114300" marT="47625" marB="47625" anchor="ctr">
                    <a:lnL w="6668">
                      <a:solidFill>
                        <a:srgbClr val="DCE3DA"/>
                      </a:solidFill>
                      <a:prstDash val="solid"/>
                    </a:lnL>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B07FZH9BGV</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new</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400</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r>
              <a:tr h="350901">
                <a:tc>
                  <a:txBody>
                    <a:bodyPr wrap="square">
                      <a:noAutofit/>
                    </a:bodyPr>
                    <a:lstStyle/>
                    <a:p>
                      <a:r>
                        <a:rPr sz="1725" b="1">
                          <a:solidFill>
                            <a:srgbClr val="26332E"/>
                          </a:solidFill>
                          <a:latin typeface="Arial"/>
                          <a:ea typeface="Arial"/>
                          <a:cs typeface="Arial"/>
                        </a:rPr>
                        <a:t>Samsung Galaxy S8+</a:t>
                      </a:r>
                    </a:p>
                  </a:txBody>
                  <a:tcPr marL="114300" marR="114300" marT="47625" marB="47625" anchor="ctr">
                    <a:lnL w="6668">
                      <a:solidFill>
                        <a:srgbClr val="DCE3DA"/>
                      </a:solidFill>
                      <a:prstDash val="solid"/>
                    </a:lnL>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B06Y16RL4W</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new</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400</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r>
              <a:tr h="350901">
                <a:tc>
                  <a:txBody>
                    <a:bodyPr wrap="square">
                      <a:noAutofit/>
                    </a:bodyPr>
                    <a:lstStyle/>
                    <a:p>
                      <a:r>
                        <a:rPr sz="1725" b="1">
                          <a:solidFill>
                            <a:srgbClr val="26332E"/>
                          </a:solidFill>
                          <a:latin typeface="Arial"/>
                          <a:ea typeface="Arial"/>
                          <a:cs typeface="Arial"/>
                        </a:rPr>
                        <a:t>Sony Xperia XA Ultra</a:t>
                      </a:r>
                    </a:p>
                  </a:txBody>
                  <a:tcPr marL="114300" marR="114300" marT="47625" marB="47625" anchor="ctr">
                    <a:lnL w="6668">
                      <a:solidFill>
                        <a:srgbClr val="DCE3DA"/>
                      </a:solidFill>
                      <a:prstDash val="solid"/>
                    </a:lnL>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B01FJT7E3M</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new</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400</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r>
              <a:tr h="350901">
                <a:tc>
                  <a:txBody>
                    <a:bodyPr wrap="square">
                      <a:noAutofit/>
                    </a:bodyPr>
                    <a:lstStyle/>
                    <a:p>
                      <a:r>
                        <a:rPr sz="1725" b="1">
                          <a:solidFill>
                            <a:srgbClr val="26332E"/>
                          </a:solidFill>
                          <a:latin typeface="Arial"/>
                          <a:ea typeface="Arial"/>
                          <a:cs typeface="Arial"/>
                        </a:rPr>
                        <a:t>Xiaomi Redmi Note 7</a:t>
                      </a:r>
                    </a:p>
                  </a:txBody>
                  <a:tcPr marL="114300" marR="114300" marT="47625" marB="47625" anchor="ctr">
                    <a:lnL w="6668">
                      <a:solidFill>
                        <a:srgbClr val="DCE3DA"/>
                      </a:solidFill>
                      <a:prstDash val="solid"/>
                    </a:lnL>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B07PY52GVP</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new</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400</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r>
            </a:tbl>
          </a:graphicData>
        </a:graphic>
      </p:graphicFrame>
    </p:spTree>
    <p:extLst>
      <p:ext uri="{BB962C8B-B14F-4D97-AF65-F5344CB8AC3E}">
        <p14:creationId xmlns:p14="http://schemas.microsoft.com/office/powerpoint/2010/main" val="578624992"/>
      </p:ext>
    </p:extLst>
  </p:cSld>
</p:sld>
</file>

<file path=ppt/slides/slide50.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6" name="chapter">
            <a:extLst xmlns:a="http://schemas.openxmlformats.org/drawingml/2006/main">
              <a:ext uri="{FF2B5EF4-FFF2-40B4-BE49-F238E27FC236}">
                <a16:creationId xmlns:a16="http://schemas.microsoft.com/office/drawing/2014/main" id="{4B0E98D3-85FD-4594-9BFC-E49A04AB9E2E}"/>
              </a:ext>
            </a:extLst>
          </p:cNvPr>
          <p:cNvSpPr>
            <a:spLocks xmlns:a="http://schemas.openxmlformats.org/drawingml/2006/main" noGrp="1"/>
          </p:cNvSpPr>
          <p:nvPr/>
        </p:nvSpPr>
        <p:spPr>
          <a:xfrm xmlns:a="http://schemas.openxmlformats.org/drawingml/2006/main">
            <a:off x="685800" y="381000"/>
            <a:ext cx="933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39725C"/>
                </a:solidFill>
                <a:latin typeface="Arial"/>
                <a:ea typeface="Arial"/>
                <a:cs typeface="Arial"/>
              </a:defRPr>
            </a:defPPr>
          </a:lstStyle>
          <a:p xmlns:a="http://schemas.openxmlformats.org/drawingml/2006/main">
            <a:pPr algn="l">
              <a:defRPr sz="1200" b="1">
                <a:solidFill>
                  <a:srgbClr val="39725C"/>
                </a:solidFill>
                <a:latin typeface="Arial"/>
                <a:ea typeface="Arial"/>
                <a:cs typeface="Arial"/>
              </a:defRPr>
            </a:pPr>
            <a:r>
              <a:rPr sz="1200" b="1">
                <a:solidFill>
                  <a:srgbClr val="39725C"/>
                </a:solidFill>
                <a:latin typeface="Arial"/>
                <a:ea typeface="Arial"/>
                <a:cs typeface="Arial"/>
              </a:rPr>
              <a:t>APPENDIX B</a:t>
            </a:r>
          </a:p>
        </p:txBody>
      </p:sp>
      <p:sp>
        <p:nvSpPr>
          <p:cNvPr id="2" name="primary-heading">
            <a:extLst xmlns:a="http://schemas.openxmlformats.org/drawingml/2006/main">
              <a:ext uri="{FF2B5EF4-FFF2-40B4-BE49-F238E27FC236}">
                <a16:creationId xmlns:a16="http://schemas.microsoft.com/office/drawing/2014/main" id="{BDB068EB-578D-4BE3-92E4-99662C01097E}"/>
              </a:ext>
            </a:extLst>
          </p:cNvPr>
          <p:cNvSpPr>
            <a:spLocks xmlns:a="http://schemas.openxmlformats.org/drawingml/2006/main" noGrp="1"/>
          </p:cNvSpPr>
          <p:nvPr/>
        </p:nvSpPr>
        <p:spPr>
          <a:xfrm xmlns:a="http://schemas.openxmlformats.org/drawingml/2006/main">
            <a:off x="685800" y="83820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6332E"/>
                </a:solidFill>
                <a:latin typeface="Arial"/>
                <a:ea typeface="Arial"/>
                <a:cs typeface="Arial"/>
              </a:defRPr>
            </a:defPPr>
          </a:lstStyle>
          <a:p xmlns:a="http://schemas.openxmlformats.org/drawingml/2006/main">
            <a:pPr algn="l">
              <a:defRPr sz="3300" b="1">
                <a:solidFill>
                  <a:srgbClr val="26332E"/>
                </a:solidFill>
                <a:latin typeface="Arial"/>
                <a:ea typeface="Arial"/>
                <a:cs typeface="Arial"/>
              </a:defRPr>
            </a:pPr>
            <a:r>
              <a:rPr sz="3300" b="1">
                <a:solidFill>
                  <a:srgbClr val="26332E"/>
                </a:solidFill>
                <a:latin typeface="Arial"/>
                <a:ea typeface="Arial"/>
                <a:cs typeface="Arial"/>
              </a:rPr>
              <a:t>The main data and label fields</a:t>
            </a:r>
          </a:p>
        </p:txBody>
      </p:sp>
      <p:sp>
        <p:nvSpPr>
          <p:cNvPr id="3" name="footer-label">
            <a:extLst xmlns:a="http://schemas.openxmlformats.org/drawingml/2006/main">
              <a:ext uri="{FF2B5EF4-FFF2-40B4-BE49-F238E27FC236}">
                <a16:creationId xmlns:a16="http://schemas.microsoft.com/office/drawing/2014/main" id="{799AF4C6-130E-4F66-8C90-8C7CBAE3AD22}"/>
              </a:ext>
            </a:extLst>
          </p:cNvPr>
          <p:cNvSpPr>
            <a:spLocks xmlns:a="http://schemas.openxmlformats.org/drawingml/2006/main" noGrp="1"/>
          </p:cNvSpPr>
          <p:nvPr/>
        </p:nvSpPr>
        <p:spPr>
          <a:xfrm xmlns:a="http://schemas.openxmlformats.org/drawingml/2006/main">
            <a:off x="685800" y="6505575"/>
            <a:ext cx="952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0">
                <a:solidFill>
                  <a:srgbClr val="66736C"/>
                </a:solidFill>
                <a:latin typeface="Arial"/>
                <a:ea typeface="Arial"/>
                <a:cs typeface="Arial"/>
              </a:defRPr>
            </a:defPPr>
          </a:lstStyle>
          <a:p xmlns:a="http://schemas.openxmlformats.org/drawingml/2006/main">
            <a:pPr algn="l">
              <a:defRPr sz="900" b="0">
                <a:solidFill>
                  <a:srgbClr val="66736C"/>
                </a:solidFill>
                <a:latin typeface="Arial"/>
                <a:ea typeface="Arial"/>
                <a:cs typeface="Arial"/>
              </a:defRPr>
            </a:pPr>
            <a:r>
              <a:rPr sz="900" b="0">
                <a:solidFill>
                  <a:srgbClr val="66736C"/>
                </a:solidFill>
                <a:latin typeface="Arial"/>
                <a:ea typeface="Arial"/>
                <a:cs typeface="Arial"/>
              </a:rPr>
              <a:t>ASPECT  /  PROJECT REFERENCE  /  1.0.0</a:t>
            </a:r>
          </a:p>
        </p:txBody>
      </p:sp>
      <p:sp>
        <p:nvSpPr>
          <p:cNvPr id="4" name="page-number">
            <a:extLst xmlns:a="http://schemas.openxmlformats.org/drawingml/2006/main">
              <a:ext uri="{FF2B5EF4-FFF2-40B4-BE49-F238E27FC236}">
                <a16:creationId xmlns:a16="http://schemas.microsoft.com/office/drawing/2014/main" id="{3660F20D-C596-4FAB-967C-CE8F9E757B7D}"/>
              </a:ext>
            </a:extLst>
          </p:cNvPr>
          <p:cNvSpPr>
            <a:spLocks xmlns:a="http://schemas.openxmlformats.org/drawingml/2006/main" noGrp="1"/>
          </p:cNvSpPr>
          <p:nvPr/>
        </p:nvSpPr>
        <p:spPr>
          <a:xfrm xmlns:a="http://schemas.openxmlformats.org/drawingml/2006/main">
            <a:off x="10620375" y="6505575"/>
            <a:ext cx="8858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a:solidFill>
                  <a:srgbClr val="66736C"/>
                </a:solidFill>
                <a:latin typeface="Arial"/>
                <a:ea typeface="Arial"/>
                <a:cs typeface="Arial"/>
              </a:defRPr>
            </a:defPPr>
          </a:lstStyle>
          <a:p xmlns:a="http://schemas.openxmlformats.org/drawingml/2006/main">
            <a:pPr algn="r">
              <a:defRPr sz="900" b="0">
                <a:solidFill>
                  <a:srgbClr val="66736C"/>
                </a:solidFill>
                <a:latin typeface="Arial"/>
                <a:ea typeface="Arial"/>
                <a:cs typeface="Arial"/>
              </a:defRPr>
            </a:pPr>
            <a:r>
              <a:rPr sz="900" b="0">
                <a:solidFill>
                  <a:srgbClr val="66736C"/>
                </a:solidFill>
                <a:latin typeface="Arial"/>
                <a:ea typeface="Arial"/>
                <a:cs typeface="Arial"/>
              </a:rPr>
              <a:t>50 / 52</a:t>
            </a:r>
          </a:p>
        </p:txBody>
      </p:sp>
      <p:graphicFrame>
        <p:nvGraphicFramePr>
          <p:cNvPr id="5" name="">
            <a:extLst xmlns:a="http://schemas.openxmlformats.org/drawingml/2006/main">
              <a:ext uri="{FF2B5EF4-FFF2-40B4-BE49-F238E27FC236}">
                <a16:creationId xmlns:a16="http://schemas.microsoft.com/office/drawing/2014/main" id="{926B3553-D6D6-4C10-868D-B5E82ADB78F2}"/>
              </a:ext>
            </a:extLst>
          </p:cNvPr>
          <p:cNvGraphicFramePr/>
          <p:nvPr/>
        </p:nvGraphicFramePr>
        <p:xfrm>
          <a:off xmlns:a="http://schemas.openxmlformats.org/drawingml/2006/main" x="685800" y="1714500"/>
          <a:ext xmlns:a="http://schemas.openxmlformats.org/drawingml/2006/main" cx="10820400" cy="4133850"/>
        </p:xfrm>
        <a:graphic xmlns:a="http://schemas.openxmlformats.org/drawingml/2006/main">
          <a:graphicData uri="http://schemas.openxmlformats.org/drawingml/2006/table">
            <a:tbl>
              <a:tblPr firstRow="1" firstCol="0" lastCol="0" bandRow="0"/>
              <a:tblGrid>
                <a:gridCol w="2333625"/>
                <a:gridCol w="4572000"/>
                <a:gridCol w="3914775"/>
              </a:tblGrid>
              <a:tr h="419100">
                <a:tc>
                  <a:txBody>
                    <a:bodyPr wrap="square">
                      <a:noAutofit/>
                    </a:bodyPr>
                    <a:lstStyle/>
                    <a:p>
                      <a:r>
                        <a:rPr sz="1650" b="1">
                          <a:solidFill>
                            <a:srgbClr val="FFFFFF"/>
                          </a:solidFill>
                          <a:latin typeface="Arial"/>
                          <a:ea typeface="Arial"/>
                          <a:cs typeface="Arial"/>
                        </a:rPr>
                        <a:t>Record</a:t>
                      </a:r>
                    </a:p>
                  </a:txBody>
                  <a:tcPr marL="114300" marR="114300" marT="47625" marB="47625" anchor="ctr">
                    <a:lnL w="6668">
                      <a:solidFill>
                        <a:srgbClr val="DCE3DA"/>
                      </a:solidFill>
                      <a:prstDash val="solid"/>
                    </a:lnL>
                    <a:lnR w="6668">
                      <a:solidFill>
                        <a:srgbClr val="DCE3DA"/>
                      </a:solidFill>
                      <a:prstDash val="solid"/>
                    </a:lnR>
                    <a:lnT w="6668">
                      <a:solidFill>
                        <a:srgbClr val="DCE3DA"/>
                      </a:solidFill>
                      <a:prstDash val="solid"/>
                    </a:lnT>
                    <a:lnB w="6668">
                      <a:solidFill>
                        <a:srgbClr val="DCE3DA"/>
                      </a:solidFill>
                      <a:prstDash val="solid"/>
                    </a:lnB>
                    <a:solidFill>
                      <a:srgbClr val="39725C"/>
                    </a:solidFill>
                  </a:tcPr>
                </a:tc>
                <a:tc>
                  <a:txBody>
                    <a:bodyPr wrap="square">
                      <a:noAutofit/>
                    </a:bodyPr>
                    <a:lstStyle/>
                    <a:p>
                      <a:r>
                        <a:rPr sz="1650" b="1">
                          <a:solidFill>
                            <a:srgbClr val="FFFFFF"/>
                          </a:solidFill>
                          <a:latin typeface="Arial"/>
                          <a:ea typeface="Arial"/>
                          <a:cs typeface="Arial"/>
                        </a:rPr>
                        <a:t>Important fields</a:t>
                      </a:r>
                    </a:p>
                  </a:txBody>
                  <a:tcPr marL="114300" marR="114300" marT="47625" marB="47625" anchor="ctr">
                    <a:lnR w="6668">
                      <a:solidFill>
                        <a:srgbClr val="DCE3DA"/>
                      </a:solidFill>
                      <a:prstDash val="solid"/>
                    </a:lnR>
                    <a:lnT w="6668">
                      <a:solidFill>
                        <a:srgbClr val="DCE3DA"/>
                      </a:solidFill>
                      <a:prstDash val="solid"/>
                    </a:lnT>
                    <a:lnB w="6668">
                      <a:solidFill>
                        <a:srgbClr val="DCE3DA"/>
                      </a:solidFill>
                      <a:prstDash val="solid"/>
                    </a:lnB>
                    <a:solidFill>
                      <a:srgbClr val="39725C"/>
                    </a:solidFill>
                  </a:tcPr>
                </a:tc>
                <a:tc>
                  <a:txBody>
                    <a:bodyPr wrap="square">
                      <a:noAutofit/>
                    </a:bodyPr>
                    <a:lstStyle/>
                    <a:p>
                      <a:r>
                        <a:rPr sz="1650" b="1">
                          <a:solidFill>
                            <a:srgbClr val="FFFFFF"/>
                          </a:solidFill>
                          <a:latin typeface="Arial"/>
                          <a:ea typeface="Arial"/>
                          <a:cs typeface="Arial"/>
                        </a:rPr>
                        <a:t>Purpose</a:t>
                      </a:r>
                    </a:p>
                  </a:txBody>
                  <a:tcPr marL="114300" marR="114300" marT="47625" marB="47625" anchor="ctr">
                    <a:lnR w="6668">
                      <a:solidFill>
                        <a:srgbClr val="DCE3DA"/>
                      </a:solidFill>
                      <a:prstDash val="solid"/>
                    </a:lnR>
                    <a:lnT w="6668">
                      <a:solidFill>
                        <a:srgbClr val="DCE3DA"/>
                      </a:solidFill>
                      <a:prstDash val="solid"/>
                    </a:lnT>
                    <a:lnB w="6668">
                      <a:solidFill>
                        <a:srgbClr val="DCE3DA"/>
                      </a:solidFill>
                      <a:prstDash val="solid"/>
                    </a:lnB>
                    <a:solidFill>
                      <a:srgbClr val="39725C"/>
                    </a:solidFill>
                  </a:tcPr>
                </a:tc>
              </a:tr>
              <a:tr h="619125">
                <a:tc>
                  <a:txBody>
                    <a:bodyPr wrap="square">
                      <a:noAutofit/>
                    </a:bodyPr>
                    <a:lstStyle/>
                    <a:p>
                      <a:r>
                        <a:rPr sz="1725" b="1">
                          <a:solidFill>
                            <a:srgbClr val="26332E"/>
                          </a:solidFill>
                          <a:latin typeface="Arial"/>
                          <a:ea typeface="Arial"/>
                          <a:cs typeface="Arial"/>
                        </a:rPr>
                        <a:t>Review</a:t>
                      </a:r>
                    </a:p>
                  </a:txBody>
                  <a:tcPr marL="114300" marR="114300" marT="47625" marB="47625" anchor="ctr">
                    <a:lnL w="6668">
                      <a:solidFill>
                        <a:srgbClr val="DCE3DA"/>
                      </a:solidFill>
                      <a:prstDash val="solid"/>
                    </a:lnL>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id, product_id, text, date, rating, language</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Preserve review identity and optional metadata.</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r>
              <a:tr h="619125">
                <a:tc>
                  <a:txBody>
                    <a:bodyPr wrap="square">
                      <a:noAutofit/>
                    </a:bodyPr>
                    <a:lstStyle/>
                    <a:p>
                      <a:r>
                        <a:rPr sz="1725" b="1">
                          <a:solidFill>
                            <a:srgbClr val="26332E"/>
                          </a:solidFill>
                          <a:latin typeface="Arial"/>
                          <a:ea typeface="Arial"/>
                          <a:cs typeface="Arial"/>
                        </a:rPr>
                        <a:t>Sentence</a:t>
                      </a:r>
                    </a:p>
                  </a:txBody>
                  <a:tcPr marL="114300" marR="114300" marT="47625" marB="47625" anchor="ctr">
                    <a:lnL w="6668">
                      <a:solidFill>
                        <a:srgbClr val="DCE3DA"/>
                      </a:solidFill>
                      <a:prstDash val="solid"/>
                    </a:lnL>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id, text, start, end</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Link processing and labels to original evidence.</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r>
              <a:tr h="619125">
                <a:tc>
                  <a:txBody>
                    <a:bodyPr wrap="square">
                      <a:noAutofit/>
                    </a:bodyPr>
                    <a:lstStyle/>
                    <a:p>
                      <a:r>
                        <a:rPr sz="1725" b="1">
                          <a:solidFill>
                            <a:srgbClr val="26332E"/>
                          </a:solidFill>
                          <a:latin typeface="Arial"/>
                          <a:ea typeface="Arial"/>
                          <a:cs typeface="Arial"/>
                        </a:rPr>
                        <a:t>Aspect result</a:t>
                      </a:r>
                    </a:p>
                  </a:txBody>
                  <a:tcPr marL="114300" marR="114300" marT="47625" marB="47625" anchor="ctr">
                    <a:lnL w="6668">
                      <a:solidFill>
                        <a:srgbClr val="DCE3DA"/>
                      </a:solidFill>
                      <a:prstDash val="solid"/>
                    </a:lnL>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category, sentiment, evidence</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Store a feature opinion with supporting sentences.</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r>
              <a:tr h="619125">
                <a:tc>
                  <a:txBody>
                    <a:bodyPr wrap="square">
                      <a:noAutofit/>
                    </a:bodyPr>
                    <a:lstStyle/>
                    <a:p>
                      <a:r>
                        <a:rPr sz="1725" b="1">
                          <a:solidFill>
                            <a:srgbClr val="26332E"/>
                          </a:solidFill>
                          <a:latin typeface="Arial"/>
                          <a:ea typeface="Arial"/>
                          <a:cs typeface="Arial"/>
                        </a:rPr>
                        <a:t>Annotation</a:t>
                      </a:r>
                    </a:p>
                  </a:txBody>
                  <a:tcPr marL="114300" marR="114300" marT="47625" marB="47625" anchor="ctr">
                    <a:lnL w="6668">
                      <a:solidFill>
                        <a:srgbClr val="DCE3DA"/>
                      </a:solidFill>
                      <a:prstDash val="solid"/>
                    </a:lnL>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label, origin, status, reference, note</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Separate human/assisted decisions and ambiguity.</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r>
              <a:tr h="619125">
                <a:tc>
                  <a:txBody>
                    <a:bodyPr wrap="square">
                      <a:noAutofit/>
                    </a:bodyPr>
                    <a:lstStyle/>
                    <a:p>
                      <a:r>
                        <a:rPr sz="1725" b="1">
                          <a:solidFill>
                            <a:srgbClr val="26332E"/>
                          </a:solidFill>
                          <a:latin typeface="Arial"/>
                          <a:ea typeface="Arial"/>
                          <a:cs typeface="Arial"/>
                        </a:rPr>
                        <a:t>Frozen task</a:t>
                      </a:r>
                    </a:p>
                  </a:txBody>
                  <a:tcPr marL="114300" marR="114300" marT="47625" marB="47625" anchor="ctr">
                    <a:lnL w="6668">
                      <a:solidFill>
                        <a:srgbClr val="DCE3DA"/>
                      </a:solidFill>
                      <a:prstDash val="solid"/>
                    </a:lnL>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review/group assignment and text hash</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Prevent silent partition or text changes.</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r>
              <a:tr h="619125">
                <a:tc>
                  <a:txBody>
                    <a:bodyPr wrap="square">
                      <a:noAutofit/>
                    </a:bodyPr>
                    <a:lstStyle/>
                    <a:p>
                      <a:r>
                        <a:rPr sz="1725" b="1">
                          <a:solidFill>
                            <a:srgbClr val="26332E"/>
                          </a:solidFill>
                          <a:latin typeface="Arial"/>
                          <a:ea typeface="Arial"/>
                          <a:cs typeface="Arial"/>
                        </a:rPr>
                        <a:t>Experiment</a:t>
                      </a:r>
                    </a:p>
                  </a:txBody>
                  <a:tcPr marL="114300" marR="114300" marT="47625" marB="47625" anchor="ctr">
                    <a:lnL w="6668">
                      <a:solidFill>
                        <a:srgbClr val="DCE3DA"/>
                      </a:solidFill>
                      <a:prstDash val="solid"/>
                    </a:lnL>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configuration and source/artifact hashes</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Retain reproducibility and run provenance.</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r>
            </a:tbl>
          </a:graphicData>
        </a:graphic>
      </p:graphicFrame>
    </p:spTree>
    <p:extLst>
      <p:ext uri="{BB962C8B-B14F-4D97-AF65-F5344CB8AC3E}">
        <p14:creationId xmlns:p14="http://schemas.microsoft.com/office/powerpoint/2010/main" val="1499667721"/>
      </p:ext>
    </p:extLst>
  </p:cSld>
</p:sld>
</file>

<file path=ppt/slides/slide51.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6" name="chapter">
            <a:extLst xmlns:a="http://schemas.openxmlformats.org/drawingml/2006/main">
              <a:ext uri="{FF2B5EF4-FFF2-40B4-BE49-F238E27FC236}">
                <a16:creationId xmlns:a16="http://schemas.microsoft.com/office/drawing/2014/main" id="{C022CD13-7291-42BE-932D-62D54978DEA2}"/>
              </a:ext>
            </a:extLst>
          </p:cNvPr>
          <p:cNvSpPr>
            <a:spLocks xmlns:a="http://schemas.openxmlformats.org/drawingml/2006/main" noGrp="1"/>
          </p:cNvSpPr>
          <p:nvPr/>
        </p:nvSpPr>
        <p:spPr>
          <a:xfrm xmlns:a="http://schemas.openxmlformats.org/drawingml/2006/main">
            <a:off x="685800" y="381000"/>
            <a:ext cx="933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39725C"/>
                </a:solidFill>
                <a:latin typeface="Arial"/>
                <a:ea typeface="Arial"/>
                <a:cs typeface="Arial"/>
              </a:defRPr>
            </a:defPPr>
          </a:lstStyle>
          <a:p xmlns:a="http://schemas.openxmlformats.org/drawingml/2006/main">
            <a:pPr algn="l">
              <a:defRPr sz="1200" b="1">
                <a:solidFill>
                  <a:srgbClr val="39725C"/>
                </a:solidFill>
                <a:latin typeface="Arial"/>
                <a:ea typeface="Arial"/>
                <a:cs typeface="Arial"/>
              </a:defRPr>
            </a:pPr>
            <a:r>
              <a:rPr sz="1200" b="1">
                <a:solidFill>
                  <a:srgbClr val="39725C"/>
                </a:solidFill>
                <a:latin typeface="Arial"/>
                <a:ea typeface="Arial"/>
                <a:cs typeface="Arial"/>
              </a:rPr>
              <a:t>APPENDIX C</a:t>
            </a:r>
          </a:p>
        </p:txBody>
      </p:sp>
      <p:sp>
        <p:nvSpPr>
          <p:cNvPr id="2" name="primary-heading">
            <a:extLst xmlns:a="http://schemas.openxmlformats.org/drawingml/2006/main">
              <a:ext uri="{FF2B5EF4-FFF2-40B4-BE49-F238E27FC236}">
                <a16:creationId xmlns:a16="http://schemas.microsoft.com/office/drawing/2014/main" id="{E25B1C92-5DE0-4B22-8DA2-6FE6E9843DC5}"/>
              </a:ext>
            </a:extLst>
          </p:cNvPr>
          <p:cNvSpPr>
            <a:spLocks xmlns:a="http://schemas.openxmlformats.org/drawingml/2006/main" noGrp="1"/>
          </p:cNvSpPr>
          <p:nvPr/>
        </p:nvSpPr>
        <p:spPr>
          <a:xfrm xmlns:a="http://schemas.openxmlformats.org/drawingml/2006/main">
            <a:off x="685800" y="83820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6332E"/>
                </a:solidFill>
                <a:latin typeface="Arial"/>
                <a:ea typeface="Arial"/>
                <a:cs typeface="Arial"/>
              </a:defRPr>
            </a:defPPr>
          </a:lstStyle>
          <a:p xmlns:a="http://schemas.openxmlformats.org/drawingml/2006/main">
            <a:pPr algn="l">
              <a:defRPr sz="3300" b="1">
                <a:solidFill>
                  <a:srgbClr val="26332E"/>
                </a:solidFill>
                <a:latin typeface="Arial"/>
                <a:ea typeface="Arial"/>
                <a:cs typeface="Arial"/>
              </a:defRPr>
            </a:pPr>
            <a:r>
              <a:rPr sz="3300" b="1">
                <a:solidFill>
                  <a:srgbClr val="26332E"/>
                </a:solidFill>
                <a:latin typeface="Arial"/>
                <a:ea typeface="Arial"/>
                <a:cs typeface="Arial"/>
              </a:rPr>
              <a:t>Representative API routes</a:t>
            </a:r>
          </a:p>
        </p:txBody>
      </p:sp>
      <p:sp>
        <p:nvSpPr>
          <p:cNvPr id="3" name="footer-label">
            <a:extLst xmlns:a="http://schemas.openxmlformats.org/drawingml/2006/main">
              <a:ext uri="{FF2B5EF4-FFF2-40B4-BE49-F238E27FC236}">
                <a16:creationId xmlns:a16="http://schemas.microsoft.com/office/drawing/2014/main" id="{18B315D0-FBA6-4B36-AD2D-48BAE2C18015}"/>
              </a:ext>
            </a:extLst>
          </p:cNvPr>
          <p:cNvSpPr>
            <a:spLocks xmlns:a="http://schemas.openxmlformats.org/drawingml/2006/main" noGrp="1"/>
          </p:cNvSpPr>
          <p:nvPr/>
        </p:nvSpPr>
        <p:spPr>
          <a:xfrm xmlns:a="http://schemas.openxmlformats.org/drawingml/2006/main">
            <a:off x="685800" y="6505575"/>
            <a:ext cx="952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0">
                <a:solidFill>
                  <a:srgbClr val="66736C"/>
                </a:solidFill>
                <a:latin typeface="Arial"/>
                <a:ea typeface="Arial"/>
                <a:cs typeface="Arial"/>
              </a:defRPr>
            </a:defPPr>
          </a:lstStyle>
          <a:p xmlns:a="http://schemas.openxmlformats.org/drawingml/2006/main">
            <a:pPr algn="l">
              <a:defRPr sz="900" b="0">
                <a:solidFill>
                  <a:srgbClr val="66736C"/>
                </a:solidFill>
                <a:latin typeface="Arial"/>
                <a:ea typeface="Arial"/>
                <a:cs typeface="Arial"/>
              </a:defRPr>
            </a:pPr>
            <a:r>
              <a:rPr sz="900" b="0">
                <a:solidFill>
                  <a:srgbClr val="66736C"/>
                </a:solidFill>
                <a:latin typeface="Arial"/>
                <a:ea typeface="Arial"/>
                <a:cs typeface="Arial"/>
              </a:rPr>
              <a:t>ASPECT  /  PROJECT REFERENCE  /  1.0.0</a:t>
            </a:r>
          </a:p>
        </p:txBody>
      </p:sp>
      <p:sp>
        <p:nvSpPr>
          <p:cNvPr id="4" name="page-number">
            <a:extLst xmlns:a="http://schemas.openxmlformats.org/drawingml/2006/main">
              <a:ext uri="{FF2B5EF4-FFF2-40B4-BE49-F238E27FC236}">
                <a16:creationId xmlns:a16="http://schemas.microsoft.com/office/drawing/2014/main" id="{BD79F296-ADE1-487B-81D8-330D2C738BC8}"/>
              </a:ext>
            </a:extLst>
          </p:cNvPr>
          <p:cNvSpPr>
            <a:spLocks xmlns:a="http://schemas.openxmlformats.org/drawingml/2006/main" noGrp="1"/>
          </p:cNvSpPr>
          <p:nvPr/>
        </p:nvSpPr>
        <p:spPr>
          <a:xfrm xmlns:a="http://schemas.openxmlformats.org/drawingml/2006/main">
            <a:off x="10620375" y="6505575"/>
            <a:ext cx="8858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a:solidFill>
                  <a:srgbClr val="66736C"/>
                </a:solidFill>
                <a:latin typeface="Arial"/>
                <a:ea typeface="Arial"/>
                <a:cs typeface="Arial"/>
              </a:defRPr>
            </a:defPPr>
          </a:lstStyle>
          <a:p xmlns:a="http://schemas.openxmlformats.org/drawingml/2006/main">
            <a:pPr algn="r">
              <a:defRPr sz="900" b="0">
                <a:solidFill>
                  <a:srgbClr val="66736C"/>
                </a:solidFill>
                <a:latin typeface="Arial"/>
                <a:ea typeface="Arial"/>
                <a:cs typeface="Arial"/>
              </a:defRPr>
            </a:pPr>
            <a:r>
              <a:rPr sz="900" b="0">
                <a:solidFill>
                  <a:srgbClr val="66736C"/>
                </a:solidFill>
                <a:latin typeface="Arial"/>
                <a:ea typeface="Arial"/>
                <a:cs typeface="Arial"/>
              </a:rPr>
              <a:t>51 / 52</a:t>
            </a:r>
          </a:p>
        </p:txBody>
      </p:sp>
      <p:graphicFrame>
        <p:nvGraphicFramePr>
          <p:cNvPr id="5" name="">
            <a:extLst xmlns:a="http://schemas.openxmlformats.org/drawingml/2006/main">
              <a:ext uri="{FF2B5EF4-FFF2-40B4-BE49-F238E27FC236}">
                <a16:creationId xmlns:a16="http://schemas.microsoft.com/office/drawing/2014/main" id="{825E9CB4-2F25-4496-874D-718ABBD47BFE}"/>
              </a:ext>
            </a:extLst>
          </p:cNvPr>
          <p:cNvGraphicFramePr/>
          <p:nvPr/>
        </p:nvGraphicFramePr>
        <p:xfrm>
          <a:off xmlns:a="http://schemas.openxmlformats.org/drawingml/2006/main" x="685800" y="1714500"/>
          <a:ext xmlns:a="http://schemas.openxmlformats.org/drawingml/2006/main" cx="10820400" cy="4487037"/>
        </p:xfrm>
        <a:graphic xmlns:a="http://schemas.openxmlformats.org/drawingml/2006/main">
          <a:graphicData uri="http://schemas.openxmlformats.org/drawingml/2006/table">
            <a:tbl>
              <a:tblPr firstRow="1" firstCol="0" lastCol="0" bandRow="0"/>
              <a:tblGrid>
                <a:gridCol w="2667000"/>
                <a:gridCol w="4857750"/>
                <a:gridCol w="3295650"/>
              </a:tblGrid>
              <a:tr h="419100">
                <a:tc>
                  <a:txBody>
                    <a:bodyPr wrap="square">
                      <a:noAutofit/>
                    </a:bodyPr>
                    <a:lstStyle/>
                    <a:p>
                      <a:r>
                        <a:rPr sz="1650" b="1">
                          <a:solidFill>
                            <a:srgbClr val="FFFFFF"/>
                          </a:solidFill>
                          <a:latin typeface="Arial"/>
                          <a:ea typeface="Arial"/>
                          <a:cs typeface="Arial"/>
                        </a:rPr>
                        <a:t>Operation</a:t>
                      </a:r>
                    </a:p>
                  </a:txBody>
                  <a:tcPr marL="114300" marR="114300" marT="47625" marB="47625" anchor="ctr">
                    <a:lnL w="6668">
                      <a:solidFill>
                        <a:srgbClr val="DCE3DA"/>
                      </a:solidFill>
                      <a:prstDash val="solid"/>
                    </a:lnL>
                    <a:lnR w="6668">
                      <a:solidFill>
                        <a:srgbClr val="DCE3DA"/>
                      </a:solidFill>
                      <a:prstDash val="solid"/>
                    </a:lnR>
                    <a:lnT w="6668">
                      <a:solidFill>
                        <a:srgbClr val="DCE3DA"/>
                      </a:solidFill>
                      <a:prstDash val="solid"/>
                    </a:lnT>
                    <a:lnB w="6668">
                      <a:solidFill>
                        <a:srgbClr val="DCE3DA"/>
                      </a:solidFill>
                      <a:prstDash val="solid"/>
                    </a:lnB>
                    <a:solidFill>
                      <a:srgbClr val="39725C"/>
                    </a:solidFill>
                  </a:tcPr>
                </a:tc>
                <a:tc>
                  <a:txBody>
                    <a:bodyPr wrap="square">
                      <a:noAutofit/>
                    </a:bodyPr>
                    <a:lstStyle/>
                    <a:p>
                      <a:r>
                        <a:rPr sz="1650" b="1">
                          <a:solidFill>
                            <a:srgbClr val="FFFFFF"/>
                          </a:solidFill>
                          <a:latin typeface="Arial"/>
                          <a:ea typeface="Arial"/>
                          <a:cs typeface="Arial"/>
                        </a:rPr>
                        <a:t>Route</a:t>
                      </a:r>
                    </a:p>
                  </a:txBody>
                  <a:tcPr marL="114300" marR="114300" marT="47625" marB="47625" anchor="ctr">
                    <a:lnR w="6668">
                      <a:solidFill>
                        <a:srgbClr val="DCE3DA"/>
                      </a:solidFill>
                      <a:prstDash val="solid"/>
                    </a:lnR>
                    <a:lnT w="6668">
                      <a:solidFill>
                        <a:srgbClr val="DCE3DA"/>
                      </a:solidFill>
                      <a:prstDash val="solid"/>
                    </a:lnT>
                    <a:lnB w="6668">
                      <a:solidFill>
                        <a:srgbClr val="DCE3DA"/>
                      </a:solidFill>
                      <a:prstDash val="solid"/>
                    </a:lnB>
                    <a:solidFill>
                      <a:srgbClr val="39725C"/>
                    </a:solidFill>
                  </a:tcPr>
                </a:tc>
                <a:tc>
                  <a:txBody>
                    <a:bodyPr wrap="square">
                      <a:noAutofit/>
                    </a:bodyPr>
                    <a:lstStyle/>
                    <a:p>
                      <a:r>
                        <a:rPr sz="1650" b="1">
                          <a:solidFill>
                            <a:srgbClr val="FFFFFF"/>
                          </a:solidFill>
                          <a:latin typeface="Arial"/>
                          <a:ea typeface="Arial"/>
                          <a:cs typeface="Arial"/>
                        </a:rPr>
                        <a:t>Result</a:t>
                      </a:r>
                    </a:p>
                  </a:txBody>
                  <a:tcPr marL="114300" marR="114300" marT="47625" marB="47625" anchor="ctr">
                    <a:lnR w="6668">
                      <a:solidFill>
                        <a:srgbClr val="DCE3DA"/>
                      </a:solidFill>
                      <a:prstDash val="solid"/>
                    </a:lnR>
                    <a:lnT w="6668">
                      <a:solidFill>
                        <a:srgbClr val="DCE3DA"/>
                      </a:solidFill>
                      <a:prstDash val="solid"/>
                    </a:lnT>
                    <a:lnB w="6668">
                      <a:solidFill>
                        <a:srgbClr val="DCE3DA"/>
                      </a:solidFill>
                      <a:prstDash val="solid"/>
                    </a:lnB>
                    <a:solidFill>
                      <a:srgbClr val="39725C"/>
                    </a:solidFill>
                  </a:tcPr>
                </a:tc>
              </a:tr>
              <a:tr h="542925">
                <a:tc>
                  <a:txBody>
                    <a:bodyPr wrap="square">
                      <a:noAutofit/>
                    </a:bodyPr>
                    <a:lstStyle/>
                    <a:p>
                      <a:r>
                        <a:rPr sz="1725" b="1">
                          <a:solidFill>
                            <a:srgbClr val="26332E"/>
                          </a:solidFill>
                          <a:latin typeface="Arial"/>
                          <a:ea typeface="Arial"/>
                          <a:cs typeface="Arial"/>
                        </a:rPr>
                        <a:t>Single analysis</a:t>
                      </a:r>
                    </a:p>
                  </a:txBody>
                  <a:tcPr marL="114300" marR="114300" marT="47625" marB="47625" anchor="ctr">
                    <a:lnL w="6668">
                      <a:solidFill>
                        <a:srgbClr val="DCE3DA"/>
                      </a:solidFill>
                      <a:prstDash val="solid"/>
                    </a:lnL>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POST /api/analyse</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One structured analysis</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r>
              <a:tr h="587502">
                <a:tc>
                  <a:txBody>
                    <a:bodyPr wrap="square">
                      <a:noAutofit/>
                    </a:bodyPr>
                    <a:lstStyle/>
                    <a:p>
                      <a:r>
                        <a:rPr sz="1725" b="1">
                          <a:solidFill>
                            <a:srgbClr val="26332E"/>
                          </a:solidFill>
                          <a:latin typeface="Arial"/>
                          <a:ea typeface="Arial"/>
                          <a:cs typeface="Arial"/>
                        </a:rPr>
                        <a:t>Model comparison</a:t>
                      </a:r>
                    </a:p>
                  </a:txBody>
                  <a:tcPr marL="114300" marR="114300" marT="47625" marB="47625" anchor="ctr">
                    <a:lnL w="6668">
                      <a:solidFill>
                        <a:srgbClr val="DCE3DA"/>
                      </a:solidFill>
                      <a:prstDash val="solid"/>
                    </a:lnL>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POST /api/analyse/compare</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Analyses and per-model timings</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r>
              <a:tr h="587502">
                <a:tc>
                  <a:txBody>
                    <a:bodyPr wrap="square">
                      <a:noAutofit/>
                    </a:bodyPr>
                    <a:lstStyle/>
                    <a:p>
                      <a:r>
                        <a:rPr sz="1725" b="1">
                          <a:solidFill>
                            <a:srgbClr val="26332E"/>
                          </a:solidFill>
                          <a:latin typeface="Arial"/>
                          <a:ea typeface="Arial"/>
                          <a:cs typeface="Arial"/>
                        </a:rPr>
                        <a:t>CSV preparation</a:t>
                      </a:r>
                    </a:p>
                  </a:txBody>
                  <a:tcPr marL="114300" marR="114300" marT="47625" marB="47625" anchor="ctr">
                    <a:lnL w="6668">
                      <a:solidFill>
                        <a:srgbClr val="DCE3DA"/>
                      </a:solidFill>
                      <a:prstDash val="solid"/>
                    </a:lnL>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POST /api/import/preview</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Columns, preview rows and row count</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r>
              <a:tr h="587502">
                <a:tc>
                  <a:txBody>
                    <a:bodyPr wrap="square">
                      <a:noAutofit/>
                    </a:bodyPr>
                    <a:lstStyle/>
                    <a:p>
                      <a:r>
                        <a:rPr sz="1725" b="1">
                          <a:solidFill>
                            <a:srgbClr val="26332E"/>
                          </a:solidFill>
                          <a:latin typeface="Arial"/>
                          <a:ea typeface="Arial"/>
                          <a:cs typeface="Arial"/>
                        </a:rPr>
                        <a:t>Import/list datasets</a:t>
                      </a:r>
                    </a:p>
                  </a:txBody>
                  <a:tcPr marL="114300" marR="114300" marT="47625" marB="47625" anchor="ctr">
                    <a:lnL w="6668">
                      <a:solidFill>
                        <a:srgbClr val="DCE3DA"/>
                      </a:solidFill>
                      <a:prstDash val="solid"/>
                    </a:lnL>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POST/GET /api/datasets</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Saved datasets and validation receipt</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r>
              <a:tr h="587502">
                <a:tc>
                  <a:txBody>
                    <a:bodyPr wrap="square">
                      <a:noAutofit/>
                    </a:bodyPr>
                    <a:lstStyle/>
                    <a:p>
                      <a:r>
                        <a:rPr sz="1725" b="1">
                          <a:solidFill>
                            <a:srgbClr val="26332E"/>
                          </a:solidFill>
                          <a:latin typeface="Arial"/>
                          <a:ea typeface="Arial"/>
                          <a:cs typeface="Arial"/>
                        </a:rPr>
                        <a:t>Dataset inspection</a:t>
                      </a:r>
                    </a:p>
                  </a:txBody>
                  <a:tcPr marL="114300" marR="114300" marT="47625" marB="47625" anchor="ctr">
                    <a:lnL w="6668">
                      <a:solidFill>
                        <a:srgbClr val="DCE3DA"/>
                      </a:solidFill>
                      <a:prstDash val="solid"/>
                    </a:lnL>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GET /api/datasets/{id}/…</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Overview, reviews, compare, export, manifest</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r>
              <a:tr h="587502">
                <a:tc>
                  <a:txBody>
                    <a:bodyPr wrap="square">
                      <a:noAutofit/>
                    </a:bodyPr>
                    <a:lstStyle/>
                    <a:p>
                      <a:r>
                        <a:rPr sz="1725" b="1">
                          <a:solidFill>
                            <a:srgbClr val="26332E"/>
                          </a:solidFill>
                          <a:latin typeface="Arial"/>
                          <a:ea typeface="Arial"/>
                          <a:cs typeface="Arial"/>
                        </a:rPr>
                        <a:t>Annotation</a:t>
                      </a:r>
                    </a:p>
                  </a:txBody>
                  <a:tcPr marL="114300" marR="114300" marT="47625" marB="47625" anchor="ctr">
                    <a:lnL w="6668">
                      <a:solidFill>
                        <a:srgbClr val="DCE3DA"/>
                      </a:solidFill>
                      <a:prstDash val="solid"/>
                    </a:lnL>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GET/PUT /api/annotations/…</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Tasks, edits, history and exports</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r>
              <a:tr h="587502">
                <a:tc>
                  <a:txBody>
                    <a:bodyPr wrap="square">
                      <a:noAutofit/>
                    </a:bodyPr>
                    <a:lstStyle/>
                    <a:p>
                      <a:r>
                        <a:rPr sz="1725" b="1">
                          <a:solidFill>
                            <a:srgbClr val="26332E"/>
                          </a:solidFill>
                          <a:latin typeface="Arial"/>
                          <a:ea typeface="Arial"/>
                          <a:cs typeface="Arial"/>
                        </a:rPr>
                        <a:t>Research</a:t>
                      </a:r>
                    </a:p>
                  </a:txBody>
                  <a:tcPr marL="114300" marR="114300" marT="47625" marB="47625" anchor="ctr">
                    <a:lnL w="6668">
                      <a:solidFill>
                        <a:srgbClr val="DCE3DA"/>
                      </a:solidFill>
                      <a:prstDash val="solid"/>
                    </a:lnL>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POST/GET /api/experiments</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c>
                  <a:txBody>
                    <a:bodyPr wrap="square">
                      <a:noAutofit/>
                    </a:bodyPr>
                    <a:lstStyle/>
                    <a:p>
                      <a:r>
                        <a:rPr sz="1725" b="0">
                          <a:solidFill>
                            <a:srgbClr val="26332E"/>
                          </a:solidFill>
                          <a:latin typeface="Arial"/>
                          <a:ea typeface="Arial"/>
                          <a:cs typeface="Arial"/>
                        </a:rPr>
                        <a:t>Background runs and saved report inspection</a:t>
                      </a:r>
                    </a:p>
                  </a:txBody>
                  <a:tcPr marL="114300" marR="114300" marT="47625" marB="47625" anchor="ctr">
                    <a:lnR w="6668">
                      <a:solidFill>
                        <a:srgbClr val="DCE3DA"/>
                      </a:solidFill>
                      <a:prstDash val="solid"/>
                    </a:lnR>
                    <a:lnB w="6668">
                      <a:solidFill>
                        <a:srgbClr val="DCE3DA"/>
                      </a:solidFill>
                      <a:prstDash val="solid"/>
                    </a:lnB>
                    <a:solidFill>
                      <a:srgbClr val="F6F7F4"/>
                    </a:solidFill>
                  </a:tcPr>
                </a:tc>
              </a:tr>
            </a:tbl>
          </a:graphicData>
        </a:graphic>
      </p:graphicFrame>
    </p:spTree>
    <p:extLst>
      <p:ext uri="{BB962C8B-B14F-4D97-AF65-F5344CB8AC3E}">
        <p14:creationId xmlns:p14="http://schemas.microsoft.com/office/powerpoint/2010/main" val="714796194"/>
      </p:ext>
    </p:extLst>
  </p:cSld>
</p:sld>
</file>

<file path=ppt/slides/slide52.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10" name="chapter">
            <a:extLst xmlns:a="http://schemas.openxmlformats.org/drawingml/2006/main">
              <a:ext uri="{FF2B5EF4-FFF2-40B4-BE49-F238E27FC236}">
                <a16:creationId xmlns:a16="http://schemas.microsoft.com/office/drawing/2014/main" id="{DF4CCCC0-1491-4A44-BEF1-646EC7BA5E6F}"/>
              </a:ext>
            </a:extLst>
          </p:cNvPr>
          <p:cNvSpPr>
            <a:spLocks xmlns:a="http://schemas.openxmlformats.org/drawingml/2006/main" noGrp="1"/>
          </p:cNvSpPr>
          <p:nvPr/>
        </p:nvSpPr>
        <p:spPr>
          <a:xfrm xmlns:a="http://schemas.openxmlformats.org/drawingml/2006/main">
            <a:off x="685800" y="381000"/>
            <a:ext cx="933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39725C"/>
                </a:solidFill>
                <a:latin typeface="Arial"/>
                <a:ea typeface="Arial"/>
                <a:cs typeface="Arial"/>
              </a:defRPr>
            </a:defPPr>
          </a:lstStyle>
          <a:p xmlns:a="http://schemas.openxmlformats.org/drawingml/2006/main">
            <a:pPr algn="l">
              <a:defRPr sz="1200" b="1">
                <a:solidFill>
                  <a:srgbClr val="39725C"/>
                </a:solidFill>
                <a:latin typeface="Arial"/>
                <a:ea typeface="Arial"/>
                <a:cs typeface="Arial"/>
              </a:defRPr>
            </a:pPr>
            <a:r>
              <a:rPr sz="1200" b="1">
                <a:solidFill>
                  <a:srgbClr val="39725C"/>
                </a:solidFill>
                <a:latin typeface="Arial"/>
                <a:ea typeface="Arial"/>
                <a:cs typeface="Arial"/>
              </a:rPr>
              <a:t>APPENDIX D</a:t>
            </a:r>
          </a:p>
        </p:txBody>
      </p:sp>
      <p:sp>
        <p:nvSpPr>
          <p:cNvPr id="2" name="primary-heading">
            <a:extLst xmlns:a="http://schemas.openxmlformats.org/drawingml/2006/main">
              <a:ext uri="{FF2B5EF4-FFF2-40B4-BE49-F238E27FC236}">
                <a16:creationId xmlns:a16="http://schemas.microsoft.com/office/drawing/2014/main" id="{BD3E06A5-BAB7-4087-9C8B-24715E7829C2}"/>
              </a:ext>
            </a:extLst>
          </p:cNvPr>
          <p:cNvSpPr>
            <a:spLocks xmlns:a="http://schemas.openxmlformats.org/drawingml/2006/main" noGrp="1"/>
          </p:cNvSpPr>
          <p:nvPr/>
        </p:nvSpPr>
        <p:spPr>
          <a:xfrm xmlns:a="http://schemas.openxmlformats.org/drawingml/2006/main">
            <a:off x="685800" y="83820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6332E"/>
                </a:solidFill>
                <a:latin typeface="Arial"/>
                <a:ea typeface="Arial"/>
                <a:cs typeface="Arial"/>
              </a:defRPr>
            </a:defPPr>
          </a:lstStyle>
          <a:p xmlns:a="http://schemas.openxmlformats.org/drawingml/2006/main">
            <a:pPr algn="l">
              <a:defRPr sz="3300" b="1">
                <a:solidFill>
                  <a:srgbClr val="26332E"/>
                </a:solidFill>
                <a:latin typeface="Arial"/>
                <a:ea typeface="Arial"/>
                <a:cs typeface="Arial"/>
              </a:defRPr>
            </a:pPr>
            <a:r>
              <a:rPr sz="3300" b="1">
                <a:solidFill>
                  <a:srgbClr val="26332E"/>
                </a:solidFill>
                <a:latin typeface="Arial"/>
                <a:ea typeface="Arial"/>
                <a:cs typeface="Arial"/>
              </a:rPr>
              <a:t>Reproducing training and final evaluation</a:t>
            </a:r>
          </a:p>
        </p:txBody>
      </p:sp>
      <p:sp>
        <p:nvSpPr>
          <p:cNvPr id="3" name="footer-label">
            <a:extLst xmlns:a="http://schemas.openxmlformats.org/drawingml/2006/main">
              <a:ext uri="{FF2B5EF4-FFF2-40B4-BE49-F238E27FC236}">
                <a16:creationId xmlns:a16="http://schemas.microsoft.com/office/drawing/2014/main" id="{E87C80C5-C601-49BD-A099-7B6602B97F53}"/>
              </a:ext>
            </a:extLst>
          </p:cNvPr>
          <p:cNvSpPr>
            <a:spLocks xmlns:a="http://schemas.openxmlformats.org/drawingml/2006/main" noGrp="1"/>
          </p:cNvSpPr>
          <p:nvPr/>
        </p:nvSpPr>
        <p:spPr>
          <a:xfrm xmlns:a="http://schemas.openxmlformats.org/drawingml/2006/main">
            <a:off x="685800" y="6505575"/>
            <a:ext cx="952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0">
                <a:solidFill>
                  <a:srgbClr val="66736C"/>
                </a:solidFill>
                <a:latin typeface="Arial"/>
                <a:ea typeface="Arial"/>
                <a:cs typeface="Arial"/>
              </a:defRPr>
            </a:defPPr>
          </a:lstStyle>
          <a:p xmlns:a="http://schemas.openxmlformats.org/drawingml/2006/main">
            <a:pPr algn="l">
              <a:defRPr sz="900" b="0">
                <a:solidFill>
                  <a:srgbClr val="66736C"/>
                </a:solidFill>
                <a:latin typeface="Arial"/>
                <a:ea typeface="Arial"/>
                <a:cs typeface="Arial"/>
              </a:defRPr>
            </a:pPr>
            <a:r>
              <a:rPr sz="900" b="0">
                <a:solidFill>
                  <a:srgbClr val="66736C"/>
                </a:solidFill>
                <a:latin typeface="Arial"/>
                <a:ea typeface="Arial"/>
                <a:cs typeface="Arial"/>
              </a:rPr>
              <a:t>ASPECT  /  PROJECT REFERENCE  /  1.0.0</a:t>
            </a:r>
          </a:p>
        </p:txBody>
      </p:sp>
      <p:sp>
        <p:nvSpPr>
          <p:cNvPr id="4" name="page-number">
            <a:extLst xmlns:a="http://schemas.openxmlformats.org/drawingml/2006/main">
              <a:ext uri="{FF2B5EF4-FFF2-40B4-BE49-F238E27FC236}">
                <a16:creationId xmlns:a16="http://schemas.microsoft.com/office/drawing/2014/main" id="{7885B299-D4EF-48AC-AEBC-82AF347E21E7}"/>
              </a:ext>
            </a:extLst>
          </p:cNvPr>
          <p:cNvSpPr>
            <a:spLocks xmlns:a="http://schemas.openxmlformats.org/drawingml/2006/main" noGrp="1"/>
          </p:cNvSpPr>
          <p:nvPr/>
        </p:nvSpPr>
        <p:spPr>
          <a:xfrm xmlns:a="http://schemas.openxmlformats.org/drawingml/2006/main">
            <a:off x="10620375" y="6505575"/>
            <a:ext cx="8858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a:solidFill>
                  <a:srgbClr val="66736C"/>
                </a:solidFill>
                <a:latin typeface="Arial"/>
                <a:ea typeface="Arial"/>
                <a:cs typeface="Arial"/>
              </a:defRPr>
            </a:defPPr>
          </a:lstStyle>
          <a:p xmlns:a="http://schemas.openxmlformats.org/drawingml/2006/main">
            <a:pPr algn="r">
              <a:defRPr sz="900" b="0">
                <a:solidFill>
                  <a:srgbClr val="66736C"/>
                </a:solidFill>
                <a:latin typeface="Arial"/>
                <a:ea typeface="Arial"/>
                <a:cs typeface="Arial"/>
              </a:defRPr>
            </a:pPr>
            <a:r>
              <a:rPr sz="900" b="0">
                <a:solidFill>
                  <a:srgbClr val="66736C"/>
                </a:solidFill>
                <a:latin typeface="Arial"/>
                <a:ea typeface="Arial"/>
                <a:cs typeface="Arial"/>
              </a:rPr>
              <a:t>52 / 52</a:t>
            </a:r>
          </a:p>
        </p:txBody>
      </p:sp>
      <p:sp>
        <p:nvSpPr>
          <p:cNvPr id="5" name="context-note">
            <a:extLst xmlns:a="http://schemas.openxmlformats.org/drawingml/2006/main">
              <a:ext uri="{FF2B5EF4-FFF2-40B4-BE49-F238E27FC236}">
                <a16:creationId xmlns:a16="http://schemas.microsoft.com/office/drawing/2014/main" id="{04D5A777-2E1F-4F74-B00C-DF258245F343}"/>
              </a:ext>
            </a:extLst>
          </p:cNvPr>
          <p:cNvSpPr>
            <a:spLocks xmlns:a="http://schemas.openxmlformats.org/drawingml/2006/main" noGrp="1"/>
          </p:cNvSpPr>
          <p:nvPr/>
        </p:nvSpPr>
        <p:spPr>
          <a:xfrm xmlns:a="http://schemas.openxmlformats.org/drawingml/2006/main">
            <a:off x="685800" y="5924550"/>
            <a:ext cx="108204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39725C"/>
                </a:solidFill>
                <a:latin typeface="Arial"/>
                <a:ea typeface="Arial"/>
                <a:cs typeface="Arial"/>
              </a:defRPr>
            </a:defPPr>
          </a:lstStyle>
          <a:p xmlns:a="http://schemas.openxmlformats.org/drawingml/2006/main">
            <a:pPr algn="l">
              <a:defRPr sz="1725" b="0">
                <a:solidFill>
                  <a:srgbClr val="39725C"/>
                </a:solidFill>
                <a:latin typeface="Arial"/>
                <a:ea typeface="Arial"/>
                <a:cs typeface="Arial"/>
              </a:defRPr>
            </a:pPr>
            <a:r>
              <a:rPr sz="1725" b="0">
                <a:solidFill>
                  <a:srgbClr val="39725C"/>
                </a:solidFill>
                <a:latin typeface="Arial"/>
                <a:ea typeface="Arial"/>
                <a:cs typeface="Arial"/>
              </a:rPr>
              <a:t>Assisted origins require the documented opt-ins. Each run uses a new output directory.</a:t>
            </a:r>
          </a:p>
        </p:txBody>
      </p:sp>
      <p:sp>
        <p:nvSpPr>
          <p:cNvPr id="6" name="command-label-0">
            <a:extLst xmlns:a="http://schemas.openxmlformats.org/drawingml/2006/main">
              <a:ext uri="{FF2B5EF4-FFF2-40B4-BE49-F238E27FC236}">
                <a16:creationId xmlns:a16="http://schemas.microsoft.com/office/drawing/2014/main" id="{A16F1F56-9A7E-4A4B-9AEF-9B1B96628D98}"/>
              </a:ext>
            </a:extLst>
          </p:cNvPr>
          <p:cNvSpPr>
            <a:spLocks xmlns:a="http://schemas.openxmlformats.org/drawingml/2006/main" noGrp="1"/>
          </p:cNvSpPr>
          <p:nvPr/>
        </p:nvSpPr>
        <p:spPr>
          <a:xfrm xmlns:a="http://schemas.openxmlformats.org/drawingml/2006/main">
            <a:off x="685800" y="1924050"/>
            <a:ext cx="5200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39725C"/>
                </a:solidFill>
                <a:latin typeface="Arial"/>
                <a:ea typeface="Arial"/>
                <a:cs typeface="Arial"/>
              </a:defRPr>
            </a:defPPr>
          </a:lstStyle>
          <a:p xmlns:a="http://schemas.openxmlformats.org/drawingml/2006/main">
            <a:pPr algn="l">
              <a:defRPr sz="2025" b="1">
                <a:solidFill>
                  <a:srgbClr val="39725C"/>
                </a:solidFill>
                <a:latin typeface="Arial"/>
                <a:ea typeface="Arial"/>
                <a:cs typeface="Arial"/>
              </a:defRPr>
            </a:pPr>
            <a:r>
              <a:rPr sz="2025" b="1">
                <a:solidFill>
                  <a:srgbClr val="39725C"/>
                </a:solidFill>
                <a:latin typeface="Arial"/>
                <a:ea typeface="Arial"/>
                <a:cs typeface="Arial"/>
              </a:rPr>
              <a:t>Classical profile selection</a:t>
            </a:r>
          </a:p>
        </p:txBody>
      </p:sp>
      <p:sp>
        <p:nvSpPr>
          <p:cNvPr id="7" name="command-copy-0">
            <a:extLst xmlns:a="http://schemas.openxmlformats.org/drawingml/2006/main">
              <a:ext uri="{FF2B5EF4-FFF2-40B4-BE49-F238E27FC236}">
                <a16:creationId xmlns:a16="http://schemas.microsoft.com/office/drawing/2014/main" id="{AD8DCD74-C930-4C57-9F37-6E80F8EC61E8}"/>
              </a:ext>
            </a:extLst>
          </p:cNvPr>
          <p:cNvSpPr>
            <a:spLocks xmlns:a="http://schemas.openxmlformats.org/drawingml/2006/main" noGrp="1"/>
          </p:cNvSpPr>
          <p:nvPr/>
        </p:nvSpPr>
        <p:spPr>
          <a:xfrm xmlns:a="http://schemas.openxmlformats.org/drawingml/2006/main">
            <a:off x="685800" y="2647950"/>
            <a:ext cx="520065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6332E"/>
                </a:solidFill>
                <a:latin typeface="Arial"/>
                <a:ea typeface="Arial"/>
                <a:cs typeface="Arial"/>
              </a:defRPr>
            </a:defPPr>
          </a:lstStyle>
          <a:p xmlns:a="http://schemas.openxmlformats.org/drawingml/2006/main">
            <a:pPr algn="l">
              <a:defRPr sz="1875" b="0">
                <a:solidFill>
                  <a:srgbClr val="26332E"/>
                </a:solidFill>
                <a:latin typeface="Arial"/>
                <a:ea typeface="Arial"/>
                <a:cs typeface="Arial"/>
              </a:defRPr>
            </a:pPr>
            <a:r>
              <a:rPr sz="1875" b="0">
                <a:solidFill>
                  <a:srgbClr val="26332E"/>
                </a:solidFill>
                <a:latin typeface="Arial"/>
                <a:ea typeface="Arial"/>
                <a:cs typeface="Arial"/>
              </a:rPr>
              <a:t>absa train-tfidf &lt;labels.csv&gt; \</a:t>
            </a:r>
          </a:p>
          <a:p xmlns:a="http://schemas.openxmlformats.org/drawingml/2006/main">
            <a:pPr algn="l">
              <a:defRPr sz="1875" b="0">
                <a:solidFill>
                  <a:srgbClr val="26332E"/>
                </a:solidFill>
                <a:latin typeface="Arial"/>
                <a:ea typeface="Arial"/>
                <a:cs typeface="Arial"/>
              </a:defRPr>
            </a:pPr>
            <a:r>
              <a:rPr sz="1875" b="0">
                <a:solidFill>
                  <a:srgbClr val="26332E"/>
                </a:solidFill>
                <a:latin typeface="Arial"/>
                <a:ea typeface="Arial"/>
                <a:cs typeface="Arial"/>
              </a:rPr>
              <a:t>  --manifest &lt;manifest.json&gt; \</a:t>
            </a:r>
          </a:p>
          <a:p xmlns:a="http://schemas.openxmlformats.org/drawingml/2006/main">
            <a:pPr algn="l">
              <a:defRPr sz="1875" b="0">
                <a:solidFill>
                  <a:srgbClr val="26332E"/>
                </a:solidFill>
                <a:latin typeface="Arial"/>
                <a:ea typeface="Arial"/>
                <a:cs typeface="Arial"/>
              </a:defRPr>
            </a:pPr>
            <a:r>
              <a:rPr sz="1875" b="0">
                <a:solidFill>
                  <a:srgbClr val="26332E"/>
                </a:solidFill>
                <a:latin typeface="Arial"/>
                <a:ea typeface="Arial"/>
                <a:cs typeface="Arial"/>
              </a:rPr>
              <a:t>  --profile hierarchical \</a:t>
            </a:r>
          </a:p>
          <a:p xmlns:a="http://schemas.openxmlformats.org/drawingml/2006/main">
            <a:pPr algn="l">
              <a:defRPr sz="1875" b="0">
                <a:solidFill>
                  <a:srgbClr val="26332E"/>
                </a:solidFill>
                <a:latin typeface="Arial"/>
                <a:ea typeface="Arial"/>
                <a:cs typeface="Arial"/>
              </a:defRPr>
            </a:pPr>
            <a:r>
              <a:rPr sz="1875" b="0">
                <a:solidFill>
                  <a:srgbClr val="26332E"/>
                </a:solidFill>
                <a:latin typeface="Arial"/>
                <a:ea typeface="Arial"/>
                <a:cs typeface="Arial"/>
              </a:rPr>
              <a:t>  --output &lt;new-experiment-directory&gt;</a:t>
            </a:r>
          </a:p>
        </p:txBody>
      </p:sp>
      <p:sp>
        <p:nvSpPr>
          <p:cNvPr id="8" name="command-label-1">
            <a:extLst xmlns:a="http://schemas.openxmlformats.org/drawingml/2006/main">
              <a:ext uri="{FF2B5EF4-FFF2-40B4-BE49-F238E27FC236}">
                <a16:creationId xmlns:a16="http://schemas.microsoft.com/office/drawing/2014/main" id="{6D6CD787-3FAA-4C90-B764-5C9610392D96}"/>
              </a:ext>
            </a:extLst>
          </p:cNvPr>
          <p:cNvSpPr>
            <a:spLocks xmlns:a="http://schemas.openxmlformats.org/drawingml/2006/main" noGrp="1"/>
          </p:cNvSpPr>
          <p:nvPr/>
        </p:nvSpPr>
        <p:spPr>
          <a:xfrm xmlns:a="http://schemas.openxmlformats.org/drawingml/2006/main">
            <a:off x="6305550" y="1924050"/>
            <a:ext cx="5200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39725C"/>
                </a:solidFill>
                <a:latin typeface="Arial"/>
                <a:ea typeface="Arial"/>
                <a:cs typeface="Arial"/>
              </a:defRPr>
            </a:defPPr>
          </a:lstStyle>
          <a:p xmlns:a="http://schemas.openxmlformats.org/drawingml/2006/main">
            <a:pPr algn="l">
              <a:defRPr sz="2025" b="1">
                <a:solidFill>
                  <a:srgbClr val="39725C"/>
                </a:solidFill>
                <a:latin typeface="Arial"/>
                <a:ea typeface="Arial"/>
                <a:cs typeface="Arial"/>
              </a:defRPr>
            </a:pPr>
            <a:r>
              <a:rPr sz="2025" b="1">
                <a:solidFill>
                  <a:srgbClr val="39725C"/>
                </a:solidFill>
                <a:latin typeface="Arial"/>
                <a:ea typeface="Arial"/>
                <a:cs typeface="Arial"/>
              </a:rPr>
              <a:t>Explicit final comparison</a:t>
            </a:r>
          </a:p>
        </p:txBody>
      </p:sp>
      <p:sp>
        <p:nvSpPr>
          <p:cNvPr id="9" name="command-copy-1">
            <a:extLst xmlns:a="http://schemas.openxmlformats.org/drawingml/2006/main">
              <a:ext uri="{FF2B5EF4-FFF2-40B4-BE49-F238E27FC236}">
                <a16:creationId xmlns:a16="http://schemas.microsoft.com/office/drawing/2014/main" id="{237E5553-CB33-43EF-B0F6-84F08EA2055D}"/>
              </a:ext>
            </a:extLst>
          </p:cNvPr>
          <p:cNvSpPr>
            <a:spLocks xmlns:a="http://schemas.openxmlformats.org/drawingml/2006/main" noGrp="1"/>
          </p:cNvSpPr>
          <p:nvPr/>
        </p:nvSpPr>
        <p:spPr>
          <a:xfrm xmlns:a="http://schemas.openxmlformats.org/drawingml/2006/main">
            <a:off x="6305550" y="2647950"/>
            <a:ext cx="520065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6332E"/>
                </a:solidFill>
                <a:latin typeface="Arial"/>
                <a:ea typeface="Arial"/>
                <a:cs typeface="Arial"/>
              </a:defRPr>
            </a:defPPr>
          </a:lstStyle>
          <a:p xmlns:a="http://schemas.openxmlformats.org/drawingml/2006/main">
            <a:pPr algn="l">
              <a:defRPr sz="1875" b="0">
                <a:solidFill>
                  <a:srgbClr val="26332E"/>
                </a:solidFill>
                <a:latin typeface="Arial"/>
                <a:ea typeface="Arial"/>
                <a:cs typeface="Arial"/>
              </a:defRPr>
            </a:pPr>
            <a:r>
              <a:rPr sz="1875" b="0">
                <a:solidFill>
                  <a:srgbClr val="26332E"/>
                </a:solidFill>
                <a:latin typeface="Arial"/>
                <a:ea typeface="Arial"/>
                <a:cs typeface="Arial"/>
              </a:rPr>
              <a:t>absa evaluate-models &lt;completed-labels.csv&gt; \</a:t>
            </a:r>
          </a:p>
          <a:p xmlns:a="http://schemas.openxmlformats.org/drawingml/2006/main">
            <a:pPr algn="l">
              <a:defRPr sz="1875" b="0">
                <a:solidFill>
                  <a:srgbClr val="26332E"/>
                </a:solidFill>
                <a:latin typeface="Arial"/>
                <a:ea typeface="Arial"/>
                <a:cs typeface="Arial"/>
              </a:defRPr>
            </a:pPr>
            <a:r>
              <a:rPr sz="1875" b="0">
                <a:solidFill>
                  <a:srgbClr val="26332E"/>
                </a:solidFill>
                <a:latin typeface="Arial"/>
                <a:ea typeface="Arial"/>
                <a:cs typeface="Arial"/>
              </a:rPr>
              <a:t>  --manifest &lt;frozen-manifest.json&gt; \</a:t>
            </a:r>
          </a:p>
          <a:p xmlns:a="http://schemas.openxmlformats.org/drawingml/2006/main">
            <a:pPr algn="l">
              <a:defRPr sz="1875" b="0">
                <a:solidFill>
                  <a:srgbClr val="26332E"/>
                </a:solidFill>
                <a:latin typeface="Arial"/>
                <a:ea typeface="Arial"/>
                <a:cs typeface="Arial"/>
              </a:defRPr>
            </a:pPr>
            <a:r>
              <a:rPr sz="1875" b="0">
                <a:solidFill>
                  <a:srgbClr val="26332E"/>
                </a:solidFill>
                <a:latin typeface="Arial"/>
                <a:ea typeface="Arial"/>
                <a:cs typeface="Arial"/>
              </a:rPr>
              <a:t>  --model &lt;fixed-model-id&gt; --final-test \</a:t>
            </a:r>
          </a:p>
          <a:p xmlns:a="http://schemas.openxmlformats.org/drawingml/2006/main">
            <a:pPr algn="l">
              <a:defRPr sz="1875" b="0">
                <a:solidFill>
                  <a:srgbClr val="26332E"/>
                </a:solidFill>
                <a:latin typeface="Arial"/>
                <a:ea typeface="Arial"/>
                <a:cs typeface="Arial"/>
              </a:defRPr>
            </a:pPr>
            <a:r>
              <a:rPr sz="1875" b="0">
                <a:solidFill>
                  <a:srgbClr val="26332E"/>
                </a:solidFill>
                <a:latin typeface="Arial"/>
                <a:ea typeface="Arial"/>
                <a:cs typeface="Arial"/>
              </a:rPr>
              <a:t>  --output &lt;new-final-test-directory&gt;</a:t>
            </a:r>
          </a:p>
        </p:txBody>
      </p:sp>
    </p:spTree>
    <p:extLst>
      <p:ext uri="{BB962C8B-B14F-4D97-AF65-F5344CB8AC3E}">
        <p14:creationId xmlns:p14="http://schemas.microsoft.com/office/powerpoint/2010/main" val="153958305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Raghav Nimbalkar</dc:creator>
  <lastModifiedBy>Walnut Exporter</lastModifiedBy>
  <dc:title>Presentation</dc:title>
  <dcterms:created xsi:type="dcterms:W3CDTF">2026-10-20T11:37:43.3940000Z</dcterms:created>
  <dcterms:modified xsi:type="dcterms:W3CDTF">2026-10-20T11:37:43.3940000Z</dcterms:modified>
</coreProperties>
</file>